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56032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914400"/>
            <a:ext cx="103628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Digital Twin-Driven Deep Reinforcement Learning</a:t>
            </a:r>
            <a:br/>
            <a:r>
              <a:t>for Energy-Aware CNC Milling Parameter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3464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9900"/>
                </a:solidFill>
                <a:latin typeface="Calibri"/>
              </a:defRPr>
            </a:pPr>
            <a:r>
              <a:t>ME6324 — AI in Manufacturing  |  Course Project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Abhinand  •  Department of Mechanical Engineering  •  IIT Madras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B4C8DC"/>
                </a:solidFill>
                <a:latin typeface="Calibri"/>
              </a:defRPr>
            </a:pPr>
            <a:r>
              <a:t>Git Revision: d76603b  •  All results reproducible from committed artifacts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Problem: Dynamic Cutting Parameter Optimization in CNC Face Milling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  <a:latin typeface="Calibri"/>
              </a:defRPr>
            </a:pPr>
            <a:r>
              <a:t>Choose spindle speed (n), feed (f_r), depth of cut (a_p) pass-by-pass to balance: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01168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🎯 Productivity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0312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Maximize Material Removal Rate: MRR = v_c · a_p · f_r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06324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Energy Efficiency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5468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Minimize total electrical energy per part (idle + cutting)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11480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📏 Surface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2062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Finished roughness R_a ≤ 1.6 μm (ISO 1302)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166360"/>
            <a:ext cx="10698480" cy="9144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578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🔧 Tool Life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525780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333333"/>
                </a:solidFill>
                <a:latin typeface="Calibri"/>
              </a:defRPr>
            </a:pPr>
            <a:r>
              <a:t>Flank wear V_B ≤ 0.3 mm; avoid catastrophic breakage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C80000"/>
                </a:solidFill>
                <a:latin typeface="Calibri"/>
              </a:defRPr>
            </a:pPr>
            <a:r>
              <a:t>Traditional fixed parameters from handbooks cannot adapt to tool wear, material variation, or geometry changes.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Approach: Physics-Grounded Digital Twin + Deep RL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🏭 Digital Twin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Speed-dependent cutting energy: k_c(v_c) = k_c0 (v_c/v_ref)^m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Extended Taylor tool wear model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Empirical surface roughness regression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Stochastic tool breakage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Domain randomization per episode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4340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🤖 DRL Agent (PPO)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One Gymnasium environment (11-D obs, 3-D action)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Energy-aware reward: 5·(w₁·MRR − w₂·Energy) + progress − penalties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Conditioned policy: one model covers the full frontier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PPO with VecNormalize, 4 parallel envs, CPU training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34747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3716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🔬 Experimental Rigor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1920240"/>
            <a:ext cx="3108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100-scenario Monte Carlo with 95% CIs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Ablation: 7 energy weights × 3 seeds, weight pinned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5 classical baselines (incl. receding-horizon)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Transfer experiment: cross-material adaptation</a:t>
            </a:r>
          </a:p>
          <a:p>
            <a:pPr>
              <a:spcAft>
                <a:spcPts val="6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Full reproducibility: RESULTS.md from artifacts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Positioning Against the Reference Papers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97680"/>
                <a:gridCol w="2377440"/>
                <a:gridCol w="2468880"/>
                <a:gridCol w="210312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Capability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 et al. (2025)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J. Manuf. Process 156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Wang et al. (2025a)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J. Manuf. Syst. 78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This Work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Dynamic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wear in the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Roughness constraint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 as an objective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Speed-dependent k_c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Domain randomization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Conditioned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Transfer experiment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Monte Carlo (100 scenarios)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Interactive workstation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47091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alibri"/>
              </a:defRPr>
            </a:pPr>
            <a:r>
              <a:t>Mo et al.: PPO over a mixed action space (tool change + parameters); the state carries V_B, breakage and R_a; objectives are quality and efficiency.</a:t>
            </a:r>
            <a:br/>
            <a:r>
              <a:t>Wang et al.: MATD3 for batch milling; objectives are dimensional quality and machining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715000"/>
            <a:ext cx="10698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C9900"/>
                </a:solidFill>
                <a:latin typeface="Calibri"/>
              </a:defRPr>
            </a:pPr>
            <a:r>
              <a:t>Key differentiator: neither reference treats energy as an objective. The speed-dependent k_c is what creates a genuine energy/throughput trade-off, and one conditioned policy covers the whole frontier in a single run.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Digital Twin Physics (config/physics.py — single source of truth)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Cutting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77440" y="132588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v_c = π D n / 1000  [m/min]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93852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8424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Material Removal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98424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MRR = v_c · a_p · f_r  [mm³/min]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96896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42616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Flank Wear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64261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ΔV_B = C_wear · v_c^α · f_r^β · a_p^γ · t_cut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55264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300984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Surface Roughness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330098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R_a = k₁ f_r² + k₂ V_B + k₃ / v_c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13632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59352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Specific Cutting Energy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3959352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k_c(v_c) = k_c0 (v_c / v_ref)^m  ← KEY: creates trade-off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572000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617720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Total Power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461772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P_total = P_idle + k_c(v_c) · MRR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230368"/>
            <a:ext cx="5486400" cy="59436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276088"/>
            <a:ext cx="1645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Energy per 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527608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E_pass = P_total · t_cut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1280160"/>
            <a:ext cx="5303520" cy="4754880"/>
          </a:xfrm>
          <a:prstGeom prst="rect">
            <a:avLst/>
          </a:prstGeom>
          <a:solidFill>
            <a:srgbClr val="E6F0FA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💡 Key Insight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201168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Without speed-dependence (m=0):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Cutting energy ∝ volume removed (fixed)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Idle energy ∝ 1/cycle_time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Both objectives push to MAX speed → no trade-off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With m=0.6: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Cutting energy RISES with speed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Idle energy FALLS with speed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Part energy has INTERIOR MINIMUM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Energy weight w₂ selects operating point on this curve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Validated by: test_part_energy_has_an_interior_minimum_in_speed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One Gymnasium Environment: MillingDTEnv-v1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State &amp;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One registration: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MillingDTEnv-v1 (env.ENV_ID), 200-step limit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The weight and the material are inputs, not tasks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Observation (11-D, always the same shape):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0-7: V_B, κ_rem, prev n, f_r, a_p, MRR/MRR_max,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R_a, tool-broken flag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8-10: the context — w₂, C_wear [0.6,1.4], k₁ [0.8,1.2]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Action: continuous [-1,1]³ → clipped → machine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Reward &amp; Randomization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Reward per step: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r = 5·(w₁·MRR/MRR_max − w₂·E_pass/E_ref)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+ 2·Δ(stock removed)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− 50·1[V_B &gt; V_B_safe] − 100·1[broken]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   − 50·1[finishing pass ∧ R_a &gt; R_a_safe] − 0.05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+200 for a part finished in spec, +≤5 Pareto margin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w₁ = 1 − w₂; safety limits 0.255 mm and 1.36 μm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breakage p = 0.3·wear factor·(load factor)² above 0.15 mm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Domain Randomization (--randomize):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Workpiece: κ_total [2,15], D [40,150], L_cut [50,200]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Material/Tool: C_wear [0.6,1.4]×, k₁,k₂,k₃ [0.8,1.2]× nominal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Initial wear: V_B0 ~ U[0, 0.8]·V_B_max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Energy weight drawn U[0,1] per episode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Same tables for training + Monte Carlo eval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E_ref recomputed per scenario from its own D, L_cut, k_c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Reinforcement Learning: PPO (Stable-Baselines3)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54864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00400"/>
              </a:tblGrid>
              <a:tr h="4191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Parameter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MlpPolicy (2×256 hidden)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Learning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3×10⁻⁴ (linear schedule)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2048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Batch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n_epochs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γ (discount)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0.99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GAE 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0.95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Clip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Entropy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0.02 (keeps the policy exploring)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VecNormalize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norm_obs=True, norm_reward=True</a:t>
                      </a:r>
                    </a:p>
                  </a:txBody>
                  <a:tcPr/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Envs / Device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 (SubprocVecEnv) / CPU (2.5× faster than GPU)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280160"/>
            <a:ext cx="5303520" cy="502920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14630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3366"/>
                </a:solidFill>
                <a:latin typeface="Calibri"/>
              </a:defRPr>
            </a:pPr>
            <a:r>
              <a:t>Training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1️⃣ Production policy: 1M steps, seed 42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--randomize --randomize-weight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→ models/PPO_seed42/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2️⃣ Ablation grid: 7 weights × 3 seeds = 21 policies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w₂ ∈ {0.0, 0.2, 0.4, 0.5, 0.6, 0.8, 1.0}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seeds {42, 43, 44}, 150k steps each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weight PINNED at training, evaluated at that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    same weight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Heartbeat callback: queue signal every 1000 steps</a:t>
            </a:r>
          </a:p>
          <a:p>
            <a:pPr>
              <a:spcAft>
                <a:spcPts val="6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→ stall detection in run_experiments.py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Results: Production Policy — Monte Carlo Sweep (100 Scenarios)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280160"/>
          <a:ext cx="6035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097280"/>
                <a:gridCol w="1097280"/>
                <a:gridCol w="1188720"/>
              </a:tblGrid>
              <a:tr h="304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585.7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[1088.9, 1321.4]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Energy/part (kJ)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[58.8, 77.9]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Cycle 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[16.9, 23.6]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R_a (μm)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0.350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[1.309, 1.448]</a:t>
                      </a:r>
                    </a:p>
                  </a:txBody>
                  <a:tcPr/>
                </a:tc>
              </a:tr>
              <a:tr h="30480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Max V_B (mm)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0.0679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[0.1109, 0.1378]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92240" y="12801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914400"/>
                <a:gridCol w="1371600"/>
              </a:tblGrid>
              <a:tr h="2971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Constraint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95% CI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viol., worst pass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[28.5, 47.5]%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viol., finished surface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above safety limit, worst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[46.3, 65.7]%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R_a above safety limit, finished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Flank wear violations (V_B &gt; 0.3)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0]%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Tool breakage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[0, 3]%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Parts completed in spec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✅ Key Findings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Finished surface ALWAYS within spec (0% violations) — the part quality holds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Flank wear NEVER exceeded (0% violations); 99% of the parts completed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56% of the passes exceed the roughness safety margin (1.36 μm): the policy pushes and recovers by the finish pass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High MRR variance (std = 49% of mean) → domain randomization works: diverse operating points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Mean operating point: 7199 RPM, 0.247 mm/r, 2.11 mm, 4.0 passes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Energy Weight Ablation: Empirical Pareto Frontier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2103120"/>
                <a:gridCol w="1828800"/>
                <a:gridCol w="1554480"/>
                <a:gridCol w="1554480"/>
                <a:gridCol w="1371600"/>
                <a:gridCol w="1828800"/>
              </a:tblGrid>
              <a:tr h="30861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 (RPM)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f_r (mm/r)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Frontier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946.3±63.4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82.9±1.4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1007.8±22.7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77.1±1.1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7471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0.184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1038.0±67.6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72.7±0.5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1035.8±43.8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70.3±1.2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1023.9±27.4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70.8±0.6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✗ dominated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971.1±43.2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66.8±1.2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951.3±54.7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65.8±0.6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📊 Frontier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From w₂ = 0.4 to w₂ = 1.0 the removal rate falls 8.4% (1038 → 951 mm³/min) and the energy falls 9.5% (72.7 → 65.8 kJ): a symmetric trade-off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spindle speed falls with the energy weight (7256 → 6490 RPM): the energy is bought with throughput, not with time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Dominated points (w₂ = 0.0, 0.2, 0.6) remove less for more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Each policy has its weight pinned at training and evaluated at that same weight; 3 seeds, 50 scenarios each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One Policy Against 21 Policies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280160"/>
          <a:ext cx="107899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737360"/>
                <a:gridCol w="1737360"/>
                <a:gridCol w="1371600"/>
                <a:gridCol w="1737360"/>
                <a:gridCol w="1737360"/>
                <a:gridCol w="1463040"/>
              </a:tblGrid>
              <a:tr h="30861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w₂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MRR, one 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MRR, per weight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gap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Energy, one 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Energy, per weight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gap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946.3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−16.0%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1215.3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−10.5%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1205.1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−6.0%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1191.0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1035.8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−3.3%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1169.3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1023.9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−4.5%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1130.8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971.1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66.8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+0.5%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951.3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+2.1%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E6F5E6"/>
          </a:solidFill>
          <a:ln w="25400">
            <a:solidFill>
              <a:srgbClr val="008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8000"/>
                </a:solidFill>
                <a:latin typeface="Calibri"/>
              </a:defRPr>
            </a:pPr>
            <a:r>
              <a:t>🎯 Result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For w₂ from 0.0 to 0.6 the single policy removes 14% to 28% more material for 3% to 16% less energy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At w₂ = 0.8 and w₂ = 1.0 it still removes 16% and 15% more for 0.5% and 2.1% more energy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weight stays a runtime query, not a retrain: the observation carries w₂ and the material context (C_wear, k₁)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same policy swept at runtime: MRR 1213.6 (w₂ = 0.0) → 1096.0 (w₂ = 1.0), energy 69.6 → 67.1 kJ, spindle 7513 → 6475 RPM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Baseline Comparison (50 Episodes, Nominal Condition, w₂ = 0.4)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97280" y="1280160"/>
          <a:ext cx="98755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645920"/>
                <a:gridCol w="2011680"/>
                <a:gridCol w="1828800"/>
                <a:gridCol w="1645920"/>
              </a:tblGrid>
              <a:tr h="313508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Policy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MRR (mm³/min)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Energy (kJ)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Cycle (s)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PPO (ours)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204.09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894.3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5.56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Receding-Horizon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203.45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981.7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4.80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NSGA-II Static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732.9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6.4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Rule-Based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719.8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6.6</a:t>
                      </a:r>
                    </a:p>
                  </a:txBody>
                  <a:tcPr/>
                </a:tc>
              </a:tr>
              <a:tr h="313508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Constant-High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−46.10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1099.6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17.8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4.3  ⚠ violates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Constant-Safe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−139.25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1.6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1506.8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3000.0</a:t>
                      </a:r>
                    </a:p>
                  </a:txBody>
                  <a:tcPr>
                    <a:solidFill>
                      <a:srgbClr val="FFE6E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94760"/>
            <a:ext cx="11247120" cy="25603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4348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Same 50 episodes of the nominal condition for all six policies, at w₂ = 0.4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Level on the reward: PPO 204.1 against the controller 203.5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controller is ahead on the removal rate (981.7 vs 894.3) and the cycle time (4.80 s vs 5.56 s)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reinforcement learning advantage is demonstrated yet</a:t>
            </a:r>
          </a:p>
          <a:p>
            <a:pPr>
              <a:spcAft>
                <a:spcPts val="4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The three fast static policies finish outside the roughness safety limit, so the reward takes the −50 finishing penalty; Constant-Safe stays inside but needs 3000 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Transfer Experiment: Cross-Material Adaptation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C80000"/>
                </a:solidFill>
                <a:latin typeface="Calibri"/>
              </a:defRPr>
            </a:pPr>
            <a:r>
              <a:t>🎯 Target material (harder alloy, same machine): k₁ × 1.25, k₂ × 1.30, C_wear × 2.0. The source policy was trained for 300,000 steps on the nominal material; the adaptation budget on the target is 50,000 steps.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80"/>
          <a:ext cx="108813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1554480"/>
                <a:gridCol w="1828800"/>
                <a:gridCol w="201168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Arm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reward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R_a violations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(worst pass)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R_a violations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(finished surface)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Parts</a:t>
                      </a:r>
                    </a:p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completed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policy, zero shot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182.5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93.3%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Source policy, fine tuned (50k)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Trained on the target from scratch (50k)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196.6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333333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Production policy, zero shot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200.3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60.0%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003366"/>
                          </a:solidFill>
                          <a:latin typeface="Calibri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8DC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977639"/>
            <a:ext cx="11247120" cy="2377440"/>
          </a:xfrm>
          <a:prstGeom prst="rect">
            <a:avLst/>
          </a:prstGeom>
          <a:solidFill>
            <a:srgbClr val="FFF8DC"/>
          </a:solidFill>
          <a:ln w="25400">
            <a:solidFill>
              <a:srgbClr val="CC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C9900"/>
                </a:solidFill>
                <a:latin typeface="Calibri"/>
              </a:defRPr>
            </a:pPr>
            <a:r>
              <a:t>⚠ How to read this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production policy was trained across a distribution of materials with the material context in its observation, so the harder material is inside its training distribution and needs no adaptation at all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It scores the highest reward (200.3); the finished surface, which is the part quality, is in spec in every scenario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Its 60% worst-pass violations fall on the roughing passes, which the reward does not constrain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The nominal-trained source policy cannot: 182.5, and it violates the roughness limit in every scenario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Fine tuning it for 50,000 steps, or training on the target from scratch, both fix it, and both land at 196.6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Interactive Digital Twin Workstation (Streamlit)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📐 2D Stock Depletion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371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Cylindrical billet cross-section; pass-by-pass cutout; remaining κ, a_p; tool engagement diagram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7744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📊 Micro-Topography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3774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Feed-mark cusp profile: y_cusp(x) ≈ x²/(8r_ε) + noise; ISO 1302 R_a overlay with 1.6 μm ceiling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9184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8328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📝 G-Code Generator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ISO 6983 Fanuc/Siemens compliant; emits exact PPO parameter sequence; tool/diameter aware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9768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891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⚔️ Multi-Controller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389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Side-by-side: PPO vs NSGA-II vs Rule-Based vs Constant-High; live telemetry overlay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1247120" cy="914400"/>
          </a:xfrm>
          <a:prstGeom prst="rect">
            <a:avLst/>
          </a:prstGeom>
          <a:solidFill>
            <a:srgbClr val="F0F0F0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9496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3366"/>
                </a:solidFill>
                <a:latin typeface="Calibri"/>
              </a:defRPr>
            </a:pPr>
            <a:r>
              <a:t>⚡ Cached Loading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53949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@st.cache_resource loads 1M-step PPO model once per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3366"/>
                </a:solidFill>
                <a:latin typeface="Calibri"/>
              </a:defRPr>
            </a:pPr>
            <a:r>
              <a:t>Launch:  streamlit run app.py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Software Engineering: Reproducibility &amp;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Architecture &amp; Reproducibility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Architecture: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config/  →  physics, scenarios, paths (single source)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env/     →  Gymnasium env, 1 registration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agent/   →  train, eval, ablation, transfer, pipeline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baselines/ →  5 classical + receding-horizon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sim/     →  stock depletion, micro-topography, G-code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viz/     →  shared plotting utilities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Reproducibility: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Global seeding (Python, NumPy, PyTorch, CUDA)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Shared scenario tables (train = eval)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summarize_results.py regenerates RESULTS.md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All randomness deterministic given seed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Centralized paths (config/paths.py), env ID (env/__init__.py)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Test Coverage &amp;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002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Testing (34 tests):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22 env tests: clipping, truncation, soft norm, 11-D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observation, constants, overrides, accumulators, energy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norm, Gym checker, randomization, pinned values, scenario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scales, context (weight, material, random weight), speed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dependence, energy minimum, shared physics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 reward tests: golden values (w₂ = 0.0, 0.4, 0.75),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finishing penalty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5 integration: train→eval roundtrip, one registration,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context in the observation, one policy at a pinned weight,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  baseline artifact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3 callback: heartbeat delivery, failure report, interval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2 training: convergence, reproducibility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Code Quality: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No unused imports (AST verified)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Conventional commits, clean git history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  • Lit citations in physics_constants.py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Discussion: What Worked, Limitations,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✅ What Worked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Speed-dependent k_c creates genuine trade-off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Domain randomization → 99% completion, 0% finished violations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One policy beats the 21 per-weight policies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Training across materials makes the adaptation unnecessary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Receding-horizon = strong, fair baseline (same physics)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Full reproducibility: one script regenerates all tables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5196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⚠️ 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PPO is level with the receding-horizon, not ahead of it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Ablation uses 150k steps/weight (vs 1M production)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The reward charges a pass, the metric is a part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Micro-topography is simplified (no chatter/vibration)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Sim-only — no real machine calibration yet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188720"/>
            <a:ext cx="3566160" cy="5303520"/>
          </a:xfrm>
          <a:prstGeom prst="rect">
            <a:avLst/>
          </a:prstGeom>
          <a:solidFill>
            <a:srgbClr val="F0F0F0"/>
          </a:solidFill>
          <a:ln w="1905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280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3366"/>
                </a:solidFill>
                <a:latin typeface="Calibri"/>
              </a:defRPr>
            </a:pPr>
            <a:r>
              <a:t>🚀 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828800"/>
            <a:ext cx="3200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Controller-initialized RL (BC + fine-tune)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Sim-to-real: calibrate on machine data, add noise/delay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True multi-objective RL (Pareto-conditioned, hypervolume)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Online adaptation: runtime w₂ optimizer for energy budget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Full 3D Digital Twin: toolpath viz, collision checking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Deploy on edge hardware for real-time control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731520"/>
            <a:ext cx="1124712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🏭 Physics-grounded Digital Twin: speed-dependent cutting energy, tool wear, roughness, breakage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🤖 One environment (MillingDTEnv-v1): domain randomization, 11-D observation with the 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📊 One production policy (1M steps): the energy weight is a runtime query, not a retrain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4290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🔬 Monte Carlo (100 scenarios, 95% CIs), ablation frontier, sweep vs 21 per-weight policies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862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⚔️ Six baselines on the same 50 episodes — level on the reward, no RL advantage yet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🔄 Transfer: the production policy needs no adaptation; the nominal-trained one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🖥️ Interactive workstation: 2D stock depletion, micro-topography, G-code, controllers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25780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  <a:latin typeface="Calibri"/>
              </a:defRPr>
            </a:pPr>
            <a:r>
              <a:t>🔁 Full reproducibility: every result table from committed artifacts by one script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566928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779008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CC9900"/>
                </a:solidFill>
                <a:latin typeface="Calibri"/>
              </a:defRPr>
            </a:pPr>
            <a:r>
              <a:t>Key Scientific Finding: The speed-dependent specific cutting energy creates a genuine energy/throughput trade-off. Across the measured frontier the removal rate falls 8.4% while the energy of the part falls 9.5%. One conditioned policy reaches that whole frontier at runtime, beats the 21 policies trained per weight, and transfers to a harder material with no adaptation.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Reproducibility: All Commands Run from Project Root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2984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pytest tests/ -v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7373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55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Production policy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7556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agent/train_rl.py --steps 1000000 --seed 42 --randomize --randomize-weight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945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2128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One pinned weight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2128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agent/train_rl.py --steps 150000 --seed 42 --randomize --w2 0.4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517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Ablation grid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6700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agent/train_rl_ablation.py --steps 150000 --scenarios 50 --slots 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1089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272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Monte Carlo 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31272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agent/evaluate.py --scenarios 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5844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Weight sweep + compare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5844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agent/evaluate.py --sweep-weight --compare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233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0416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Classical baselines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40416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baselines/run_baselines.py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4805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4988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Transfer experiment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17520" y="44988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agent/transfer_experiment.py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9377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560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Regenerate RESULTS.md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49560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agent/summarize_results.py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394960"/>
            <a:ext cx="1124712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4132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Launch workstation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17520" y="54132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852160"/>
            <a:ext cx="11247120" cy="41148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87044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3366"/>
                </a:solidFill>
                <a:latin typeface="Calibri"/>
              </a:defRPr>
            </a:pPr>
            <a:r>
              <a:t>Full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5870448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  <a:latin typeface="Consolas"/>
              </a:defRPr>
            </a:pPr>
            <a:r>
              <a:t>python agent/run_pipeline.py --steps 1000000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286000"/>
            <a:ext cx="10362895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CC9900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Repository: G:/My Drive/IITM/AI in Mfg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891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4C8DC"/>
                </a:solidFill>
                <a:latin typeface="Calibri"/>
              </a:defRPr>
            </a:pPr>
            <a:r>
              <a:t>All code, data, results, and documentation in the repository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0352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9900"/>
                </a:solidFill>
                <a:latin typeface="Calibri"/>
              </a:defRPr>
            </a:pPr>
            <a:r>
              <a:t>ME6324 — AI in Manufacturing  •  IIT Madras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