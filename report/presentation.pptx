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2 regimes against the controller</a:t>
            </a:r>
          </a:p>
          <a:p>
            <a:pPr>
              <a:spcAft>
                <a:spcPts val="600"/>
              </a:spcAft>
              <a:defRPr sz="1600">
                <a:solidFill>
                  <a:srgbClr val="333333"/>
                </a:solidFill>
                <a:latin typeface="Calibri"/>
              </a:defRPr>
            </a:pPr>
            <a:r>
              <a:t>Regime map: two sweeps, the noise and the material model error</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400"/>
              </a:spcAft>
              <a:defRPr sz="1400">
                <a:solidFill>
                  <a:srgbClr val="333333"/>
                </a:solidFill>
                <a:latin typeface="Calibri"/>
              </a:defRPr>
            </a:pPr>
            <a:r>
              <a:t>1️⃣ Production policy: 1M steps, seed 42</a:t>
            </a:r>
          </a:p>
          <a:p>
            <a:pPr>
              <a:spcAft>
                <a:spcPts val="400"/>
              </a:spcAft>
              <a:defRPr sz="1400">
                <a:solidFill>
                  <a:srgbClr val="333333"/>
                </a:solidFill>
                <a:latin typeface="Calibri"/>
              </a:defRPr>
            </a:pPr>
            <a:r>
              <a:t>    --randomize --randomize-weight</a:t>
            </a:r>
          </a:p>
          <a:p>
            <a:pPr>
              <a:spcAft>
                <a:spcPts val="400"/>
              </a:spcAft>
              <a:defRPr sz="1400">
                <a:solidFill>
                  <a:srgbClr val="333333"/>
                </a:solidFill>
                <a:latin typeface="Calibri"/>
              </a:defRPr>
            </a:pPr>
            <a:r>
              <a:t>    → results/run_PPO_seed42/</a:t>
            </a:r>
          </a:p>
          <a:p>
            <a:pPr>
              <a:spcAft>
                <a:spcPts val="400"/>
              </a:spcAft>
              <a:defRPr sz="1400">
                <a:solidFill>
                  <a:srgbClr val="333333"/>
                </a:solidFill>
                <a:latin typeface="Calibri"/>
              </a:defRPr>
            </a:pPr>
            <a:r>
              <a:t>2️⃣ Ablation grid: 7 weights × 3 seeds = 21 policies</a:t>
            </a:r>
          </a:p>
          <a:p>
            <a:pPr>
              <a:spcAft>
                <a:spcPts val="400"/>
              </a:spcAft>
              <a:defRPr sz="1400">
                <a:solidFill>
                  <a:srgbClr val="333333"/>
                </a:solidFill>
                <a:latin typeface="Calibri"/>
              </a:defRPr>
            </a:pPr>
            <a:r>
              <a:t>    w₂ ∈ {0.0, 0.2, 0.4, 0.5, 0.6, 0.8, 1.0}</a:t>
            </a:r>
          </a:p>
          <a:p>
            <a:pPr>
              <a:spcAft>
                <a:spcPts val="400"/>
              </a:spcAft>
              <a:defRPr sz="1400">
                <a:solidFill>
                  <a:srgbClr val="333333"/>
                </a:solidFill>
                <a:latin typeface="Calibri"/>
              </a:defRPr>
            </a:pPr>
            <a:r>
              <a:t>    seeds {42, 43, 44}, 150k steps each</a:t>
            </a:r>
          </a:p>
          <a:p>
            <a:pPr>
              <a:spcAft>
                <a:spcPts val="400"/>
              </a:spcAft>
              <a:defRPr sz="1400">
                <a:solidFill>
                  <a:srgbClr val="333333"/>
                </a:solidFill>
                <a:latin typeface="Calibri"/>
              </a:defRPr>
            </a:pPr>
            <a:r>
              <a:t>    weight PINNED at training and at evaluation</a:t>
            </a:r>
          </a:p>
          <a:p>
            <a:pPr>
              <a:spcAft>
                <a:spcPts val="400"/>
              </a:spcAft>
              <a:defRPr sz="1400">
                <a:solidFill>
                  <a:srgbClr val="333333"/>
                </a:solidFill>
                <a:latin typeface="Calibri"/>
              </a:defRPr>
            </a:pPr>
            <a:r>
              <a:t>3️⃣ Batch-aware policy: 1M steps on MillingDTBatchEnv-v1</a:t>
            </a:r>
          </a:p>
          <a:p>
            <a:pPr>
              <a:spcAft>
                <a:spcPts val="400"/>
              </a:spcAft>
              <a:defRPr sz="1400">
                <a:solidFill>
                  <a:srgbClr val="333333"/>
                </a:solidFill>
                <a:latin typeface="Calibri"/>
              </a:defRPr>
            </a:pPr>
            <a:r>
              <a:t>4️⃣ Noisy-measurement policy: 1M steps, --obs-noise 0.05</a:t>
            </a:r>
          </a:p>
          <a:p>
            <a:pPr>
              <a:spcAft>
                <a:spcPts val="400"/>
              </a:spcAft>
              <a:defRPr sz="1400">
                <a:solidFill>
                  <a:srgbClr val="333333"/>
                </a:solidFill>
                <a:latin typeface="Calibri"/>
              </a:defRPr>
            </a:pPr>
            <a:r>
              <a:t>Heartbeat callback: queue signal every 1000 steps</a:t>
            </a:r>
          </a:p>
          <a:p>
            <a:pPr>
              <a:spcAft>
                <a:spcPts val="400"/>
              </a:spcAft>
              <a:defRPr sz="14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37744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96240">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96240">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96240">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226.8</a:t>
                      </a:r>
                    </a:p>
                  </a:txBody>
                  <a:tcPr>
                    <a:solidFill>
                      <a:srgbClr val="FFF8DC"/>
                    </a:solidFill>
                  </a:tcPr>
                </a:tc>
                <a:tc>
                  <a:txBody>
                    <a:bodyPr/>
                    <a:lstStyle/>
                    <a:p>
                      <a:pPr algn="ctr">
                        <a:defRPr sz="1200">
                          <a:solidFill>
                            <a:srgbClr val="333333"/>
                          </a:solidFill>
                          <a:latin typeface="Calibri"/>
                        </a:defRPr>
                      </a:pPr>
                      <a:r>
                        <a:t>87.2</a:t>
                      </a:r>
                    </a:p>
                  </a:txBody>
                  <a:tcPr>
                    <a:solidFill>
                      <a:srgbClr val="FFF8DC"/>
                    </a:solidFill>
                  </a:tcPr>
                </a:tc>
                <a:tc>
                  <a:txBody>
                    <a:bodyPr/>
                    <a:lstStyle/>
                    <a:p>
                      <a:pPr algn="ctr">
                        <a:defRPr sz="1200">
                          <a:solidFill>
                            <a:srgbClr val="333333"/>
                          </a:solidFill>
                          <a:latin typeface="Calibri"/>
                        </a:defRPr>
                      </a:pPr>
                      <a:r>
                        <a:t>1602.1</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7%</a:t>
                      </a:r>
                    </a:p>
                  </a:txBody>
                  <a:tcPr>
                    <a:solidFill>
                      <a:srgbClr val="FFF8DC"/>
                    </a:solidFill>
                  </a:tcPr>
                </a:tc>
                <a:tc>
                  <a:txBody>
                    <a:bodyPr/>
                    <a:lstStyle/>
                    <a:p>
                      <a:pPr algn="ctr">
                        <a:defRPr sz="1200">
                          <a:solidFill>
                            <a:srgbClr val="333333"/>
                          </a:solidFill>
                          <a:latin typeface="Calibri"/>
                        </a:defRPr>
                      </a:pPr>
                      <a:r>
                        <a:t>93%</a:t>
                      </a:r>
                    </a:p>
                  </a:txBody>
                  <a:tcPr>
                    <a:solidFill>
                      <a:srgbClr val="FFF8DC"/>
                    </a:solidFill>
                  </a:tcPr>
                </a:tc>
              </a:tr>
              <a:tr h="396240">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3977639"/>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80560"/>
            <a:ext cx="11247120" cy="233172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53712"/>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737360"/>
          </a:xfrm>
          <a:prstGeom prst="rect">
            <a:avLst/>
          </a:prstGeom>
          <a:noFill/>
        </p:spPr>
        <p:txBody>
          <a:bodyPr wrap="square">
            <a:spAutoFit/>
          </a:bodyPr>
          <a:lstStyle/>
          <a:p>
            <a:pPr>
              <a:spcAft>
                <a:spcPts val="400"/>
              </a:spcAft>
              <a:defRPr sz="11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1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100">
                <a:solidFill>
                  <a:srgbClr val="333333"/>
                </a:solidFill>
                <a:latin typeface="Calibri"/>
              </a:defRPr>
            </a:pPr>
            <a:r>
              <a:t>• The advantage appears where the controller's information advantage disappears: a noisy wear measurement (181.3 against 226.8). The regime map on the next slides puts a number on it</a:t>
            </a:r>
          </a:p>
          <a:p>
            <a:pPr>
              <a:spcAft>
                <a:spcPts val="400"/>
              </a:spcAft>
              <a:defRPr sz="11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1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Six Ways the Setup's Model Can Be Wrong</a:t>
            </a:r>
          </a:p>
        </p:txBody>
      </p:sp>
      <p:pic>
        <p:nvPicPr>
          <p:cNvPr id="4" name="Picture 3" descr="robustness_vs_controller.png"/>
          <p:cNvPicPr>
            <a:picLocks noChangeAspect="1"/>
          </p:cNvPicPr>
          <p:nvPr/>
        </p:nvPicPr>
        <p:blipFill>
          <a:blip r:embed="rId2"/>
          <a:stretch>
            <a:fillRect/>
          </a:stretch>
        </p:blipFill>
        <p:spPr>
          <a:xfrm>
            <a:off x="2267227" y="1143000"/>
            <a:ext cx="7654498"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reward, its spread, the removal rate, the energy, the cycle time and the reliability. The six cases are the perfect twin, the wear measurement noisy by 2% and by 10%, and the material model off by 5%, 20% and 30%. The values are in the tables.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Two Sweeps, One Headline</a:t>
            </a:r>
          </a:p>
        </p:txBody>
      </p:sp>
      <p:pic>
        <p:nvPicPr>
          <p:cNvPr id="4" name="Picture 3" descr="regime_map.png"/>
          <p:cNvPicPr>
            <a:picLocks noChangeAspect="1"/>
          </p:cNvPicPr>
          <p:nvPr/>
        </p:nvPicPr>
        <p:blipFill>
          <a:blip r:embed="rId2"/>
          <a:stretch>
            <a:fillRect/>
          </a:stretch>
        </p:blipFill>
        <p:spPr>
          <a:xfrm>
            <a:off x="1499321" y="1143000"/>
            <a:ext cx="9190309" cy="3840480"/>
          </a:xfrm>
          <a:prstGeom prst="rect">
            <a:avLst/>
          </a:prstGeom>
        </p:spPr>
      </p:pic>
      <p:sp>
        <p:nvSpPr>
          <p:cNvPr id="5" name="TextBox 4"/>
          <p:cNvSpPr txBox="1"/>
          <p:nvPr/>
        </p:nvSpPr>
        <p:spPr>
          <a:xfrm>
            <a:off x="457200" y="5074920"/>
            <a:ext cx="11247120" cy="457200"/>
          </a:xfrm>
          <a:prstGeom prst="rect">
            <a:avLst/>
          </a:prstGeom>
          <a:noFill/>
        </p:spPr>
        <p:txBody>
          <a:bodyPr wrap="square">
            <a:spAutoFit/>
          </a:bodyPr>
          <a:lstStyle/>
          <a:p>
            <a:pPr algn="l">
              <a:defRPr sz="1300" b="0">
                <a:solidFill>
                  <a:srgbClr val="666666"/>
                </a:solidFill>
                <a:latin typeface="Calibri"/>
              </a:defRPr>
            </a:pPr>
            <a:r>
              <a:t>Mean episode reward over the same 100 randomized scenarios at w₂ = 0.4. Left: the measurement noise on the flank wear and the remaining stock, as a percent of their range. Right: the error in the setup's belief about the material, as a percentage below the truth.</a:t>
            </a:r>
          </a:p>
        </p:txBody>
      </p:sp>
      <p:sp>
        <p:nvSpPr>
          <p:cNvPr id="6" name="Rectangle 5"/>
          <p:cNvSpPr/>
          <p:nvPr/>
        </p:nvSpPr>
        <p:spPr>
          <a:xfrm>
            <a:off x="457200" y="5577840"/>
            <a:ext cx="1124712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650992"/>
            <a:ext cx="10698480" cy="365760"/>
          </a:xfrm>
          <a:prstGeom prst="rect">
            <a:avLst/>
          </a:prstGeom>
          <a:noFill/>
        </p:spPr>
        <p:txBody>
          <a:bodyPr wrap="square">
            <a:spAutoFit/>
          </a:bodyPr>
          <a:lstStyle/>
          <a:p>
            <a:pPr algn="l">
              <a:defRPr sz="2000" b="1">
                <a:solidFill>
                  <a:srgbClr val="CC9900"/>
                </a:solidFill>
                <a:latin typeface="Calibri"/>
              </a:defRPr>
            </a:pPr>
            <a:r>
              <a:t>One headline, two sweeps</a:t>
            </a:r>
          </a:p>
        </p:txBody>
      </p:sp>
      <p:sp>
        <p:nvSpPr>
          <p:cNvPr id="8" name="TextBox 7"/>
          <p:cNvSpPr txBox="1"/>
          <p:nvPr/>
        </p:nvSpPr>
        <p:spPr>
          <a:xfrm>
            <a:off x="731520" y="6053328"/>
            <a:ext cx="10698480" cy="502920"/>
          </a:xfrm>
          <a:prstGeom prst="rect">
            <a:avLst/>
          </a:prstGeom>
          <a:noFill/>
        </p:spPr>
        <p:txBody>
          <a:bodyPr wrap="square">
            <a:spAutoFit/>
          </a:bodyPr>
          <a:lstStyle/>
          <a:p>
            <a:pPr>
              <a:spcAft>
                <a:spcPts val="300"/>
              </a:spcAft>
              <a:defRPr sz="1300">
                <a:solidFill>
                  <a:srgbClr val="333333"/>
                </a:solidFill>
                <a:latin typeface="Calibri"/>
              </a:defRPr>
            </a:pPr>
            <a:r>
              <a:t>• The learned policy is the better operator once the wear measurement is noisier than about 2% of its range, and the classical controller is better below that. The noise sweep is the headline: it applies to both arms in the same way.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 This sweep is the headline: the noise is the fair test, a property of the instrumentation that applies to both arms alike.</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crossover is at about 2% of the range of the wear measurement. Below it the classical controller is the better operator, above it the learned policy is.</a:t>
            </a:r>
          </a:p>
          <a:p>
            <a:pPr>
              <a:spcAft>
                <a:spcPts val="600"/>
              </a:spcAft>
              <a:defRPr sz="1300">
                <a:solidFill>
                  <a:srgbClr val="333333"/>
                </a:solidFill>
                <a:latin typeface="Calibri"/>
              </a:defRPr>
            </a:pPr>
            <a:r>
              <a:t>• The two degrade differently: the controller falls from 248.9 to 171.5, a 31% loss, and the policy from 233.6 to 222.0, a 5% loss. A model-based controller has a cliff, a learned policy has a slope.</a:t>
            </a:r>
          </a:p>
          <a:p>
            <a:pPr>
              <a:spcAft>
                <a:spcPts val="600"/>
              </a:spcAft>
              <a:defRPr sz="1300">
                <a:solidFill>
                  <a:srgbClr val="333333"/>
                </a:solidFill>
                <a:latin typeface="Calibri"/>
              </a:defRPr>
            </a:pPr>
            <a:r>
              <a:t>• Training for the noise does not pay: the noise-trained policy is below the general policy at every noise level, including the 5% it was trained for (213.6 against 226.8).</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The noise regime is the fair one, because the noise is a property of the instrumentation and not of the method: it changes only what the instrument reports, and it applies to both arms in the same 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How Wrong the Material Model Can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52697">
                <a:tc>
                  <a:txBody>
                    <a:bodyPr/>
                    <a:lstStyle/>
                    <a:p>
                      <a:pPr algn="ctr">
                        <a:defRPr sz="1200" b="1">
                          <a:solidFill>
                            <a:srgbClr val="FFFFFF"/>
                          </a:solidFill>
                          <a:latin typeface="Calibri"/>
                        </a:defRPr>
                      </a:pPr>
                      <a:r>
                        <a:t>Material model</a:t>
                      </a:r>
                    </a:p>
                    <a:p>
                      <a:pPr algn="ctr">
                        <a:defRPr sz="1200" b="1">
                          <a:solidFill>
                            <a:srgbClr val="FFFFFF"/>
                          </a:solidFill>
                          <a:latin typeface="Calibri"/>
                        </a:defRPr>
                      </a:pPr>
                      <a:r>
                        <a:t>off by</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52697">
                <a:tc>
                  <a:txBody>
                    <a:bodyPr/>
                    <a:lstStyle/>
                    <a:p>
                      <a:pPr algn="ctr">
                        <a:defRPr sz="1200">
                          <a:solidFill>
                            <a:srgbClr val="333333"/>
                          </a:solidFill>
                          <a:latin typeface="Calibri"/>
                        </a:defRPr>
                      </a:pPr>
                      <a:r>
                        <a:t>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52697">
                <a:tc>
                  <a:txBody>
                    <a:bodyPr/>
                    <a:lstStyle/>
                    <a:p>
                      <a:pPr algn="ctr">
                        <a:defRPr sz="1200">
                          <a:solidFill>
                            <a:srgbClr val="333333"/>
                          </a:solidFill>
                          <a:latin typeface="Calibri"/>
                        </a:defRPr>
                      </a:pPr>
                      <a:r>
                        <a:t>5%</a:t>
                      </a:r>
                    </a:p>
                  </a:txBody>
                  <a:tcPr/>
                </a:tc>
                <a:tc>
                  <a:txBody>
                    <a:bodyPr/>
                    <a:lstStyle/>
                    <a:p>
                      <a:pPr algn="ctr">
                        <a:defRPr sz="1200">
                          <a:solidFill>
                            <a:srgbClr val="333333"/>
                          </a:solidFill>
                          <a:latin typeface="Calibri"/>
                        </a:defRPr>
                      </a:pPr>
                      <a:r>
                        <a:t>201.5</a:t>
                      </a:r>
                    </a:p>
                  </a:txBody>
                  <a:tcPr/>
                </a:tc>
                <a:tc>
                  <a:txBody>
                    <a:bodyPr/>
                    <a:lstStyle/>
                    <a:p>
                      <a:pPr algn="ctr">
                        <a:defRPr sz="1200">
                          <a:solidFill>
                            <a:srgbClr val="333333"/>
                          </a:solidFill>
                          <a:latin typeface="Calibri"/>
                        </a:defRPr>
                      </a:pPr>
                      <a:r>
                        <a:t>232.8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+31.2</a:t>
                      </a:r>
                    </a:p>
                  </a:txBody>
                  <a:tcPr/>
                </a:tc>
              </a:tr>
              <a:tr h="352697">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136.0</a:t>
                      </a:r>
                    </a:p>
                  </a:txBody>
                  <a:tcPr/>
                </a:tc>
                <a:tc>
                  <a:txBody>
                    <a:bodyPr/>
                    <a:lstStyle/>
                    <a:p>
                      <a:pPr algn="ctr">
                        <a:defRPr sz="1200">
                          <a:solidFill>
                            <a:srgbClr val="333333"/>
                          </a:solidFill>
                          <a:latin typeface="Calibri"/>
                        </a:defRPr>
                      </a:pPr>
                      <a:r>
                        <a:t>237.8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+101.8</a:t>
                      </a:r>
                    </a:p>
                  </a:txBody>
                  <a:tcPr/>
                </a:tc>
              </a:tr>
              <a:tr h="352697">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35.7</a:t>
                      </a:r>
                    </a:p>
                  </a:txBody>
                  <a:tcPr>
                    <a:solidFill>
                      <a:srgbClr val="FFF8DC"/>
                    </a:solidFill>
                  </a:tcPr>
                </a:tc>
                <a:tc>
                  <a:txBody>
                    <a:bodyPr/>
                    <a:lstStyle/>
                    <a:p>
                      <a:pPr algn="ctr">
                        <a:defRPr sz="1200">
                          <a:solidFill>
                            <a:srgbClr val="333333"/>
                          </a:solidFill>
                          <a:latin typeface="Calibri"/>
                        </a:defRPr>
                      </a:pPr>
                      <a:r>
                        <a:t>201.5</a:t>
                      </a:r>
                    </a:p>
                  </a:txBody>
                  <a:tcPr>
                    <a:solidFill>
                      <a:srgbClr val="FFF8DC"/>
                    </a:solidFill>
                  </a:tcPr>
                </a:tc>
                <a:tc>
                  <a:txBody>
                    <a:bodyPr/>
                    <a:lstStyle/>
                    <a:p>
                      <a:pPr algn="ctr">
                        <a:defRPr sz="1200">
                          <a:solidFill>
                            <a:srgbClr val="333333"/>
                          </a:solidFill>
                          <a:latin typeface="Calibri"/>
                        </a:defRPr>
                      </a:pPr>
                      <a:r>
                        <a:t>219.6</a:t>
                      </a:r>
                    </a:p>
                  </a:txBody>
                  <a:tcPr>
                    <a:solidFill>
                      <a:srgbClr val="FFF8DC"/>
                    </a:solidFill>
                  </a:tcPr>
                </a:tc>
                <a:tc>
                  <a:txBody>
                    <a:bodyPr/>
                    <a:lstStyle/>
                    <a:p>
                      <a:pPr algn="ctr">
                        <a:defRPr sz="1200">
                          <a:solidFill>
                            <a:srgbClr val="333333"/>
                          </a:solidFill>
                          <a:latin typeface="Calibri"/>
                        </a:defRPr>
                      </a:pPr>
                      <a:r>
                        <a:t>+165.8</a:t>
                      </a:r>
                    </a:p>
                  </a:txBody>
                  <a:tcPr>
                    <a:solidFill>
                      <a:srgbClr val="FFF8DC"/>
                    </a:solidFill>
                  </a:tcPr>
                </a:tc>
              </a:tr>
              <a:tr h="352697">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32.5</a:t>
                      </a:r>
                    </a:p>
                  </a:txBody>
                  <a:tcPr/>
                </a:tc>
                <a:tc>
                  <a:txBody>
                    <a:bodyPr/>
                    <a:lstStyle/>
                    <a:p>
                      <a:pPr algn="ctr">
                        <a:defRPr sz="1200">
                          <a:solidFill>
                            <a:srgbClr val="333333"/>
                          </a:solidFill>
                          <a:latin typeface="Calibri"/>
                        </a:defRPr>
                      </a:pPr>
                      <a:r>
                        <a:t>116.7</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+84.3</a:t>
                      </a:r>
                    </a:p>
                  </a:txBody>
                  <a:tcPr/>
                </a:tc>
              </a:tr>
              <a:tr h="352698">
                <a:tc>
                  <a:txBody>
                    <a:bodyPr/>
                    <a:lstStyle/>
                    <a:p>
                      <a:pPr algn="ctr">
                        <a:defRPr sz="1200">
                          <a:solidFill>
                            <a:srgbClr val="333333"/>
                          </a:solidFill>
                          <a:latin typeface="Calibri"/>
                        </a:defRPr>
                      </a:pPr>
                      <a:r>
                        <a:t>40%</a:t>
                      </a:r>
                    </a:p>
                  </a:txBody>
                  <a:tcPr/>
                </a:tc>
                <a:tc>
                  <a:txBody>
                    <a:bodyPr/>
                    <a:lstStyle/>
                    <a:p>
                      <a:pPr algn="ctr">
                        <a:defRPr sz="1200">
                          <a:solidFill>
                            <a:srgbClr val="333333"/>
                          </a:solidFill>
                          <a:latin typeface="Calibri"/>
                        </a:defRPr>
                      </a:pPr>
                      <a:r>
                        <a:t>39.3</a:t>
                      </a:r>
                    </a:p>
                  </a:txBody>
                  <a:tcPr/>
                </a:tc>
                <a:tc>
                  <a:txBody>
                    <a:bodyPr/>
                    <a:lstStyle/>
                    <a:p>
                      <a:pPr algn="ctr">
                        <a:defRPr sz="1200">
                          <a:solidFill>
                            <a:srgbClr val="333333"/>
                          </a:solidFill>
                          <a:latin typeface="Calibri"/>
                        </a:defRPr>
                      </a:pPr>
                      <a:r>
                        <a:t>117.0</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+77.7</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belief about the material is a percentage below the truth, so the setup under-rates the wear and the roughness of the material. The same belief goes to both arms; the measurement noise is zero.</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controller's tolerance of a wrong material model is about 2% to 3%: a 5% error costs it 47 points (248.9 to 201.5) and a 20% error costs it 213 (to 35.7).</a:t>
            </a:r>
          </a:p>
          <a:p>
            <a:pPr>
              <a:spcAft>
                <a:spcPts val="600"/>
              </a:spcAft>
              <a:defRPr sz="1300">
                <a:solidFill>
                  <a:srgbClr val="333333"/>
                </a:solidFill>
                <a:latin typeface="Calibri"/>
              </a:defRPr>
            </a:pPr>
            <a:r>
              <a:t>• The learned policy holds to a 20% error (201.5, 13% below its own no-error score) and collapses at 30% (116.7): the belief has left the distribution it was trained on and its context feature is clipped at the edge of the band.</a:t>
            </a:r>
          </a:p>
          <a:p>
            <a:pPr>
              <a:spcAft>
                <a:spcPts val="600"/>
              </a:spcAft>
              <a:defRPr sz="1300">
                <a:solidFill>
                  <a:srgbClr val="333333"/>
                </a:solidFill>
                <a:latin typeface="Calibri"/>
              </a:defRPr>
            </a:pPr>
            <a:r>
              <a:t>• A conservative policy is insensitive to a wrong model: the policy trained for the noise is flat at 219.6 across the whole range, and it is below the general policy everywhere.</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Supporting evidence, not the headline</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Fairness: the same belief goes to both arms, the error is in the damaging direction, both arms are the general ones, and the noise model is tilted against the policy wherever noise is present</a:t>
            </a:r>
          </a:p>
          <a:p>
            <a:pPr>
              <a:spcAft>
                <a:spcPts val="400"/>
              </a:spcAft>
              <a:defRPr sz="1400">
                <a:solidFill>
                  <a:srgbClr val="333333"/>
                </a:solidFill>
                <a:latin typeface="Calibri"/>
              </a:defRPr>
            </a:pPr>
            <a:r>
              <a:t>• The noise sweep stays the headline, because the noise is the fair test: it is a property of the instrumentation and it applies to both arms in the same 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The Fairness Decisions</a:t>
            </a:r>
          </a:p>
        </p:txBody>
      </p:sp>
      <p:sp>
        <p:nvSpPr>
          <p:cNvPr id="4" name="Rectangle 3"/>
          <p:cNvSpPr/>
          <p:nvPr/>
        </p:nvSpPr>
        <p:spPr>
          <a:xfrm>
            <a:off x="457200" y="1234440"/>
            <a:ext cx="11247120" cy="35661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10698480" cy="365760"/>
          </a:xfrm>
          <a:prstGeom prst="rect">
            <a:avLst/>
          </a:prstGeom>
          <a:noFill/>
        </p:spPr>
        <p:txBody>
          <a:bodyPr wrap="square">
            <a:spAutoFit/>
          </a:bodyPr>
          <a:lstStyle/>
          <a:p>
            <a:pPr algn="l">
              <a:defRPr sz="2000" b="1">
                <a:solidFill>
                  <a:srgbClr val="003366"/>
                </a:solidFill>
                <a:latin typeface="Calibri"/>
              </a:defRPr>
            </a:pPr>
            <a:r>
              <a:t>The fairness decisions</a:t>
            </a:r>
          </a:p>
        </p:txBody>
      </p:sp>
      <p:sp>
        <p:nvSpPr>
          <p:cNvPr id="6" name="TextBox 5"/>
          <p:cNvSpPr txBox="1"/>
          <p:nvPr/>
        </p:nvSpPr>
        <p:spPr>
          <a:xfrm>
            <a:off x="731520" y="1783080"/>
            <a:ext cx="10698480" cy="2834640"/>
          </a:xfrm>
          <a:prstGeom prst="rect">
            <a:avLst/>
          </a:prstGeom>
          <a:noFill/>
        </p:spPr>
        <p:txBody>
          <a:bodyPr wrap="square">
            <a:spAutoFit/>
          </a:bodyPr>
          <a:lstStyle/>
          <a:p>
            <a:pPr>
              <a:spcAft>
                <a:spcPts val="400"/>
              </a:spcAft>
              <a:defRPr sz="1300">
                <a:solidFill>
                  <a:srgbClr val="333333"/>
                </a:solidFill>
                <a:latin typeface="Calibri"/>
              </a:defRPr>
            </a:pPr>
            <a:r>
              <a:t>• Noise sweep: both arms of the headline comparison are the general ones, neither is trained for the noise.</a:t>
            </a:r>
          </a:p>
          <a:p>
            <a:pPr>
              <a:spcAft>
                <a:spcPts val="400"/>
              </a:spcAft>
              <a:defRPr sz="1300">
                <a:solidFill>
                  <a:srgbClr val="333333"/>
                </a:solidFill>
                <a:latin typeface="Calibri"/>
              </a:defRPr>
            </a:pPr>
            <a:r>
              <a:t>• The noise is a property of the instrumentation and not of the method: it changes only what the instrument reports, and it applies to both arms in the same way.</a:t>
            </a:r>
          </a:p>
          <a:p>
            <a:pPr>
              <a:spcAft>
                <a:spcPts val="400"/>
              </a:spcAft>
              <a:defRPr sz="1300">
                <a:solidFill>
                  <a:srgbClr val="333333"/>
                </a:solidFill>
                <a:latin typeface="Calibri"/>
              </a:defRPr>
            </a:pPr>
            <a:r>
              <a:t>• The noise is tilted against the policy: the controller gets a noisy reading of the flank wear alone, the policy gets the noise on the flank wear and on the remaining stock.</a:t>
            </a:r>
          </a:p>
          <a:p>
            <a:pPr>
              <a:spcAft>
                <a:spcPts val="400"/>
              </a:spcAft>
              <a:defRPr sz="1300">
                <a:solidFill>
                  <a:srgbClr val="333333"/>
                </a:solidFill>
                <a:latin typeface="Calibri"/>
              </a:defRPr>
            </a:pPr>
            <a:r>
              <a:t>• The noise-trained policy is a third, clearly labelled arm in the table and in the sweep, and it is not the headline: a controller can also be prepared for a noisy instrument by widening its safety margin.</a:t>
            </a:r>
          </a:p>
          <a:p>
            <a:pPr>
              <a:spcAft>
                <a:spcPts val="400"/>
              </a:spcAft>
              <a:defRPr sz="1300">
                <a:solidFill>
                  <a:srgbClr val="333333"/>
                </a:solidFill>
                <a:latin typeface="Calibri"/>
              </a:defRPr>
            </a:pPr>
            <a:r>
              <a:t>• Model error sweep: the same belief about the material goes to both arms, the controller solves with it and the policy reads it in its context.</a:t>
            </a:r>
          </a:p>
          <a:p>
            <a:pPr>
              <a:spcAft>
                <a:spcPts val="400"/>
              </a:spcAft>
              <a:defRPr sz="1300">
                <a:solidFill>
                  <a:srgbClr val="333333"/>
                </a:solidFill>
                <a:latin typeface="Calibri"/>
              </a:defRPr>
            </a:pPr>
            <a:r>
              <a:t>• The error is in the damaging direction, because a setup that under-rates the wear and the roughness of the material it is cutting will push the tool harder than the material can take.</a:t>
            </a:r>
          </a:p>
          <a:p>
            <a:pPr>
              <a:spcAft>
                <a:spcPts val="400"/>
              </a:spcAft>
              <a:defRPr sz="1300">
                <a:solidFill>
                  <a:srgbClr val="333333"/>
                </a:solidFill>
                <a:latin typeface="Calibri"/>
              </a:defRPr>
            </a:pPr>
            <a:r>
              <a:t>• Both arms are the general ones, neither is prepared for the error, and the noise model is tilted against the policy wherever noise is present.</a:t>
            </a:r>
          </a:p>
        </p:txBody>
      </p:sp>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56632"/>
            <a:ext cx="10698480" cy="365760"/>
          </a:xfrm>
          <a:prstGeom prst="rect">
            <a:avLst/>
          </a:prstGeom>
          <a:noFill/>
        </p:spPr>
        <p:txBody>
          <a:bodyPr wrap="square">
            <a:spAutoFit/>
          </a:bodyPr>
          <a:lstStyle/>
          <a:p>
            <a:pPr algn="l">
              <a:defRPr sz="2000" b="1">
                <a:solidFill>
                  <a:srgbClr val="CC9900"/>
                </a:solidFill>
                <a:latin typeface="Calibri"/>
              </a:defRPr>
            </a:pPr>
            <a:r>
              <a:t>What the comparison claims</a:t>
            </a:r>
          </a:p>
        </p:txBody>
      </p:sp>
      <p:sp>
        <p:nvSpPr>
          <p:cNvPr id="9" name="TextBox 8"/>
          <p:cNvSpPr txBox="1"/>
          <p:nvPr/>
        </p:nvSpPr>
        <p:spPr>
          <a:xfrm>
            <a:off x="731520" y="5486400"/>
            <a:ext cx="10698480" cy="1005840"/>
          </a:xfrm>
          <a:prstGeom prst="rect">
            <a:avLst/>
          </a:prstGeom>
          <a:noFill/>
        </p:spPr>
        <p:txBody>
          <a:bodyPr wrap="square">
            <a:spAutoFit/>
          </a:bodyPr>
          <a:lstStyle/>
          <a:p>
            <a:pPr>
              <a:spcAft>
                <a:spcPts val="400"/>
              </a:spcAft>
              <a:defRPr sz="1400">
                <a:solidFill>
                  <a:srgbClr val="333333"/>
                </a:solidFill>
                <a:latin typeface="Calibri"/>
              </a:defRPr>
            </a:pPr>
            <a:r>
              <a:t>• The learned policy is the better operator once the wear measurement is noisier than about 2% of its range, and the classical controller is the better operator below that, inside a perfect digital twin</a:t>
            </a:r>
          </a:p>
          <a:p>
            <a:pPr>
              <a:spcAft>
                <a:spcPts val="400"/>
              </a:spcAft>
              <a:defRPr sz="1400">
                <a:solidFill>
                  <a:srgbClr val="333333"/>
                </a:solidFill>
                <a:latin typeface="Calibri"/>
              </a:defRPr>
            </a:pPr>
            <a:r>
              <a:t>• The model error sweep supports that boundary and does not carry it: the controller tolerates 2% to 3% of a wrong material model, the learned policy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Much of the Comparison the Reward Decides</a:t>
            </a:r>
          </a:p>
        </p:txBody>
      </p:sp>
      <p:pic>
        <p:nvPicPr>
          <p:cNvPr id="4" name="Picture 3" descr="reward_sensitivity.png"/>
          <p:cNvPicPr>
            <a:picLocks noChangeAspect="1"/>
          </p:cNvPicPr>
          <p:nvPr/>
        </p:nvPicPr>
        <p:blipFill>
          <a:blip r:embed="rId2"/>
          <a:stretch>
            <a:fillRect/>
          </a:stretch>
        </p:blipFill>
        <p:spPr>
          <a:xfrm>
            <a:off x="580246" y="1143000"/>
            <a:ext cx="11028459"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Three panels: the reward as the environment pays it, the part level alternative, and the gap between the arms. The scale is not the lever: the controller leads at every scale and the gap grows with it, 7.1 points at 5 to 352.0 at 4000. The accounting of a rate is: the arms close to 5.0 points at the scale of 100, and the policy overtakes by 9.4 at 1000 and 57.4 at 4000.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pic>
        <p:nvPicPr>
          <p:cNvPr id="4" name="Picture 3" descr="batch_vs_ppo.png"/>
          <p:cNvPicPr>
            <a:picLocks noChangeAspect="1"/>
          </p:cNvPicPr>
          <p:nvPr/>
        </p:nvPicPr>
        <p:blipFill>
          <a:blip r:embed="rId2"/>
          <a:stretch>
            <a:fillRect/>
          </a:stretch>
        </p:blipFill>
        <p:spPr>
          <a:xfrm>
            <a:off x="2792302" y="1143000"/>
            <a:ext cx="6604347"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batch reward, the reward per part, the tool changes, the parts cut, the batch time and the batch energy. The values are in the table. The batch-aware policy replaces the tool 0.63 times per batch against 0.83, spends 610.4 kJ against 674.3 and 692.0, and cuts the batch in 113.1 s against 207.5 s for the per-part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82880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109728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learned policy is the better operator once the wear measurement is noisier than about 2% of its range.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100">
                <a:solidFill>
                  <a:srgbClr val="333333"/>
                </a:solidFill>
                <a:latin typeface="Calibri"/>
              </a:defRPr>
            </a:pPr>
            <a:r>
              <a:t>Speed-dependent k_c creates genuine trade-off</a:t>
            </a:r>
          </a:p>
          <a:p>
            <a:pPr>
              <a:spcAft>
                <a:spcPts val="400"/>
              </a:spcAft>
              <a:defRPr sz="1100">
                <a:solidFill>
                  <a:srgbClr val="333333"/>
                </a:solidFill>
                <a:latin typeface="Calibri"/>
              </a:defRPr>
            </a:pPr>
            <a:r>
              <a:t>The reward scale decides the operating point: 50 points per part</a:t>
            </a:r>
          </a:p>
          <a:p>
            <a:pPr>
              <a:spcAft>
                <a:spcPts val="400"/>
              </a:spcAft>
              <a:defRPr sz="1100">
                <a:solidFill>
                  <a:srgbClr val="333333"/>
                </a:solidFill>
                <a:latin typeface="Calibri"/>
              </a:defRPr>
            </a:pPr>
            <a:r>
              <a:t>Domain randomization → 94% completion</a:t>
            </a:r>
          </a:p>
          <a:p>
            <a:pPr>
              <a:spcAft>
                <a:spcPts val="400"/>
              </a:spcAft>
              <a:defRPr sz="1100">
                <a:solidFill>
                  <a:srgbClr val="333333"/>
                </a:solidFill>
                <a:latin typeface="Calibri"/>
              </a:defRPr>
            </a:pPr>
            <a:r>
              <a:t>One policy covers the range, ahead over w₂ = 0.0 to 0.6</a:t>
            </a:r>
          </a:p>
          <a:p>
            <a:pPr>
              <a:spcAft>
                <a:spcPts val="400"/>
              </a:spcAft>
              <a:defRPr sz="1100">
                <a:solidFill>
                  <a:srgbClr val="333333"/>
                </a:solidFill>
                <a:latin typeface="Calibri"/>
              </a:defRPr>
            </a:pPr>
            <a:r>
              <a:t>Training across materials makes the adaptation unnecessary</a:t>
            </a:r>
          </a:p>
          <a:p>
            <a:pPr>
              <a:spcAft>
                <a:spcPts val="400"/>
              </a:spcAft>
              <a:defRPr sz="1100">
                <a:solidFill>
                  <a:srgbClr val="333333"/>
                </a:solidFill>
                <a:latin typeface="Calibri"/>
              </a:defRPr>
            </a:pPr>
            <a:r>
              <a:t>Receding-horizon = strong, fair baseline (184.3 → 248.9)</a:t>
            </a:r>
          </a:p>
          <a:p>
            <a:pPr>
              <a:spcAft>
                <a:spcPts val="400"/>
              </a:spcAft>
              <a:defRPr sz="1100">
                <a:solidFill>
                  <a:srgbClr val="333333"/>
                </a:solidFill>
                <a:latin typeface="Calibri"/>
              </a:defRPr>
            </a:pPr>
            <a:r>
              <a:t>Robustness: comparable inside a perfect twin, and the advantage appears where the controller's information runs out</a:t>
            </a:r>
          </a:p>
          <a:p>
            <a:pPr>
              <a:spcAft>
                <a:spcPts val="400"/>
              </a:spcAft>
              <a:defRPr sz="1100">
                <a:solidFill>
                  <a:srgbClr val="333333"/>
                </a:solidFill>
                <a:latin typeface="Calibri"/>
              </a:defRPr>
            </a:pPr>
            <a:r>
              <a:t>The regime map: the learned policy is the better operator once the wear measurement is noisier than about 2% of its range</a:t>
            </a:r>
          </a:p>
          <a:p>
            <a:pPr>
              <a:spcAft>
                <a:spcPts val="400"/>
              </a:spcAft>
              <a:defRPr sz="1100">
                <a:solidFill>
                  <a:srgbClr val="333333"/>
                </a:solidFill>
                <a:latin typeface="Calibri"/>
              </a:defRPr>
            </a:pPr>
            <a:r>
              <a:t>A second sweep, a wrong material model, supports it: the controller tolerates 2% to 3% of that error, the learned policy 20%</a:t>
            </a:r>
          </a:p>
          <a:p>
            <a:pPr>
              <a:spcAft>
                <a:spcPts val="400"/>
              </a:spcAft>
              <a:defRPr sz="1100">
                <a:solidFill>
                  <a:srgbClr val="333333"/>
                </a:solidFill>
                <a:latin typeface="Calibri"/>
              </a:defRPr>
            </a:pPr>
            <a:r>
              <a:t>Measuring the reward found the artifact: the credit grows with the number of passes</a:t>
            </a:r>
          </a:p>
          <a:p>
            <a:pPr>
              <a:spcAft>
                <a:spcPts val="400"/>
              </a:spcAft>
              <a:defRPr sz="11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100">
                <a:solidFill>
                  <a:srgbClr val="333333"/>
                </a:solidFill>
                <a:latin typeface="Calibri"/>
              </a:defRPr>
            </a:pPr>
            <a:r>
              <a:t>Inside a perfect twin the two are comparable: 248.9 against 233.6, the gap inside the noise, and nine of those points are the reward's artifact</a:t>
            </a:r>
          </a:p>
          <a:p>
            <a:pPr>
              <a:spcAft>
                <a:spcPts val="400"/>
              </a:spcAft>
              <a:defRPr sz="1100">
                <a:solidFill>
                  <a:srgbClr val="333333"/>
                </a:solidFill>
                <a:latin typeface="Calibri"/>
              </a:defRPr>
            </a:pPr>
            <a:r>
              <a:t>The learned policy is the better throughput operator, at twice the tool breakage</a:t>
            </a:r>
          </a:p>
          <a:p>
            <a:pPr>
              <a:spcAft>
                <a:spcPts val="400"/>
              </a:spcAft>
              <a:defRPr sz="1100">
                <a:solidFill>
                  <a:srgbClr val="333333"/>
                </a:solidFill>
                <a:latin typeface="Calibri"/>
              </a:defRPr>
            </a:pPr>
            <a:r>
              <a:t>The crossover at 2% is a property of this controller, this reward and this noise model</a:t>
            </a:r>
          </a:p>
          <a:p>
            <a:pPr>
              <a:spcAft>
                <a:spcPts val="400"/>
              </a:spcAft>
              <a:defRPr sz="1100">
                <a:solidFill>
                  <a:srgbClr val="333333"/>
                </a:solidFill>
                <a:latin typeface="Calibri"/>
              </a:defRPr>
            </a:pPr>
            <a:r>
              <a:t>Tolerance to a wrong material model is set by the training band: 20% holds, 30% collapses</a:t>
            </a:r>
          </a:p>
          <a:p>
            <a:pPr>
              <a:spcAft>
                <a:spcPts val="400"/>
              </a:spcAft>
              <a:defRPr sz="1100">
                <a:solidFill>
                  <a:srgbClr val="333333"/>
                </a:solidFill>
                <a:latin typeface="Calibri"/>
              </a:defRPr>
            </a:pPr>
            <a:r>
              <a:t>The comparison is one noise model deep: the regime map sweeps that noise and, separately, the material model error</a:t>
            </a:r>
          </a:p>
          <a:p>
            <a:pPr>
              <a:spcAft>
                <a:spcPts val="400"/>
              </a:spcAft>
              <a:defRPr sz="1100">
                <a:solidFill>
                  <a:srgbClr val="333333"/>
                </a:solidFill>
                <a:latin typeface="Calibri"/>
              </a:defRPr>
            </a:pPr>
            <a:r>
              <a:t>Initializing from the controller is now harmful: 119.8 against 233.6</a:t>
            </a:r>
          </a:p>
          <a:p>
            <a:pPr>
              <a:spcAft>
                <a:spcPts val="400"/>
              </a:spcAft>
              <a:defRPr sz="1100">
                <a:solidFill>
                  <a:srgbClr val="333333"/>
                </a:solidFill>
                <a:latin typeface="Calibri"/>
              </a:defRPr>
            </a:pPr>
            <a:r>
              <a:t>The reward pays a rate per pass, so the credit grows with the pass count: the bias is in the reward, not the scale</a:t>
            </a:r>
          </a:p>
          <a:p>
            <a:pPr>
              <a:spcAft>
                <a:spcPts val="400"/>
              </a:spcAft>
              <a:defRPr sz="1100">
                <a:solidFill>
                  <a:srgbClr val="333333"/>
                </a:solidFill>
                <a:latin typeface="Calibri"/>
              </a:defRPr>
            </a:pPr>
            <a:r>
              <a:t>The wear tool life varies by only a factor of a few across the envelope</a:t>
            </a:r>
          </a:p>
          <a:p>
            <a:pPr>
              <a:spcAft>
                <a:spcPts val="400"/>
              </a:spcAft>
              <a:defRPr sz="11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1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100">
                <a:solidFill>
                  <a:srgbClr val="333333"/>
                </a:solidFill>
                <a:latin typeface="Calibri"/>
              </a:defRPr>
            </a:pPr>
            <a:r>
              <a:t>Publish the sensitivity of any comparison to the reward form, as it is here</a:t>
            </a:r>
          </a:p>
          <a:p>
            <a:pPr>
              <a:spcAft>
                <a:spcPts val="400"/>
              </a:spcAft>
              <a:defRPr sz="1100">
                <a:solidFill>
                  <a:srgbClr val="333333"/>
                </a:solidFill>
                <a:latin typeface="Calibri"/>
              </a:defRPr>
            </a:pPr>
            <a:r>
              <a:t>Compare against a restricted controller (is the gap an information gap?)</a:t>
            </a:r>
          </a:p>
          <a:p>
            <a:pPr>
              <a:spcAft>
                <a:spcPts val="400"/>
              </a:spcAft>
              <a:defRPr sz="1100">
                <a:solidFill>
                  <a:srgbClr val="333333"/>
                </a:solidFill>
                <a:latin typeface="Calibri"/>
              </a:defRPr>
            </a:pPr>
            <a:r>
              <a:t>Measure the crossover under a controller prepared for a noisy instrument, and on the noise of a real instrument</a:t>
            </a:r>
          </a:p>
          <a:p>
            <a:pPr>
              <a:spcAft>
                <a:spcPts val="400"/>
              </a:spcAft>
              <a:defRPr sz="1100">
                <a:solidFill>
                  <a:srgbClr val="333333"/>
                </a:solidFill>
                <a:latin typeface="Calibri"/>
              </a:defRPr>
            </a:pPr>
            <a:r>
              <a:t>A wider randomization band: retrain, repeat the model error sweep, and measure the error in the other direction</a:t>
            </a:r>
          </a:p>
          <a:p>
            <a:pPr>
              <a:spcAft>
                <a:spcPts val="400"/>
              </a:spcAft>
              <a:defRPr sz="1100">
                <a:solidFill>
                  <a:srgbClr val="333333"/>
                </a:solidFill>
                <a:latin typeface="Calibri"/>
              </a:defRPr>
            </a:pPr>
            <a:r>
              <a:t>Sim-to-real: calibrate on machine data, add noise/delay</a:t>
            </a:r>
          </a:p>
          <a:p>
            <a:pPr>
              <a:spcAft>
                <a:spcPts val="400"/>
              </a:spcAft>
              <a:defRPr sz="1100">
                <a:solidFill>
                  <a:srgbClr val="333333"/>
                </a:solidFill>
                <a:latin typeface="Calibri"/>
              </a:defRPr>
            </a:pPr>
            <a:r>
              <a:t>True multi-objective RL (Pareto-conditioned, hypervolume)</a:t>
            </a:r>
          </a:p>
          <a:p>
            <a:pPr>
              <a:spcAft>
                <a:spcPts val="400"/>
              </a:spcAft>
              <a:defRPr sz="1100">
                <a:solidFill>
                  <a:srgbClr val="333333"/>
                </a:solidFill>
                <a:latin typeface="Calibri"/>
              </a:defRPr>
            </a:pPr>
            <a:r>
              <a:t>Online adaptation: runtime w₂ optimizer for energy budget</a:t>
            </a:r>
          </a:p>
          <a:p>
            <a:pPr>
              <a:spcAft>
                <a:spcPts val="400"/>
              </a:spcAft>
              <a:defRPr sz="1100">
                <a:solidFill>
                  <a:srgbClr val="333333"/>
                </a:solidFill>
                <a:latin typeface="Calibri"/>
              </a:defRPr>
            </a:pPr>
            <a:r>
              <a:t>Batch-level planning: optimize the whole batch, not a 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with a noisy wear measurement the controller falls to 181.3, the policy holds at 226.8</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two sweeps. The noise sweep carries the claim: the learned policy is the better operator once the wear measurement is noisier than about 2% of its range, and the classical controller is better below that. The model error sweep supports it: the controller tolerates 2% to 3% of a wrong material model, the learned policy 20%</a:t>
            </a:r>
          </a:p>
        </p:txBody>
      </p:sp>
      <p:sp>
        <p:nvSpPr>
          <p:cNvPr id="11" name="TextBox 10"/>
          <p:cNvSpPr txBox="1"/>
          <p:nvPr/>
        </p:nvSpPr>
        <p:spPr>
          <a:xfrm>
            <a:off x="914400" y="396849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39826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64515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89204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513892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once the wear measurement is noisier than about 2% of its range.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7675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5900"/>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85900"/>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6479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73936"/>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73936"/>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5282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61972"/>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61972"/>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4086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50008"/>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50008"/>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28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3804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38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1693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26080"/>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26080"/>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0497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14116"/>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14116"/>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49300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02152"/>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02152"/>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781044"/>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90188"/>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790188"/>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069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7822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07822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35711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66260"/>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366260"/>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64515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654296"/>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654296"/>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493318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942332"/>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4942332"/>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22122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230368"/>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230368"/>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509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51840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51840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79729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806440"/>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806440"/>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08533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094476"/>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094476"/>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37336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382512"/>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382512"/>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