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Rectangle 1"/>
          <p:cNvSpPr/>
          <p:nvPr/>
        </p:nvSpPr>
        <p:spPr>
          <a:xfrm>
            <a:off x="914400" y="2560320"/>
            <a:ext cx="10362895" cy="50800"/>
          </a:xfrm>
          <a:prstGeom prst="rect">
            <a:avLst/>
          </a:prstGeom>
          <a:solidFill>
            <a:srgbClr val="CC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62895" cy="1371600"/>
          </a:xfrm>
          <a:prstGeom prst="rect">
            <a:avLst/>
          </a:prstGeom>
          <a:noFill/>
        </p:spPr>
        <p:txBody>
          <a:bodyPr wrap="square">
            <a:spAutoFit/>
          </a:bodyPr>
          <a:lstStyle/>
          <a:p>
            <a:pPr algn="ctr">
              <a:defRPr sz="3600" b="1">
                <a:solidFill>
                  <a:srgbClr val="FFFFFF"/>
                </a:solidFill>
                <a:latin typeface="Calibri"/>
              </a:defRPr>
            </a:pPr>
            <a:r>
              <a:t>Digital Twin-Driven Deep Reinforcement Learning</a:t>
            </a:r>
            <a:br/>
            <a:r>
              <a:t>for Energy-Aware CNC Milling Parameter Optimization</a:t>
            </a:r>
          </a:p>
        </p:txBody>
      </p:sp>
      <p:sp>
        <p:nvSpPr>
          <p:cNvPr id="4" name="TextBox 3"/>
          <p:cNvSpPr txBox="1"/>
          <p:nvPr/>
        </p:nvSpPr>
        <p:spPr>
          <a:xfrm>
            <a:off x="914400" y="2834640"/>
            <a:ext cx="10362895" cy="731520"/>
          </a:xfrm>
          <a:prstGeom prst="rect">
            <a:avLst/>
          </a:prstGeom>
          <a:noFill/>
        </p:spPr>
        <p:txBody>
          <a:bodyPr wrap="square">
            <a:spAutoFit/>
          </a:bodyPr>
          <a:lstStyle/>
          <a:p>
            <a:pPr algn="ctr">
              <a:defRPr sz="2200" b="0">
                <a:solidFill>
                  <a:srgbClr val="CC9900"/>
                </a:solidFill>
                <a:latin typeface="Calibri"/>
              </a:defRPr>
            </a:pPr>
            <a:r>
              <a:t>ME6324, AI in Manufacturing  |  Course Project Report</a:t>
            </a:r>
          </a:p>
        </p:txBody>
      </p:sp>
      <p:sp>
        <p:nvSpPr>
          <p:cNvPr id="5" name="TextBox 4"/>
          <p:cNvSpPr txBox="1"/>
          <p:nvPr/>
        </p:nvSpPr>
        <p:spPr>
          <a:xfrm>
            <a:off x="914400" y="3840480"/>
            <a:ext cx="10362895" cy="548640"/>
          </a:xfrm>
          <a:prstGeom prst="rect">
            <a:avLst/>
          </a:prstGeom>
          <a:noFill/>
        </p:spPr>
        <p:txBody>
          <a:bodyPr wrap="square">
            <a:spAutoFit/>
          </a:bodyPr>
          <a:lstStyle/>
          <a:p>
            <a:pPr algn="ctr">
              <a:defRPr sz="1800" b="0">
                <a:solidFill>
                  <a:srgbClr val="FFFFFF"/>
                </a:solidFill>
                <a:latin typeface="Calibri"/>
              </a:defRPr>
            </a:pPr>
            <a:r>
              <a:t>Abhinand  •  Department of Mechanical Engineering  •  IIT Madras</a:t>
            </a:r>
          </a:p>
        </p:txBody>
      </p:sp>
      <p:sp>
        <p:nvSpPr>
          <p:cNvPr id="6" name="TextBox 5"/>
          <p:cNvSpPr txBox="1"/>
          <p:nvPr/>
        </p:nvSpPr>
        <p:spPr>
          <a:xfrm>
            <a:off x="914400" y="4754880"/>
            <a:ext cx="10362895" cy="548640"/>
          </a:xfrm>
          <a:prstGeom prst="rect">
            <a:avLst/>
          </a:prstGeom>
          <a:noFill/>
        </p:spPr>
        <p:txBody>
          <a:bodyPr wrap="square">
            <a:spAutoFit/>
          </a:bodyPr>
          <a:lstStyle/>
          <a:p>
            <a:pPr algn="ctr">
              <a:defRPr sz="1400" b="0">
                <a:solidFill>
                  <a:srgbClr val="B4C8DC"/>
                </a:solidFill>
                <a:latin typeface="Calibri"/>
              </a:defRPr>
            </a:pPr>
            <a:r>
              <a:t>Git Revision: d76603b  •  All results reproducible from committed artifacts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Problem: Dynamic Cutting Parameter Optimization in CNC Face Milling</a:t>
            </a:r>
          </a:p>
        </p:txBody>
      </p:sp>
      <p:sp>
        <p:nvSpPr>
          <p:cNvPr id="4" name="TextBox 3"/>
          <p:cNvSpPr txBox="1"/>
          <p:nvPr/>
        </p:nvSpPr>
        <p:spPr>
          <a:xfrm>
            <a:off x="457200" y="1280160"/>
            <a:ext cx="10972800" cy="548640"/>
          </a:xfrm>
          <a:prstGeom prst="rect">
            <a:avLst/>
          </a:prstGeom>
          <a:noFill/>
        </p:spPr>
        <p:txBody>
          <a:bodyPr wrap="square">
            <a:spAutoFit/>
          </a:bodyPr>
          <a:lstStyle/>
          <a:p>
            <a:pPr algn="l">
              <a:defRPr sz="2000" b="0">
                <a:solidFill>
                  <a:srgbClr val="333333"/>
                </a:solidFill>
                <a:latin typeface="Calibri"/>
              </a:defRPr>
            </a:pPr>
            <a:r>
              <a:t>Choose spindle speed (n), feed (f_r), depth of cut (a_p) pass-by-pass to balance:</a:t>
            </a:r>
          </a:p>
        </p:txBody>
      </p:sp>
      <p:sp>
        <p:nvSpPr>
          <p:cNvPr id="5" name="Rectangle 4"/>
          <p:cNvSpPr/>
          <p:nvPr/>
        </p:nvSpPr>
        <p:spPr>
          <a:xfrm>
            <a:off x="731520" y="2011680"/>
            <a:ext cx="10698480" cy="914400"/>
          </a:xfrm>
          <a:prstGeom prst="rect">
            <a:avLst/>
          </a:prstGeom>
          <a:solidFill>
            <a:srgbClr val="F0F0F0"/>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03120"/>
            <a:ext cx="2286000" cy="731520"/>
          </a:xfrm>
          <a:prstGeom prst="rect">
            <a:avLst/>
          </a:prstGeom>
          <a:noFill/>
        </p:spPr>
        <p:txBody>
          <a:bodyPr wrap="square">
            <a:spAutoFit/>
          </a:bodyPr>
          <a:lstStyle/>
          <a:p>
            <a:pPr algn="l">
              <a:defRPr sz="1800" b="1">
                <a:solidFill>
                  <a:srgbClr val="003366"/>
                </a:solidFill>
                <a:latin typeface="Calibri"/>
              </a:defRPr>
            </a:pPr>
            <a:r>
              <a:t>🎯 Productivity</a:t>
            </a:r>
          </a:p>
        </p:txBody>
      </p:sp>
      <p:sp>
        <p:nvSpPr>
          <p:cNvPr id="7" name="TextBox 6"/>
          <p:cNvSpPr txBox="1"/>
          <p:nvPr/>
        </p:nvSpPr>
        <p:spPr>
          <a:xfrm>
            <a:off x="3291840" y="2103120"/>
            <a:ext cx="7772400" cy="731520"/>
          </a:xfrm>
          <a:prstGeom prst="rect">
            <a:avLst/>
          </a:prstGeom>
          <a:noFill/>
        </p:spPr>
        <p:txBody>
          <a:bodyPr wrap="square">
            <a:spAutoFit/>
          </a:bodyPr>
          <a:lstStyle/>
          <a:p>
            <a:pPr algn="l">
              <a:defRPr sz="1700" b="0">
                <a:solidFill>
                  <a:srgbClr val="333333"/>
                </a:solidFill>
                <a:latin typeface="Calibri"/>
              </a:defRPr>
            </a:pPr>
            <a:r>
              <a:t>Maximize Material Removal Rate: MRR = v_c · a_p · f_r</a:t>
            </a:r>
          </a:p>
        </p:txBody>
      </p:sp>
      <p:sp>
        <p:nvSpPr>
          <p:cNvPr id="8" name="Rectangle 7"/>
          <p:cNvSpPr/>
          <p:nvPr/>
        </p:nvSpPr>
        <p:spPr>
          <a:xfrm>
            <a:off x="731520" y="3063240"/>
            <a:ext cx="10698480" cy="914400"/>
          </a:xfrm>
          <a:prstGeom prst="rect">
            <a:avLst/>
          </a:prstGeom>
          <a:solidFill>
            <a:srgbClr val="F0F0F0"/>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54680"/>
            <a:ext cx="2286000" cy="731520"/>
          </a:xfrm>
          <a:prstGeom prst="rect">
            <a:avLst/>
          </a:prstGeom>
          <a:noFill/>
        </p:spPr>
        <p:txBody>
          <a:bodyPr wrap="square">
            <a:spAutoFit/>
          </a:bodyPr>
          <a:lstStyle/>
          <a:p>
            <a:pPr algn="l">
              <a:defRPr sz="1800" b="1">
                <a:solidFill>
                  <a:srgbClr val="003366"/>
                </a:solidFill>
                <a:latin typeface="Calibri"/>
              </a:defRPr>
            </a:pPr>
            <a:r>
              <a:t>⚡ Energy Efficiency</a:t>
            </a:r>
          </a:p>
        </p:txBody>
      </p:sp>
      <p:sp>
        <p:nvSpPr>
          <p:cNvPr id="10" name="TextBox 9"/>
          <p:cNvSpPr txBox="1"/>
          <p:nvPr/>
        </p:nvSpPr>
        <p:spPr>
          <a:xfrm>
            <a:off x="3291840" y="3154680"/>
            <a:ext cx="7772400" cy="731520"/>
          </a:xfrm>
          <a:prstGeom prst="rect">
            <a:avLst/>
          </a:prstGeom>
          <a:noFill/>
        </p:spPr>
        <p:txBody>
          <a:bodyPr wrap="square">
            <a:spAutoFit/>
          </a:bodyPr>
          <a:lstStyle/>
          <a:p>
            <a:pPr algn="l">
              <a:defRPr sz="1700" b="0">
                <a:solidFill>
                  <a:srgbClr val="333333"/>
                </a:solidFill>
                <a:latin typeface="Calibri"/>
              </a:defRPr>
            </a:pPr>
            <a:r>
              <a:t>Minimize total electrical energy per part (idle + cutting)</a:t>
            </a:r>
          </a:p>
        </p:txBody>
      </p:sp>
      <p:sp>
        <p:nvSpPr>
          <p:cNvPr id="11" name="Rectangle 10"/>
          <p:cNvSpPr/>
          <p:nvPr/>
        </p:nvSpPr>
        <p:spPr>
          <a:xfrm>
            <a:off x="731520" y="4114800"/>
            <a:ext cx="10698480" cy="914400"/>
          </a:xfrm>
          <a:prstGeom prst="rect">
            <a:avLst/>
          </a:prstGeom>
          <a:solidFill>
            <a:srgbClr val="F0F0F0"/>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206240"/>
            <a:ext cx="2286000" cy="731520"/>
          </a:xfrm>
          <a:prstGeom prst="rect">
            <a:avLst/>
          </a:prstGeom>
          <a:noFill/>
        </p:spPr>
        <p:txBody>
          <a:bodyPr wrap="square">
            <a:spAutoFit/>
          </a:bodyPr>
          <a:lstStyle/>
          <a:p>
            <a:pPr algn="l">
              <a:defRPr sz="1800" b="1">
                <a:solidFill>
                  <a:srgbClr val="003366"/>
                </a:solidFill>
                <a:latin typeface="Calibri"/>
              </a:defRPr>
            </a:pPr>
            <a:r>
              <a:t>📏 Surface Quality</a:t>
            </a:r>
          </a:p>
        </p:txBody>
      </p:sp>
      <p:sp>
        <p:nvSpPr>
          <p:cNvPr id="13" name="TextBox 12"/>
          <p:cNvSpPr txBox="1"/>
          <p:nvPr/>
        </p:nvSpPr>
        <p:spPr>
          <a:xfrm>
            <a:off x="3291840" y="4206240"/>
            <a:ext cx="7772400" cy="731520"/>
          </a:xfrm>
          <a:prstGeom prst="rect">
            <a:avLst/>
          </a:prstGeom>
          <a:noFill/>
        </p:spPr>
        <p:txBody>
          <a:bodyPr wrap="square">
            <a:spAutoFit/>
          </a:bodyPr>
          <a:lstStyle/>
          <a:p>
            <a:pPr algn="l">
              <a:defRPr sz="1700" b="0">
                <a:solidFill>
                  <a:srgbClr val="333333"/>
                </a:solidFill>
                <a:latin typeface="Calibri"/>
              </a:defRPr>
            </a:pPr>
            <a:r>
              <a:t>Finished roughness R_a ≤ 1.6 μm (ISO 1302)</a:t>
            </a:r>
          </a:p>
        </p:txBody>
      </p:sp>
      <p:sp>
        <p:nvSpPr>
          <p:cNvPr id="14" name="Rectangle 13"/>
          <p:cNvSpPr/>
          <p:nvPr/>
        </p:nvSpPr>
        <p:spPr>
          <a:xfrm>
            <a:off x="731520" y="5166360"/>
            <a:ext cx="10698480" cy="914400"/>
          </a:xfrm>
          <a:prstGeom prst="rect">
            <a:avLst/>
          </a:prstGeom>
          <a:solidFill>
            <a:srgbClr val="F0F0F0"/>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257800"/>
            <a:ext cx="2286000" cy="731520"/>
          </a:xfrm>
          <a:prstGeom prst="rect">
            <a:avLst/>
          </a:prstGeom>
          <a:noFill/>
        </p:spPr>
        <p:txBody>
          <a:bodyPr wrap="square">
            <a:spAutoFit/>
          </a:bodyPr>
          <a:lstStyle/>
          <a:p>
            <a:pPr algn="l">
              <a:defRPr sz="1800" b="1">
                <a:solidFill>
                  <a:srgbClr val="003366"/>
                </a:solidFill>
                <a:latin typeface="Calibri"/>
              </a:defRPr>
            </a:pPr>
            <a:r>
              <a:t>🔧 Tool Life</a:t>
            </a:r>
          </a:p>
        </p:txBody>
      </p:sp>
      <p:sp>
        <p:nvSpPr>
          <p:cNvPr id="16" name="TextBox 15"/>
          <p:cNvSpPr txBox="1"/>
          <p:nvPr/>
        </p:nvSpPr>
        <p:spPr>
          <a:xfrm>
            <a:off x="3291840" y="5257800"/>
            <a:ext cx="7772400" cy="731520"/>
          </a:xfrm>
          <a:prstGeom prst="rect">
            <a:avLst/>
          </a:prstGeom>
          <a:noFill/>
        </p:spPr>
        <p:txBody>
          <a:bodyPr wrap="square">
            <a:spAutoFit/>
          </a:bodyPr>
          <a:lstStyle/>
          <a:p>
            <a:pPr algn="l">
              <a:defRPr sz="1700" b="0">
                <a:solidFill>
                  <a:srgbClr val="333333"/>
                </a:solidFill>
                <a:latin typeface="Calibri"/>
              </a:defRPr>
            </a:pPr>
            <a:r>
              <a:t>Flank wear V_B ≤ 0.3 mm; avoid catastrophic breakage</a:t>
            </a:r>
          </a:p>
        </p:txBody>
      </p:sp>
      <p:sp>
        <p:nvSpPr>
          <p:cNvPr id="17" name="TextBox 16"/>
          <p:cNvSpPr txBox="1"/>
          <p:nvPr/>
        </p:nvSpPr>
        <p:spPr>
          <a:xfrm>
            <a:off x="457200" y="6126480"/>
            <a:ext cx="10972800" cy="457200"/>
          </a:xfrm>
          <a:prstGeom prst="rect">
            <a:avLst/>
          </a:prstGeom>
          <a:noFill/>
        </p:spPr>
        <p:txBody>
          <a:bodyPr wrap="square">
            <a:spAutoFit/>
          </a:bodyPr>
          <a:lstStyle/>
          <a:p>
            <a:pPr algn="l">
              <a:defRPr sz="1600" b="1">
                <a:solidFill>
                  <a:srgbClr val="C80000"/>
                </a:solidFill>
                <a:latin typeface="Calibri"/>
              </a:defRPr>
            </a:pPr>
            <a:r>
              <a:t>Traditional fixed parameters from handbooks cannot adapt to tool wear, material variation, or geometry changes.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Approach: Physics-Grounded Digital Twin + Deep RL</a:t>
            </a:r>
          </a:p>
        </p:txBody>
      </p:sp>
      <p:sp>
        <p:nvSpPr>
          <p:cNvPr id="4" name="Rectangle 3"/>
          <p:cNvSpPr/>
          <p:nvPr/>
        </p:nvSpPr>
        <p:spPr>
          <a:xfrm>
            <a:off x="457200" y="1280160"/>
            <a:ext cx="3474720" cy="5029200"/>
          </a:xfrm>
          <a:prstGeom prst="rect">
            <a:avLst/>
          </a:prstGeom>
          <a:solidFill>
            <a:srgbClr val="F0F0F0"/>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3108960" cy="457200"/>
          </a:xfrm>
          <a:prstGeom prst="rect">
            <a:avLst/>
          </a:prstGeom>
          <a:noFill/>
        </p:spPr>
        <p:txBody>
          <a:bodyPr wrap="square">
            <a:spAutoFit/>
          </a:bodyPr>
          <a:lstStyle/>
          <a:p>
            <a:pPr algn="l">
              <a:defRPr sz="2000" b="1">
                <a:solidFill>
                  <a:srgbClr val="003366"/>
                </a:solidFill>
                <a:latin typeface="Calibri"/>
              </a:defRPr>
            </a:pPr>
            <a:r>
              <a:t>🏭 Digital Twin</a:t>
            </a:r>
          </a:p>
        </p:txBody>
      </p:sp>
      <p:sp>
        <p:nvSpPr>
          <p:cNvPr id="6" name="TextBox 5"/>
          <p:cNvSpPr txBox="1"/>
          <p:nvPr/>
        </p:nvSpPr>
        <p:spPr>
          <a:xfrm>
            <a:off x="640080" y="1920240"/>
            <a:ext cx="3108960" cy="4114800"/>
          </a:xfrm>
          <a:prstGeom prst="rect">
            <a:avLst/>
          </a:prstGeom>
          <a:noFill/>
        </p:spPr>
        <p:txBody>
          <a:bodyPr wrap="square">
            <a:spAutoFit/>
          </a:bodyPr>
          <a:lstStyle/>
          <a:p>
            <a:pPr>
              <a:spcAft>
                <a:spcPts val="600"/>
              </a:spcAft>
              <a:defRPr sz="1600">
                <a:solidFill>
                  <a:srgbClr val="333333"/>
                </a:solidFill>
                <a:latin typeface="Calibri"/>
              </a:defRPr>
            </a:pPr>
            <a:r>
              <a:t>Speed-dependent cutting energy: k_c(v_c) = k_c0 (v_c/v_ref)^m</a:t>
            </a:r>
          </a:p>
          <a:p>
            <a:pPr>
              <a:spcAft>
                <a:spcPts val="600"/>
              </a:spcAft>
              <a:defRPr sz="1600">
                <a:solidFill>
                  <a:srgbClr val="333333"/>
                </a:solidFill>
                <a:latin typeface="Calibri"/>
              </a:defRPr>
            </a:pPr>
            <a:r>
              <a:t>Extended Taylor tool wear, anchored on a published tool life</a:t>
            </a:r>
          </a:p>
          <a:p>
            <a:pPr>
              <a:spcAft>
                <a:spcPts val="600"/>
              </a:spcAft>
              <a:defRPr sz="1600">
                <a:solidFill>
                  <a:srgbClr val="333333"/>
                </a:solidFill>
                <a:latin typeface="Calibri"/>
              </a:defRPr>
            </a:pPr>
            <a:r>
              <a:t>Empirical surface roughness regression</a:t>
            </a:r>
          </a:p>
          <a:p>
            <a:pPr>
              <a:spcAft>
                <a:spcPts val="600"/>
              </a:spcAft>
              <a:defRPr sz="1600">
                <a:solidFill>
                  <a:srgbClr val="333333"/>
                </a:solidFill>
                <a:latin typeface="Calibri"/>
              </a:defRPr>
            </a:pPr>
            <a:r>
              <a:t>Stochastic tool breakage</a:t>
            </a:r>
          </a:p>
          <a:p>
            <a:pPr>
              <a:spcAft>
                <a:spcPts val="600"/>
              </a:spcAft>
              <a:defRPr sz="1600">
                <a:solidFill>
                  <a:srgbClr val="333333"/>
                </a:solidFill>
                <a:latin typeface="Calibri"/>
              </a:defRPr>
            </a:pPr>
            <a:r>
              <a:t>Domain randomization per episode</a:t>
            </a:r>
          </a:p>
        </p:txBody>
      </p:sp>
      <p:sp>
        <p:nvSpPr>
          <p:cNvPr id="7" name="Rectangle 6"/>
          <p:cNvSpPr/>
          <p:nvPr/>
        </p:nvSpPr>
        <p:spPr>
          <a:xfrm>
            <a:off x="4160520" y="1280160"/>
            <a:ext cx="3474720" cy="5029200"/>
          </a:xfrm>
          <a:prstGeom prst="rect">
            <a:avLst/>
          </a:prstGeom>
          <a:solidFill>
            <a:srgbClr val="F0F0F0"/>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43400" y="1371600"/>
            <a:ext cx="3108960" cy="457200"/>
          </a:xfrm>
          <a:prstGeom prst="rect">
            <a:avLst/>
          </a:prstGeom>
          <a:noFill/>
        </p:spPr>
        <p:txBody>
          <a:bodyPr wrap="square">
            <a:spAutoFit/>
          </a:bodyPr>
          <a:lstStyle/>
          <a:p>
            <a:pPr algn="l">
              <a:defRPr sz="2000" b="1">
                <a:solidFill>
                  <a:srgbClr val="003366"/>
                </a:solidFill>
                <a:latin typeface="Calibri"/>
              </a:defRPr>
            </a:pPr>
            <a:r>
              <a:t>🤖 DRL Agent (PPO)</a:t>
            </a:r>
          </a:p>
        </p:txBody>
      </p:sp>
      <p:sp>
        <p:nvSpPr>
          <p:cNvPr id="9" name="TextBox 8"/>
          <p:cNvSpPr txBox="1"/>
          <p:nvPr/>
        </p:nvSpPr>
        <p:spPr>
          <a:xfrm>
            <a:off x="4343400" y="1920240"/>
            <a:ext cx="3108960" cy="4114800"/>
          </a:xfrm>
          <a:prstGeom prst="rect">
            <a:avLst/>
          </a:prstGeom>
          <a:noFill/>
        </p:spPr>
        <p:txBody>
          <a:bodyPr wrap="square">
            <a:spAutoFit/>
          </a:bodyPr>
          <a:lstStyle/>
          <a:p>
            <a:pPr>
              <a:spcAft>
                <a:spcPts val="600"/>
              </a:spcAft>
              <a:defRPr sz="1600">
                <a:solidFill>
                  <a:srgbClr val="333333"/>
                </a:solidFill>
                <a:latin typeface="Calibri"/>
              </a:defRPr>
            </a:pPr>
            <a:r>
              <a:t>One Gymnasium environment for a part, one for a batch</a:t>
            </a:r>
          </a:p>
          <a:p>
            <a:pPr>
              <a:spcAft>
                <a:spcPts val="600"/>
              </a:spcAft>
              <a:defRPr sz="1600">
                <a:solidFill>
                  <a:srgbClr val="333333"/>
                </a:solidFill>
                <a:latin typeface="Calibri"/>
              </a:defRPr>
            </a:pPr>
            <a:r>
              <a:t>Energy-aware reward: 100·(w₁·MRR − w₂·Energy) + progress − penalties</a:t>
            </a:r>
          </a:p>
          <a:p>
            <a:pPr>
              <a:spcAft>
                <a:spcPts val="600"/>
              </a:spcAft>
              <a:defRPr sz="1600">
                <a:solidFill>
                  <a:srgbClr val="333333"/>
                </a:solidFill>
                <a:latin typeface="Calibri"/>
              </a:defRPr>
            </a:pPr>
            <a:r>
              <a:t>Conditioned policy: one model covers the full frontier</a:t>
            </a:r>
          </a:p>
          <a:p>
            <a:pPr>
              <a:spcAft>
                <a:spcPts val="600"/>
              </a:spcAft>
              <a:defRPr sz="1600">
                <a:solidFill>
                  <a:srgbClr val="333333"/>
                </a:solidFill>
                <a:latin typeface="Calibri"/>
              </a:defRPr>
            </a:pPr>
            <a:r>
              <a:t>PPO with VecNormalize, 4 parallel envs, CPU training</a:t>
            </a:r>
          </a:p>
        </p:txBody>
      </p:sp>
      <p:sp>
        <p:nvSpPr>
          <p:cNvPr id="10" name="Rectangle 9"/>
          <p:cNvSpPr/>
          <p:nvPr/>
        </p:nvSpPr>
        <p:spPr>
          <a:xfrm>
            <a:off x="7863840" y="1280160"/>
            <a:ext cx="3474720" cy="5029200"/>
          </a:xfrm>
          <a:prstGeom prst="rect">
            <a:avLst/>
          </a:prstGeom>
          <a:solidFill>
            <a:srgbClr val="F0F0F0"/>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1371600"/>
            <a:ext cx="3108960" cy="457200"/>
          </a:xfrm>
          <a:prstGeom prst="rect">
            <a:avLst/>
          </a:prstGeom>
          <a:noFill/>
        </p:spPr>
        <p:txBody>
          <a:bodyPr wrap="square">
            <a:spAutoFit/>
          </a:bodyPr>
          <a:lstStyle/>
          <a:p>
            <a:pPr algn="l">
              <a:defRPr sz="2000" b="1">
                <a:solidFill>
                  <a:srgbClr val="003366"/>
                </a:solidFill>
                <a:latin typeface="Calibri"/>
              </a:defRPr>
            </a:pPr>
            <a:r>
              <a:t>🔬 Experimental Rigor</a:t>
            </a:r>
          </a:p>
        </p:txBody>
      </p:sp>
      <p:sp>
        <p:nvSpPr>
          <p:cNvPr id="12" name="TextBox 11"/>
          <p:cNvSpPr txBox="1"/>
          <p:nvPr/>
        </p:nvSpPr>
        <p:spPr>
          <a:xfrm>
            <a:off x="8046720" y="1920240"/>
            <a:ext cx="3108960" cy="4114800"/>
          </a:xfrm>
          <a:prstGeom prst="rect">
            <a:avLst/>
          </a:prstGeom>
          <a:noFill/>
        </p:spPr>
        <p:txBody>
          <a:bodyPr wrap="square">
            <a:spAutoFit/>
          </a:bodyPr>
          <a:lstStyle/>
          <a:p>
            <a:pPr>
              <a:spcAft>
                <a:spcPts val="600"/>
              </a:spcAft>
              <a:defRPr sz="1600">
                <a:solidFill>
                  <a:srgbClr val="333333"/>
                </a:solidFill>
                <a:latin typeface="Calibri"/>
              </a:defRPr>
            </a:pPr>
            <a:r>
              <a:t>100-scenario Monte Carlo with 95% CIs</a:t>
            </a:r>
          </a:p>
          <a:p>
            <a:pPr>
              <a:spcAft>
                <a:spcPts val="600"/>
              </a:spcAft>
              <a:defRPr sz="1600">
                <a:solidFill>
                  <a:srgbClr val="333333"/>
                </a:solidFill>
                <a:latin typeface="Calibri"/>
              </a:defRPr>
            </a:pPr>
            <a:r>
              <a:t>Ablation: 7 energy weights × 3 seeds, weight pinned</a:t>
            </a:r>
          </a:p>
          <a:p>
            <a:pPr>
              <a:spcAft>
                <a:spcPts val="600"/>
              </a:spcAft>
              <a:defRPr sz="1600">
                <a:solidFill>
                  <a:srgbClr val="333333"/>
                </a:solidFill>
                <a:latin typeface="Calibri"/>
              </a:defRPr>
            </a:pPr>
            <a:r>
              <a:t>5 classical baselines (incl. receding-horizon)</a:t>
            </a:r>
          </a:p>
          <a:p>
            <a:pPr>
              <a:spcAft>
                <a:spcPts val="600"/>
              </a:spcAft>
              <a:defRPr sz="1600">
                <a:solidFill>
                  <a:srgbClr val="333333"/>
                </a:solidFill>
                <a:latin typeface="Calibri"/>
              </a:defRPr>
            </a:pPr>
            <a:r>
              <a:t>Robustness: 3 regimes against the controller</a:t>
            </a:r>
          </a:p>
          <a:p>
            <a:pPr>
              <a:spcAft>
                <a:spcPts val="600"/>
              </a:spcAft>
              <a:defRPr sz="1600">
                <a:solidFill>
                  <a:srgbClr val="333333"/>
                </a:solidFill>
                <a:latin typeface="Calibri"/>
              </a:defRPr>
            </a:pPr>
            <a:r>
              <a:t>Regime map: the noise crossover against the controller</a:t>
            </a:r>
          </a:p>
          <a:p>
            <a:pPr>
              <a:spcAft>
                <a:spcPts val="600"/>
              </a:spcAft>
              <a:defRPr sz="1600">
                <a:solidFill>
                  <a:srgbClr val="333333"/>
                </a:solidFill>
                <a:latin typeface="Calibri"/>
              </a:defRPr>
            </a:pPr>
            <a:r>
              <a:t>Batch: one tool cuts ten parts</a:t>
            </a:r>
          </a:p>
          <a:p>
            <a:pPr>
              <a:spcAft>
                <a:spcPts val="600"/>
              </a:spcAft>
              <a:defRPr sz="1600">
                <a:solidFill>
                  <a:srgbClr val="333333"/>
                </a:solidFill>
                <a:latin typeface="Calibri"/>
              </a:defRPr>
            </a:pPr>
            <a:r>
              <a:t>Reward sensitivity: the objective form and scale</a:t>
            </a:r>
          </a:p>
          <a:p>
            <a:pPr>
              <a:spcAft>
                <a:spcPts val="600"/>
              </a:spcAft>
              <a:defRPr sz="1600">
                <a:solidFill>
                  <a:srgbClr val="333333"/>
                </a:solidFill>
                <a:latin typeface="Calibri"/>
              </a:defRPr>
            </a:pPr>
            <a:r>
              <a:t>Transfer experiment</a:t>
            </a:r>
          </a:p>
          <a:p>
            <a:pPr>
              <a:spcAft>
                <a:spcPts val="600"/>
              </a:spcAft>
              <a:defRPr sz="1600">
                <a:solidFill>
                  <a:srgbClr val="333333"/>
                </a:solidFill>
                <a:latin typeface="Calibri"/>
              </a:defRPr>
            </a:pPr>
            <a:r>
              <a:t>Full reproducibility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Positioning Against the Reference Papers</a:t>
            </a:r>
          </a:p>
        </p:txBody>
      </p:sp>
      <p:graphicFrame>
        <p:nvGraphicFramePr>
          <p:cNvPr id="4" name="Table 3"/>
          <p:cNvGraphicFramePr>
            <a:graphicFrameLocks noGrp="1"/>
          </p:cNvGraphicFramePr>
          <p:nvPr/>
        </p:nvGraphicFramePr>
        <p:xfrm>
          <a:off x="457200" y="1234440"/>
          <a:ext cx="11247120" cy="3291840"/>
        </p:xfrm>
        <a:graphic>
          <a:graphicData uri="http://schemas.openxmlformats.org/drawingml/2006/table">
            <a:tbl>
              <a:tblPr firstRow="1" bandRow="1">
                <a:tableStyleId>{5C22544A-7EE6-4342-B048-85BDC9FD1C3A}</a:tableStyleId>
              </a:tblPr>
              <a:tblGrid>
                <a:gridCol w="4297680"/>
                <a:gridCol w="2377440"/>
                <a:gridCol w="2468880"/>
                <a:gridCol w="2103120"/>
              </a:tblGrid>
              <a:tr h="235131">
                <a:tc>
                  <a:txBody>
                    <a:bodyPr/>
                    <a:lstStyle/>
                    <a:p>
                      <a:pPr algn="ctr">
                        <a:defRPr sz="1300" b="1">
                          <a:solidFill>
                            <a:srgbClr val="FFFFFF"/>
                          </a:solidFill>
                          <a:latin typeface="Calibri"/>
                        </a:defRPr>
                      </a:pPr>
                      <a:r>
                        <a:t>Capability</a:t>
                      </a:r>
                    </a:p>
                  </a:txBody>
                  <a:tcPr>
                    <a:solidFill>
                      <a:srgbClr val="003366"/>
                    </a:solidFill>
                  </a:tcPr>
                </a:tc>
                <a:tc>
                  <a:txBody>
                    <a:bodyPr/>
                    <a:lstStyle/>
                    <a:p>
                      <a:pPr algn="ctr">
                        <a:defRPr sz="1300" b="1">
                          <a:solidFill>
                            <a:srgbClr val="FFFFFF"/>
                          </a:solidFill>
                          <a:latin typeface="Calibri"/>
                        </a:defRPr>
                      </a:pPr>
                      <a:r>
                        <a:t>Mo et al. (2025)</a:t>
                      </a:r>
                    </a:p>
                    <a:p>
                      <a:pPr algn="ctr">
                        <a:defRPr sz="1300" b="1">
                          <a:solidFill>
                            <a:srgbClr val="FFFFFF"/>
                          </a:solidFill>
                          <a:latin typeface="Calibri"/>
                        </a:defRPr>
                      </a:pPr>
                      <a:r>
                        <a:t>J. Manuf. Process 156</a:t>
                      </a:r>
                    </a:p>
                  </a:txBody>
                  <a:tcPr>
                    <a:solidFill>
                      <a:srgbClr val="003366"/>
                    </a:solidFill>
                  </a:tcPr>
                </a:tc>
                <a:tc>
                  <a:txBody>
                    <a:bodyPr/>
                    <a:lstStyle/>
                    <a:p>
                      <a:pPr algn="ctr">
                        <a:defRPr sz="1300" b="1">
                          <a:solidFill>
                            <a:srgbClr val="FFFFFF"/>
                          </a:solidFill>
                          <a:latin typeface="Calibri"/>
                        </a:defRPr>
                      </a:pPr>
                      <a:r>
                        <a:t>Wang et al. (2025a)</a:t>
                      </a:r>
                    </a:p>
                    <a:p>
                      <a:pPr algn="ctr">
                        <a:defRPr sz="1300" b="1">
                          <a:solidFill>
                            <a:srgbClr val="FFFFFF"/>
                          </a:solidFill>
                          <a:latin typeface="Calibri"/>
                        </a:defRPr>
                      </a:pPr>
                      <a:r>
                        <a:t>J. Manuf. Syst. 78</a:t>
                      </a:r>
                    </a:p>
                  </a:txBody>
                  <a:tcPr>
                    <a:solidFill>
                      <a:srgbClr val="003366"/>
                    </a:solidFill>
                  </a:tcPr>
                </a:tc>
                <a:tc>
                  <a:txBody>
                    <a:bodyPr/>
                    <a:lstStyle/>
                    <a:p>
                      <a:pPr algn="ctr">
                        <a:defRPr sz="1300" b="1">
                          <a:solidFill>
                            <a:srgbClr val="FFFFFF"/>
                          </a:solidFill>
                          <a:latin typeface="Calibri"/>
                        </a:defRPr>
                      </a:pPr>
                      <a:r>
                        <a:t>This Work</a:t>
                      </a:r>
                    </a:p>
                  </a:txBody>
                  <a:tcPr>
                    <a:solidFill>
                      <a:srgbClr val="003366"/>
                    </a:solidFill>
                  </a:tcPr>
                </a:tc>
              </a:tr>
              <a:tr h="235131">
                <a:tc>
                  <a:txBody>
                    <a:bodyPr/>
                    <a:lstStyle/>
                    <a:p>
                      <a:pPr algn="ctr">
                        <a:defRPr sz="1300">
                          <a:solidFill>
                            <a:srgbClr val="333333"/>
                          </a:solidFill>
                          <a:latin typeface="Calibri"/>
                        </a:defRPr>
                      </a:pPr>
                      <a:r>
                        <a:t>Dynamic optimization</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r>
              <a:tr h="235131">
                <a:tc>
                  <a:txBody>
                    <a:bodyPr/>
                    <a:lstStyle/>
                    <a:p>
                      <a:pPr algn="ctr">
                        <a:defRPr sz="1300">
                          <a:solidFill>
                            <a:srgbClr val="333333"/>
                          </a:solidFill>
                          <a:latin typeface="Calibri"/>
                        </a:defRPr>
                      </a:pPr>
                      <a:r>
                        <a:t>Tool wear in the state</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r>
              <a:tr h="235131">
                <a:tc>
                  <a:txBody>
                    <a:bodyPr/>
                    <a:lstStyle/>
                    <a:p>
                      <a:pPr algn="ctr">
                        <a:defRPr sz="1300">
                          <a:solidFill>
                            <a:srgbClr val="333333"/>
                          </a:solidFill>
                          <a:latin typeface="Calibri"/>
                        </a:defRPr>
                      </a:pPr>
                      <a:r>
                        <a:t>Roughness constraint</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r>
              <a:tr h="235131">
                <a:tc>
                  <a:txBody>
                    <a:bodyPr/>
                    <a:lstStyle/>
                    <a:p>
                      <a:pPr algn="ctr">
                        <a:defRPr sz="1300">
                          <a:solidFill>
                            <a:srgbClr val="333333"/>
                          </a:solidFill>
                          <a:latin typeface="Calibri"/>
                        </a:defRPr>
                      </a:pPr>
                      <a:r>
                        <a:t>Energy as an objective</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r>
              <a:tr h="235131">
                <a:tc>
                  <a:txBody>
                    <a:bodyPr/>
                    <a:lstStyle/>
                    <a:p>
                      <a:pPr algn="ctr">
                        <a:defRPr sz="1300">
                          <a:solidFill>
                            <a:srgbClr val="333333"/>
                          </a:solidFill>
                          <a:latin typeface="Calibri"/>
                        </a:defRPr>
                      </a:pPr>
                      <a:r>
                        <a:t>Speed-dependent k_c</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r>
              <a:tr h="235131">
                <a:tc>
                  <a:txBody>
                    <a:bodyPr/>
                    <a:lstStyle/>
                    <a:p>
                      <a:pPr algn="ctr">
                        <a:defRPr sz="1300">
                          <a:solidFill>
                            <a:srgbClr val="333333"/>
                          </a:solidFill>
                          <a:latin typeface="Calibri"/>
                        </a:defRPr>
                      </a:pPr>
                      <a:r>
                        <a:t>Domain randomization</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r>
              <a:tr h="235131">
                <a:tc>
                  <a:txBody>
                    <a:bodyPr/>
                    <a:lstStyle/>
                    <a:p>
                      <a:pPr algn="ctr">
                        <a:defRPr sz="1300">
                          <a:solidFill>
                            <a:srgbClr val="333333"/>
                          </a:solidFill>
                          <a:latin typeface="Calibri"/>
                        </a:defRPr>
                      </a:pPr>
                      <a:r>
                        <a:t>Conditioned policy</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r>
              <a:tr h="235131">
                <a:tc>
                  <a:txBody>
                    <a:bodyPr/>
                    <a:lstStyle/>
                    <a:p>
                      <a:pPr algn="ctr">
                        <a:defRPr sz="1300">
                          <a:solidFill>
                            <a:srgbClr val="333333"/>
                          </a:solidFill>
                          <a:latin typeface="Calibri"/>
                        </a:defRPr>
                      </a:pPr>
                      <a:r>
                        <a:t>Transfer experiment</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r>
              <a:tr h="235131">
                <a:tc>
                  <a:txBody>
                    <a:bodyPr/>
                    <a:lstStyle/>
                    <a:p>
                      <a:pPr algn="ctr">
                        <a:defRPr sz="1300">
                          <a:solidFill>
                            <a:srgbClr val="333333"/>
                          </a:solidFill>
                          <a:latin typeface="Calibri"/>
                        </a:defRPr>
                      </a:pPr>
                      <a:r>
                        <a:t>Receding-horizon baseline</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r>
              <a:tr h="235131">
                <a:tc>
                  <a:txBody>
                    <a:bodyPr/>
                    <a:lstStyle/>
                    <a:p>
                      <a:pPr algn="ctr">
                        <a:defRPr sz="1300">
                          <a:solidFill>
                            <a:srgbClr val="333333"/>
                          </a:solidFill>
                          <a:latin typeface="Calibri"/>
                        </a:defRPr>
                      </a:pPr>
                      <a:r>
                        <a:t>Robustness vs a controller</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r>
              <a:tr h="235131">
                <a:tc>
                  <a:txBody>
                    <a:bodyPr/>
                    <a:lstStyle/>
                    <a:p>
                      <a:pPr algn="ctr">
                        <a:defRPr sz="1300">
                          <a:solidFill>
                            <a:srgbClr val="333333"/>
                          </a:solidFill>
                          <a:latin typeface="Calibri"/>
                        </a:defRPr>
                      </a:pPr>
                      <a:r>
                        <a:t>Noise crossover vs that controller</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r>
              <a:tr h="235131">
                <a:tc>
                  <a:txBody>
                    <a:bodyPr/>
                    <a:lstStyle/>
                    <a:p>
                      <a:pPr algn="ctr">
                        <a:defRPr sz="1300">
                          <a:solidFill>
                            <a:srgbClr val="333333"/>
                          </a:solidFill>
                          <a:latin typeface="Calibri"/>
                        </a:defRPr>
                      </a:pPr>
                      <a:r>
                        <a:t>Monte Carlo (100 scenarios)</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r>
              <a:tr h="235137">
                <a:tc>
                  <a:txBody>
                    <a:bodyPr/>
                    <a:lstStyle/>
                    <a:p>
                      <a:pPr algn="ctr">
                        <a:defRPr sz="1300">
                          <a:solidFill>
                            <a:srgbClr val="333333"/>
                          </a:solidFill>
                          <a:latin typeface="Calibri"/>
                        </a:defRPr>
                      </a:pPr>
                      <a:r>
                        <a:t>Interactive workstation</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c>
                  <a:txBody>
                    <a:bodyPr/>
                    <a:lstStyle/>
                    <a:p>
                      <a:pPr algn="ctr">
                        <a:defRPr sz="1300">
                          <a:solidFill>
                            <a:srgbClr val="333333"/>
                          </a:solidFill>
                          <a:latin typeface="Calibri"/>
                        </a:defRPr>
                      </a:pPr>
                      <a:r>
                        <a:t>✓</a:t>
                      </a:r>
                    </a:p>
                  </a:txBody>
                  <a:tcPr/>
                </a:tc>
              </a:tr>
            </a:tbl>
          </a:graphicData>
        </a:graphic>
      </p:graphicFrame>
      <p:sp>
        <p:nvSpPr>
          <p:cNvPr id="5" name="TextBox 4"/>
          <p:cNvSpPr txBox="1"/>
          <p:nvPr/>
        </p:nvSpPr>
        <p:spPr>
          <a:xfrm>
            <a:off x="457200" y="4709160"/>
            <a:ext cx="11247120" cy="822960"/>
          </a:xfrm>
          <a:prstGeom prst="rect">
            <a:avLst/>
          </a:prstGeom>
          <a:noFill/>
        </p:spPr>
        <p:txBody>
          <a:bodyPr wrap="square">
            <a:spAutoFit/>
          </a:bodyPr>
          <a:lstStyle/>
          <a:p>
            <a:pPr algn="l">
              <a:defRPr sz="1400" b="0">
                <a:solidFill>
                  <a:srgbClr val="333333"/>
                </a:solidFill>
                <a:latin typeface="Calibri"/>
              </a:defRPr>
            </a:pPr>
            <a:r>
              <a:t>Mo et al.: PPO over a mixed action space (tool change + parameters); the state carries V_B, breakage and R_a; objectives are quality and efficiency.</a:t>
            </a:r>
            <a:br/>
            <a:r>
              <a:t>Wang et al.: MATD3 for batch milling; objectives are dimensional quality and machining time.</a:t>
            </a:r>
          </a:p>
        </p:txBody>
      </p:sp>
      <p:sp>
        <p:nvSpPr>
          <p:cNvPr id="6" name="Rectangle 5"/>
          <p:cNvSpPr/>
          <p:nvPr/>
        </p:nvSpPr>
        <p:spPr>
          <a:xfrm>
            <a:off x="457200" y="5623560"/>
            <a:ext cx="11247120" cy="868680"/>
          </a:xfrm>
          <a:prstGeom prst="rect">
            <a:avLst/>
          </a:prstGeom>
          <a:solidFill>
            <a:srgbClr val="FFF8DC"/>
          </a:solidFill>
          <a:ln w="25400">
            <a:solidFill>
              <a:srgbClr val="CC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715000"/>
            <a:ext cx="10698480" cy="685800"/>
          </a:xfrm>
          <a:prstGeom prst="rect">
            <a:avLst/>
          </a:prstGeom>
          <a:noFill/>
        </p:spPr>
        <p:txBody>
          <a:bodyPr wrap="square">
            <a:spAutoFit/>
          </a:bodyPr>
          <a:lstStyle/>
          <a:p>
            <a:pPr algn="l">
              <a:defRPr sz="1500" b="1">
                <a:solidFill>
                  <a:srgbClr val="CC9900"/>
                </a:solidFill>
                <a:latin typeface="Calibri"/>
              </a:defRPr>
            </a:pPr>
            <a:r>
              <a:t>Key differentiator: neither reference treats energy as an objective. The speed-dependent k_c is what creates a genuine energy/throughput trade-off, and one conditioned policy covers the whole frontier in a single run. None of the three carries a Taylor wear model, so the wear coefficient here is anchored on a published tool life.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Digital Twin Physics (MillingDT/config/physics.py)</a:t>
            </a:r>
          </a:p>
        </p:txBody>
      </p:sp>
      <p:sp>
        <p:nvSpPr>
          <p:cNvPr id="4" name="Rectangle 3"/>
          <p:cNvSpPr/>
          <p:nvPr/>
        </p:nvSpPr>
        <p:spPr>
          <a:xfrm>
            <a:off x="457200" y="1280160"/>
            <a:ext cx="5486400" cy="594360"/>
          </a:xfrm>
          <a:prstGeom prst="rect">
            <a:avLst/>
          </a:prstGeom>
          <a:solidFill>
            <a:srgbClr val="F0F0F0"/>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1645920" cy="502920"/>
          </a:xfrm>
          <a:prstGeom prst="rect">
            <a:avLst/>
          </a:prstGeom>
          <a:noFill/>
        </p:spPr>
        <p:txBody>
          <a:bodyPr wrap="square">
            <a:spAutoFit/>
          </a:bodyPr>
          <a:lstStyle/>
          <a:p>
            <a:pPr algn="l">
              <a:defRPr sz="1600" b="1">
                <a:solidFill>
                  <a:srgbClr val="003366"/>
                </a:solidFill>
                <a:latin typeface="Calibri"/>
              </a:defRPr>
            </a:pPr>
            <a:r>
              <a:t>Cutting Speed</a:t>
            </a:r>
          </a:p>
        </p:txBody>
      </p:sp>
      <p:sp>
        <p:nvSpPr>
          <p:cNvPr id="6" name="TextBox 5"/>
          <p:cNvSpPr txBox="1"/>
          <p:nvPr/>
        </p:nvSpPr>
        <p:spPr>
          <a:xfrm>
            <a:off x="2377440" y="1325880"/>
            <a:ext cx="3474720" cy="502920"/>
          </a:xfrm>
          <a:prstGeom prst="rect">
            <a:avLst/>
          </a:prstGeom>
          <a:noFill/>
        </p:spPr>
        <p:txBody>
          <a:bodyPr wrap="square">
            <a:spAutoFit/>
          </a:bodyPr>
          <a:lstStyle/>
          <a:p>
            <a:pPr algn="l">
              <a:defRPr sz="1600" b="0">
                <a:solidFill>
                  <a:srgbClr val="333333"/>
                </a:solidFill>
                <a:latin typeface="Calibri"/>
              </a:defRPr>
            </a:pPr>
            <a:r>
              <a:t>v_c = π D n / 1000  [m/min]</a:t>
            </a:r>
          </a:p>
        </p:txBody>
      </p:sp>
      <p:sp>
        <p:nvSpPr>
          <p:cNvPr id="7" name="Rectangle 6"/>
          <p:cNvSpPr/>
          <p:nvPr/>
        </p:nvSpPr>
        <p:spPr>
          <a:xfrm>
            <a:off x="457200" y="1938528"/>
            <a:ext cx="5486400" cy="594360"/>
          </a:xfrm>
          <a:prstGeom prst="rect">
            <a:avLst/>
          </a:prstGeom>
          <a:solidFill>
            <a:srgbClr val="F0F0F0"/>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84248"/>
            <a:ext cx="1645920" cy="502920"/>
          </a:xfrm>
          <a:prstGeom prst="rect">
            <a:avLst/>
          </a:prstGeom>
          <a:noFill/>
        </p:spPr>
        <p:txBody>
          <a:bodyPr wrap="square">
            <a:spAutoFit/>
          </a:bodyPr>
          <a:lstStyle/>
          <a:p>
            <a:pPr algn="l">
              <a:defRPr sz="1600" b="1">
                <a:solidFill>
                  <a:srgbClr val="003366"/>
                </a:solidFill>
                <a:latin typeface="Calibri"/>
              </a:defRPr>
            </a:pPr>
            <a:r>
              <a:t>Material Removal Rate</a:t>
            </a:r>
          </a:p>
        </p:txBody>
      </p:sp>
      <p:sp>
        <p:nvSpPr>
          <p:cNvPr id="9" name="TextBox 8"/>
          <p:cNvSpPr txBox="1"/>
          <p:nvPr/>
        </p:nvSpPr>
        <p:spPr>
          <a:xfrm>
            <a:off x="2377440" y="1984248"/>
            <a:ext cx="3474720" cy="502920"/>
          </a:xfrm>
          <a:prstGeom prst="rect">
            <a:avLst/>
          </a:prstGeom>
          <a:noFill/>
        </p:spPr>
        <p:txBody>
          <a:bodyPr wrap="square">
            <a:spAutoFit/>
          </a:bodyPr>
          <a:lstStyle/>
          <a:p>
            <a:pPr algn="l">
              <a:defRPr sz="1600" b="0">
                <a:solidFill>
                  <a:srgbClr val="333333"/>
                </a:solidFill>
                <a:latin typeface="Calibri"/>
              </a:defRPr>
            </a:pPr>
            <a:r>
              <a:t>MRR = v_c · a_p · f_r  [mm³/min]</a:t>
            </a:r>
          </a:p>
        </p:txBody>
      </p:sp>
      <p:sp>
        <p:nvSpPr>
          <p:cNvPr id="10" name="Rectangle 9"/>
          <p:cNvSpPr/>
          <p:nvPr/>
        </p:nvSpPr>
        <p:spPr>
          <a:xfrm>
            <a:off x="457200" y="2596896"/>
            <a:ext cx="5486400" cy="594360"/>
          </a:xfrm>
          <a:prstGeom prst="rect">
            <a:avLst/>
          </a:prstGeom>
          <a:solidFill>
            <a:srgbClr val="F0F0F0"/>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642616"/>
            <a:ext cx="1645920" cy="502920"/>
          </a:xfrm>
          <a:prstGeom prst="rect">
            <a:avLst/>
          </a:prstGeom>
          <a:noFill/>
        </p:spPr>
        <p:txBody>
          <a:bodyPr wrap="square">
            <a:spAutoFit/>
          </a:bodyPr>
          <a:lstStyle/>
          <a:p>
            <a:pPr algn="l">
              <a:defRPr sz="1600" b="1">
                <a:solidFill>
                  <a:srgbClr val="003366"/>
                </a:solidFill>
                <a:latin typeface="Calibri"/>
              </a:defRPr>
            </a:pPr>
            <a:r>
              <a:t>Flank Wear Rate</a:t>
            </a:r>
          </a:p>
        </p:txBody>
      </p:sp>
      <p:sp>
        <p:nvSpPr>
          <p:cNvPr id="12" name="TextBox 11"/>
          <p:cNvSpPr txBox="1"/>
          <p:nvPr/>
        </p:nvSpPr>
        <p:spPr>
          <a:xfrm>
            <a:off x="2377440" y="2642616"/>
            <a:ext cx="3474720" cy="502920"/>
          </a:xfrm>
          <a:prstGeom prst="rect">
            <a:avLst/>
          </a:prstGeom>
          <a:noFill/>
        </p:spPr>
        <p:txBody>
          <a:bodyPr wrap="square">
            <a:spAutoFit/>
          </a:bodyPr>
          <a:lstStyle/>
          <a:p>
            <a:pPr algn="l">
              <a:defRPr sz="1600" b="0">
                <a:solidFill>
                  <a:srgbClr val="333333"/>
                </a:solidFill>
                <a:latin typeface="Calibri"/>
              </a:defRPr>
            </a:pPr>
            <a:r>
              <a:t>ΔV_B = C_wear · v_c^α · f_r^β · a_p^γ · t_cut</a:t>
            </a:r>
          </a:p>
        </p:txBody>
      </p:sp>
      <p:sp>
        <p:nvSpPr>
          <p:cNvPr id="13" name="Rectangle 12"/>
          <p:cNvSpPr/>
          <p:nvPr/>
        </p:nvSpPr>
        <p:spPr>
          <a:xfrm>
            <a:off x="457200" y="3255264"/>
            <a:ext cx="5486400" cy="594360"/>
          </a:xfrm>
          <a:prstGeom prst="rect">
            <a:avLst/>
          </a:prstGeom>
          <a:solidFill>
            <a:srgbClr val="F0F0F0"/>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300984"/>
            <a:ext cx="1645920" cy="502920"/>
          </a:xfrm>
          <a:prstGeom prst="rect">
            <a:avLst/>
          </a:prstGeom>
          <a:noFill/>
        </p:spPr>
        <p:txBody>
          <a:bodyPr wrap="square">
            <a:spAutoFit/>
          </a:bodyPr>
          <a:lstStyle/>
          <a:p>
            <a:pPr algn="l">
              <a:defRPr sz="1600" b="1">
                <a:solidFill>
                  <a:srgbClr val="003366"/>
                </a:solidFill>
                <a:latin typeface="Calibri"/>
              </a:defRPr>
            </a:pPr>
            <a:r>
              <a:t>Surface Roughness</a:t>
            </a:r>
          </a:p>
        </p:txBody>
      </p:sp>
      <p:sp>
        <p:nvSpPr>
          <p:cNvPr id="15" name="TextBox 14"/>
          <p:cNvSpPr txBox="1"/>
          <p:nvPr/>
        </p:nvSpPr>
        <p:spPr>
          <a:xfrm>
            <a:off x="2377440" y="3300984"/>
            <a:ext cx="3474720" cy="502920"/>
          </a:xfrm>
          <a:prstGeom prst="rect">
            <a:avLst/>
          </a:prstGeom>
          <a:noFill/>
        </p:spPr>
        <p:txBody>
          <a:bodyPr wrap="square">
            <a:spAutoFit/>
          </a:bodyPr>
          <a:lstStyle/>
          <a:p>
            <a:pPr algn="l">
              <a:defRPr sz="1600" b="0">
                <a:solidFill>
                  <a:srgbClr val="333333"/>
                </a:solidFill>
                <a:latin typeface="Calibri"/>
              </a:defRPr>
            </a:pPr>
            <a:r>
              <a:t>R_a = k₁ f_r² + k₂ V_B + k₃ / v_c</a:t>
            </a:r>
          </a:p>
        </p:txBody>
      </p:sp>
      <p:sp>
        <p:nvSpPr>
          <p:cNvPr id="16" name="Rectangle 15"/>
          <p:cNvSpPr/>
          <p:nvPr/>
        </p:nvSpPr>
        <p:spPr>
          <a:xfrm>
            <a:off x="457200" y="3913632"/>
            <a:ext cx="5486400" cy="594360"/>
          </a:xfrm>
          <a:prstGeom prst="rect">
            <a:avLst/>
          </a:prstGeom>
          <a:solidFill>
            <a:srgbClr val="F0F0F0"/>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959352"/>
            <a:ext cx="1645920" cy="502920"/>
          </a:xfrm>
          <a:prstGeom prst="rect">
            <a:avLst/>
          </a:prstGeom>
          <a:noFill/>
        </p:spPr>
        <p:txBody>
          <a:bodyPr wrap="square">
            <a:spAutoFit/>
          </a:bodyPr>
          <a:lstStyle/>
          <a:p>
            <a:pPr algn="l">
              <a:defRPr sz="1600" b="1">
                <a:solidFill>
                  <a:srgbClr val="003366"/>
                </a:solidFill>
                <a:latin typeface="Calibri"/>
              </a:defRPr>
            </a:pPr>
            <a:r>
              <a:t>Specific Cutting Energy</a:t>
            </a:r>
          </a:p>
        </p:txBody>
      </p:sp>
      <p:sp>
        <p:nvSpPr>
          <p:cNvPr id="18" name="TextBox 17"/>
          <p:cNvSpPr txBox="1"/>
          <p:nvPr/>
        </p:nvSpPr>
        <p:spPr>
          <a:xfrm>
            <a:off x="2377440" y="3959352"/>
            <a:ext cx="3474720" cy="502920"/>
          </a:xfrm>
          <a:prstGeom prst="rect">
            <a:avLst/>
          </a:prstGeom>
          <a:noFill/>
        </p:spPr>
        <p:txBody>
          <a:bodyPr wrap="square">
            <a:spAutoFit/>
          </a:bodyPr>
          <a:lstStyle/>
          <a:p>
            <a:pPr algn="l">
              <a:defRPr sz="1600" b="0">
                <a:solidFill>
                  <a:srgbClr val="333333"/>
                </a:solidFill>
                <a:latin typeface="Calibri"/>
              </a:defRPr>
            </a:pPr>
            <a:r>
              <a:t>k_c(v_c) = k_c0 (v_c / v_ref)^m  ← KEY: creates trade-off</a:t>
            </a:r>
          </a:p>
        </p:txBody>
      </p:sp>
      <p:sp>
        <p:nvSpPr>
          <p:cNvPr id="19" name="Rectangle 18"/>
          <p:cNvSpPr/>
          <p:nvPr/>
        </p:nvSpPr>
        <p:spPr>
          <a:xfrm>
            <a:off x="457200" y="4572000"/>
            <a:ext cx="5486400" cy="594360"/>
          </a:xfrm>
          <a:prstGeom prst="rect">
            <a:avLst/>
          </a:prstGeom>
          <a:solidFill>
            <a:srgbClr val="F0F0F0"/>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617720"/>
            <a:ext cx="1645920" cy="502920"/>
          </a:xfrm>
          <a:prstGeom prst="rect">
            <a:avLst/>
          </a:prstGeom>
          <a:noFill/>
        </p:spPr>
        <p:txBody>
          <a:bodyPr wrap="square">
            <a:spAutoFit/>
          </a:bodyPr>
          <a:lstStyle/>
          <a:p>
            <a:pPr algn="l">
              <a:defRPr sz="1600" b="1">
                <a:solidFill>
                  <a:srgbClr val="003366"/>
                </a:solidFill>
                <a:latin typeface="Calibri"/>
              </a:defRPr>
            </a:pPr>
            <a:r>
              <a:t>Total Power</a:t>
            </a:r>
          </a:p>
        </p:txBody>
      </p:sp>
      <p:sp>
        <p:nvSpPr>
          <p:cNvPr id="21" name="TextBox 20"/>
          <p:cNvSpPr txBox="1"/>
          <p:nvPr/>
        </p:nvSpPr>
        <p:spPr>
          <a:xfrm>
            <a:off x="2377440" y="4617720"/>
            <a:ext cx="3474720" cy="502920"/>
          </a:xfrm>
          <a:prstGeom prst="rect">
            <a:avLst/>
          </a:prstGeom>
          <a:noFill/>
        </p:spPr>
        <p:txBody>
          <a:bodyPr wrap="square">
            <a:spAutoFit/>
          </a:bodyPr>
          <a:lstStyle/>
          <a:p>
            <a:pPr algn="l">
              <a:defRPr sz="1600" b="0">
                <a:solidFill>
                  <a:srgbClr val="333333"/>
                </a:solidFill>
                <a:latin typeface="Calibri"/>
              </a:defRPr>
            </a:pPr>
            <a:r>
              <a:t>P_total = P_idle + k_c(v_c) · MRR</a:t>
            </a:r>
          </a:p>
        </p:txBody>
      </p:sp>
      <p:sp>
        <p:nvSpPr>
          <p:cNvPr id="22" name="Rectangle 21"/>
          <p:cNvSpPr/>
          <p:nvPr/>
        </p:nvSpPr>
        <p:spPr>
          <a:xfrm>
            <a:off x="457200" y="5230368"/>
            <a:ext cx="5486400" cy="594360"/>
          </a:xfrm>
          <a:prstGeom prst="rect">
            <a:avLst/>
          </a:prstGeom>
          <a:solidFill>
            <a:srgbClr val="F0F0F0"/>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5276088"/>
            <a:ext cx="1645920" cy="502920"/>
          </a:xfrm>
          <a:prstGeom prst="rect">
            <a:avLst/>
          </a:prstGeom>
          <a:noFill/>
        </p:spPr>
        <p:txBody>
          <a:bodyPr wrap="square">
            <a:spAutoFit/>
          </a:bodyPr>
          <a:lstStyle/>
          <a:p>
            <a:pPr algn="l">
              <a:defRPr sz="1600" b="1">
                <a:solidFill>
                  <a:srgbClr val="003366"/>
                </a:solidFill>
                <a:latin typeface="Calibri"/>
              </a:defRPr>
            </a:pPr>
            <a:r>
              <a:t>Energy per Pass</a:t>
            </a:r>
          </a:p>
        </p:txBody>
      </p:sp>
      <p:sp>
        <p:nvSpPr>
          <p:cNvPr id="24" name="TextBox 23"/>
          <p:cNvSpPr txBox="1"/>
          <p:nvPr/>
        </p:nvSpPr>
        <p:spPr>
          <a:xfrm>
            <a:off x="2377440" y="5276088"/>
            <a:ext cx="3474720" cy="502920"/>
          </a:xfrm>
          <a:prstGeom prst="rect">
            <a:avLst/>
          </a:prstGeom>
          <a:noFill/>
        </p:spPr>
        <p:txBody>
          <a:bodyPr wrap="square">
            <a:spAutoFit/>
          </a:bodyPr>
          <a:lstStyle/>
          <a:p>
            <a:pPr algn="l">
              <a:defRPr sz="1600" b="0">
                <a:solidFill>
                  <a:srgbClr val="333333"/>
                </a:solidFill>
                <a:latin typeface="Calibri"/>
              </a:defRPr>
            </a:pPr>
            <a:r>
              <a:t>E_pass = P_total · t_cut</a:t>
            </a:r>
          </a:p>
        </p:txBody>
      </p:sp>
      <p:sp>
        <p:nvSpPr>
          <p:cNvPr id="25" name="Rectangle 24"/>
          <p:cNvSpPr/>
          <p:nvPr/>
        </p:nvSpPr>
        <p:spPr>
          <a:xfrm>
            <a:off x="6400800" y="1280160"/>
            <a:ext cx="5303520" cy="4754880"/>
          </a:xfrm>
          <a:prstGeom prst="rect">
            <a:avLst/>
          </a:prstGeom>
          <a:solidFill>
            <a:srgbClr val="E6F0FA"/>
          </a:solidFill>
          <a:ln w="25400">
            <a:solidFill>
              <a:srgbClr val="CC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0" y="1463040"/>
            <a:ext cx="4754880" cy="457200"/>
          </a:xfrm>
          <a:prstGeom prst="rect">
            <a:avLst/>
          </a:prstGeom>
          <a:noFill/>
        </p:spPr>
        <p:txBody>
          <a:bodyPr wrap="square">
            <a:spAutoFit/>
          </a:bodyPr>
          <a:lstStyle/>
          <a:p>
            <a:pPr algn="l">
              <a:defRPr sz="2200" b="1">
                <a:solidFill>
                  <a:srgbClr val="CC9900"/>
                </a:solidFill>
                <a:latin typeface="Calibri"/>
              </a:defRPr>
            </a:pPr>
            <a:r>
              <a:t>💡 Key Insight</a:t>
            </a:r>
          </a:p>
        </p:txBody>
      </p:sp>
      <p:sp>
        <p:nvSpPr>
          <p:cNvPr id="27" name="TextBox 26"/>
          <p:cNvSpPr txBox="1"/>
          <p:nvPr/>
        </p:nvSpPr>
        <p:spPr>
          <a:xfrm>
            <a:off x="6675120" y="2011680"/>
            <a:ext cx="4754880" cy="3840480"/>
          </a:xfrm>
          <a:prstGeom prst="rect">
            <a:avLst/>
          </a:prstGeom>
          <a:noFill/>
        </p:spPr>
        <p:txBody>
          <a:bodyPr wrap="square">
            <a:spAutoFit/>
          </a:bodyPr>
          <a:lstStyle/>
          <a:p>
            <a:pPr>
              <a:spcAft>
                <a:spcPts val="400"/>
              </a:spcAft>
              <a:defRPr sz="1400">
                <a:solidFill>
                  <a:srgbClr val="333333"/>
                </a:solidFill>
                <a:latin typeface="Calibri"/>
              </a:defRPr>
            </a:pPr>
            <a:r>
              <a:t>With m=0.6:</a:t>
            </a:r>
          </a:p>
          <a:p>
            <a:pPr>
              <a:spcAft>
                <a:spcPts val="400"/>
              </a:spcAft>
              <a:defRPr sz="1400">
                <a:solidFill>
                  <a:srgbClr val="333333"/>
                </a:solidFill>
                <a:latin typeface="Calibri"/>
              </a:defRPr>
            </a:pPr>
            <a:r>
              <a:t>  Cutting energy RISES with speed</a:t>
            </a:r>
          </a:p>
          <a:p>
            <a:pPr>
              <a:spcAft>
                <a:spcPts val="400"/>
              </a:spcAft>
              <a:defRPr sz="1400">
                <a:solidFill>
                  <a:srgbClr val="333333"/>
                </a:solidFill>
                <a:latin typeface="Calibri"/>
              </a:defRPr>
            </a:pPr>
            <a:r>
              <a:t>  Idle energy FALLS with speed</a:t>
            </a:r>
          </a:p>
          <a:p>
            <a:pPr>
              <a:spcAft>
                <a:spcPts val="400"/>
              </a:spcAft>
              <a:defRPr sz="1400">
                <a:solidFill>
                  <a:srgbClr val="333333"/>
                </a:solidFill>
                <a:latin typeface="Calibri"/>
              </a:defRPr>
            </a:pPr>
            <a:r>
              <a:t>  Part energy has INTERIOR MINIMUM</a:t>
            </a:r>
          </a:p>
          <a:p>
            <a:pPr>
              <a:spcAft>
                <a:spcPts val="400"/>
              </a:spcAft>
              <a:defRPr sz="1400">
                <a:solidFill>
                  <a:srgbClr val="333333"/>
                </a:solidFill>
                <a:latin typeface="Calibri"/>
              </a:defRPr>
            </a:pPr>
            <a:r>
              <a:t>  Energy weight w₂ selects operating point</a:t>
            </a:r>
          </a:p>
          <a:p>
            <a:pPr>
              <a:spcAft>
                <a:spcPts val="400"/>
              </a:spcAft>
              <a:defRPr sz="1400">
                <a:solidFill>
                  <a:srgbClr val="333333"/>
                </a:solidFill>
                <a:latin typeface="Calibri"/>
              </a:defRPr>
            </a:pPr>
          </a:p>
          <a:p>
            <a:pPr>
              <a:spcAft>
                <a:spcPts val="400"/>
              </a:spcAft>
              <a:defRPr sz="1400">
                <a:solidFill>
                  <a:srgbClr val="333333"/>
                </a:solidFill>
                <a:latin typeface="Calibri"/>
              </a:defRPr>
            </a:pPr>
            <a:r>
              <a:t>Without it (m=0): both objectives push to</a:t>
            </a:r>
          </a:p>
          <a:p>
            <a:pPr>
              <a:spcAft>
                <a:spcPts val="400"/>
              </a:spcAft>
              <a:defRPr sz="1400">
                <a:solidFill>
                  <a:srgbClr val="333333"/>
                </a:solidFill>
                <a:latin typeface="Calibri"/>
              </a:defRPr>
            </a:pPr>
            <a:r>
              <a:t>  MAX speed → no trade-off at all</a:t>
            </a:r>
          </a:p>
          <a:p>
            <a:pPr>
              <a:spcAft>
                <a:spcPts val="400"/>
              </a:spcAft>
              <a:defRPr sz="1400">
                <a:solidFill>
                  <a:srgbClr val="333333"/>
                </a:solidFill>
                <a:latin typeface="Calibri"/>
              </a:defRPr>
            </a:pPr>
          </a:p>
          <a:p>
            <a:pPr>
              <a:spcAft>
                <a:spcPts val="400"/>
              </a:spcAft>
              <a:defRPr sz="1400">
                <a:solidFill>
                  <a:srgbClr val="333333"/>
                </a:solidFill>
                <a:latin typeface="Calibri"/>
              </a:defRPr>
            </a:pPr>
            <a:r>
              <a:t>Wear: C_wear = 1.0e-2, anchored on a</a:t>
            </a:r>
          </a:p>
          <a:p>
            <a:pPr>
              <a:spcAft>
                <a:spcPts val="400"/>
              </a:spcAft>
              <a:defRPr sz="1400">
                <a:solidFill>
                  <a:srgbClr val="333333"/>
                </a:solidFill>
                <a:latin typeface="Calibri"/>
              </a:defRPr>
            </a:pPr>
            <a:r>
              <a:t>  published tool life (about 9 parts per tool)</a:t>
            </a:r>
          </a:p>
          <a:p>
            <a:pPr>
              <a:spcAft>
                <a:spcPts val="400"/>
              </a:spcAft>
              <a:defRPr sz="1400">
                <a:solidFill>
                  <a:srgbClr val="333333"/>
                </a:solidFill>
                <a:latin typeface="Calibri"/>
              </a:defRPr>
            </a:pPr>
          </a:p>
          <a:p>
            <a:pPr>
              <a:spcAft>
                <a:spcPts val="400"/>
              </a:spcAft>
              <a:defRPr sz="1400">
                <a:solidFill>
                  <a:srgbClr val="333333"/>
                </a:solidFill>
                <a:latin typeface="Calibri"/>
              </a:defRPr>
            </a:pPr>
            <a:r>
              <a:t>Validated by a unit test on the part energy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One Gymnasium Environment: MillingDTEnv-v1</a:t>
            </a:r>
          </a:p>
        </p:txBody>
      </p:sp>
      <p:sp>
        <p:nvSpPr>
          <p:cNvPr id="4" name="TextBox 3"/>
          <p:cNvSpPr txBox="1"/>
          <p:nvPr/>
        </p:nvSpPr>
        <p:spPr>
          <a:xfrm>
            <a:off x="457200" y="1188720"/>
            <a:ext cx="5486400" cy="365760"/>
          </a:xfrm>
          <a:prstGeom prst="rect">
            <a:avLst/>
          </a:prstGeom>
          <a:noFill/>
        </p:spPr>
        <p:txBody>
          <a:bodyPr wrap="square">
            <a:spAutoFit/>
          </a:bodyPr>
          <a:lstStyle/>
          <a:p>
            <a:pPr algn="l">
              <a:defRPr sz="1600" b="1">
                <a:solidFill>
                  <a:srgbClr val="003366"/>
                </a:solidFill>
                <a:latin typeface="Calibri"/>
              </a:defRPr>
            </a:pPr>
            <a:r>
              <a:t>State &amp; Action</a:t>
            </a:r>
          </a:p>
        </p:txBody>
      </p:sp>
      <p:sp>
        <p:nvSpPr>
          <p:cNvPr id="5" name="TextBox 4"/>
          <p:cNvSpPr txBox="1"/>
          <p:nvPr/>
        </p:nvSpPr>
        <p:spPr>
          <a:xfrm>
            <a:off x="457200" y="1600200"/>
            <a:ext cx="5486400" cy="4937760"/>
          </a:xfrm>
          <a:prstGeom prst="rect">
            <a:avLst/>
          </a:prstGeom>
          <a:noFill/>
        </p:spPr>
        <p:txBody>
          <a:bodyPr wrap="square">
            <a:spAutoFit/>
          </a:bodyPr>
          <a:lstStyle/>
          <a:p>
            <a:pPr>
              <a:spcAft>
                <a:spcPts val="400"/>
              </a:spcAft>
              <a:defRPr sz="1400">
                <a:solidFill>
                  <a:srgbClr val="333333"/>
                </a:solidFill>
                <a:latin typeface="Calibri"/>
              </a:defRPr>
            </a:pPr>
            <a:r>
              <a:t>Two registrations:</a:t>
            </a:r>
          </a:p>
          <a:p>
            <a:pPr>
              <a:spcAft>
                <a:spcPts val="400"/>
              </a:spcAft>
              <a:defRPr sz="1400">
                <a:solidFill>
                  <a:srgbClr val="333333"/>
                </a:solidFill>
                <a:latin typeface="Calibri"/>
              </a:defRPr>
            </a:pPr>
            <a:r>
              <a:t>  • MillingDTEnv-v1 (env.ENV_ID), 200-step limit, 11-D</a:t>
            </a:r>
          </a:p>
          <a:p>
            <a:pPr>
              <a:spcAft>
                <a:spcPts val="400"/>
              </a:spcAft>
              <a:defRPr sz="1400">
                <a:solidFill>
                  <a:srgbClr val="333333"/>
                </a:solidFill>
                <a:latin typeface="Calibri"/>
              </a:defRPr>
            </a:pPr>
            <a:r>
              <a:t>  • MillingDTBatchEnv-v1 (env.BATCH_ENV_ID), 13-D</a:t>
            </a:r>
          </a:p>
          <a:p>
            <a:pPr>
              <a:spcAft>
                <a:spcPts val="400"/>
              </a:spcAft>
              <a:defRPr sz="1400">
                <a:solidFill>
                  <a:srgbClr val="333333"/>
                </a:solidFill>
                <a:latin typeface="Calibri"/>
              </a:defRPr>
            </a:pPr>
            <a:r>
              <a:t>  • The weight and the material are inputs, not tasks</a:t>
            </a:r>
          </a:p>
          <a:p>
            <a:pPr>
              <a:spcAft>
                <a:spcPts val="400"/>
              </a:spcAft>
              <a:defRPr sz="1400">
                <a:solidFill>
                  <a:srgbClr val="333333"/>
                </a:solidFill>
                <a:latin typeface="Calibri"/>
              </a:defRPr>
            </a:pPr>
          </a:p>
          <a:p>
            <a:pPr>
              <a:spcAft>
                <a:spcPts val="400"/>
              </a:spcAft>
              <a:defRPr sz="1400">
                <a:solidFill>
                  <a:srgbClr val="333333"/>
                </a:solidFill>
                <a:latin typeface="Calibri"/>
              </a:defRPr>
            </a:pPr>
            <a:r>
              <a:t>Observation (11-D, always the same shape):</a:t>
            </a:r>
          </a:p>
          <a:p>
            <a:pPr>
              <a:spcAft>
                <a:spcPts val="400"/>
              </a:spcAft>
              <a:defRPr sz="1400">
                <a:solidFill>
                  <a:srgbClr val="333333"/>
                </a:solidFill>
                <a:latin typeface="Calibri"/>
              </a:defRPr>
            </a:pPr>
            <a:r>
              <a:t>  0-7: V_B, κ_rem, prev n, f_r, a_p, MRR/MRR_max,</a:t>
            </a:r>
          </a:p>
          <a:p>
            <a:pPr>
              <a:spcAft>
                <a:spcPts val="400"/>
              </a:spcAft>
              <a:defRPr sz="1400">
                <a:solidFill>
                  <a:srgbClr val="333333"/>
                </a:solidFill>
                <a:latin typeface="Calibri"/>
              </a:defRPr>
            </a:pPr>
            <a:r>
              <a:t>       R_a, tool-broken flag</a:t>
            </a:r>
          </a:p>
          <a:p>
            <a:pPr>
              <a:spcAft>
                <a:spcPts val="400"/>
              </a:spcAft>
              <a:defRPr sz="1400">
                <a:solidFill>
                  <a:srgbClr val="333333"/>
                </a:solidFill>
                <a:latin typeface="Calibri"/>
              </a:defRPr>
            </a:pPr>
            <a:r>
              <a:t>  8-10: the context: w₂, C_wear [0.6,1.4], k₁ [0.8,1.2]</a:t>
            </a:r>
          </a:p>
          <a:p>
            <a:pPr>
              <a:spcAft>
                <a:spcPts val="400"/>
              </a:spcAft>
              <a:defRPr sz="1400">
                <a:solidFill>
                  <a:srgbClr val="333333"/>
                </a:solidFill>
                <a:latin typeface="Calibri"/>
              </a:defRPr>
            </a:pPr>
          </a:p>
          <a:p>
            <a:pPr>
              <a:spcAft>
                <a:spcPts val="400"/>
              </a:spcAft>
              <a:defRPr sz="1400">
                <a:solidFill>
                  <a:srgbClr val="333333"/>
                </a:solidFill>
                <a:latin typeface="Calibri"/>
              </a:defRPr>
            </a:pPr>
            <a:r>
              <a:t>Action: continuous [-1,1]³ → clipped → machine envelope</a:t>
            </a:r>
          </a:p>
        </p:txBody>
      </p:sp>
      <p:sp>
        <p:nvSpPr>
          <p:cNvPr id="6" name="TextBox 5"/>
          <p:cNvSpPr txBox="1"/>
          <p:nvPr/>
        </p:nvSpPr>
        <p:spPr>
          <a:xfrm>
            <a:off x="6217920" y="1188720"/>
            <a:ext cx="5486400" cy="365760"/>
          </a:xfrm>
          <a:prstGeom prst="rect">
            <a:avLst/>
          </a:prstGeom>
          <a:noFill/>
        </p:spPr>
        <p:txBody>
          <a:bodyPr wrap="square">
            <a:spAutoFit/>
          </a:bodyPr>
          <a:lstStyle/>
          <a:p>
            <a:pPr algn="l">
              <a:defRPr sz="1600" b="1">
                <a:solidFill>
                  <a:srgbClr val="003366"/>
                </a:solidFill>
                <a:latin typeface="Calibri"/>
              </a:defRPr>
            </a:pPr>
            <a:r>
              <a:t>Reward &amp; Randomization</a:t>
            </a:r>
          </a:p>
        </p:txBody>
      </p:sp>
      <p:sp>
        <p:nvSpPr>
          <p:cNvPr id="7" name="TextBox 6"/>
          <p:cNvSpPr txBox="1"/>
          <p:nvPr/>
        </p:nvSpPr>
        <p:spPr>
          <a:xfrm>
            <a:off x="6217920" y="1600200"/>
            <a:ext cx="5486400" cy="4937760"/>
          </a:xfrm>
          <a:prstGeom prst="rect">
            <a:avLst/>
          </a:prstGeom>
          <a:noFill/>
        </p:spPr>
        <p:txBody>
          <a:bodyPr wrap="square">
            <a:spAutoFit/>
          </a:bodyPr>
          <a:lstStyle/>
          <a:p>
            <a:pPr>
              <a:spcAft>
                <a:spcPts val="400"/>
              </a:spcAft>
              <a:defRPr sz="1400">
                <a:solidFill>
                  <a:srgbClr val="333333"/>
                </a:solidFill>
                <a:latin typeface="Calibri"/>
              </a:defRPr>
            </a:pPr>
            <a:r>
              <a:t>Reward per step:</a:t>
            </a:r>
          </a:p>
          <a:p>
            <a:pPr>
              <a:spcAft>
                <a:spcPts val="400"/>
              </a:spcAft>
              <a:defRPr sz="1400">
                <a:solidFill>
                  <a:srgbClr val="333333"/>
                </a:solidFill>
                <a:latin typeface="Calibri"/>
              </a:defRPr>
            </a:pPr>
            <a:r>
              <a:t>  r = 100·(w₁·MRR/MRR_max − w₂·E_pass/E_ref)</a:t>
            </a:r>
          </a:p>
          <a:p>
            <a:pPr>
              <a:spcAft>
                <a:spcPts val="400"/>
              </a:spcAft>
              <a:defRPr sz="1400">
                <a:solidFill>
                  <a:srgbClr val="333333"/>
                </a:solidFill>
                <a:latin typeface="Calibri"/>
              </a:defRPr>
            </a:pPr>
            <a:r>
              <a:t>       + 20·Δ(stock removed)</a:t>
            </a:r>
          </a:p>
          <a:p>
            <a:pPr>
              <a:spcAft>
                <a:spcPts val="400"/>
              </a:spcAft>
              <a:defRPr sz="1400">
                <a:solidFill>
                  <a:srgbClr val="333333"/>
                </a:solidFill>
                <a:latin typeface="Calibri"/>
              </a:defRPr>
            </a:pPr>
            <a:r>
              <a:t>       − 50·1[V_B &gt; V_B_safe] − 100·1[broken]</a:t>
            </a:r>
          </a:p>
          <a:p>
            <a:pPr>
              <a:spcAft>
                <a:spcPts val="400"/>
              </a:spcAft>
              <a:defRPr sz="1400">
                <a:solidFill>
                  <a:srgbClr val="333333"/>
                </a:solidFill>
                <a:latin typeface="Calibri"/>
              </a:defRPr>
            </a:pPr>
            <a:r>
              <a:t>       − 50·1[finishing pass ∧ R_a &gt; R_a_safe] − 0.05</a:t>
            </a:r>
          </a:p>
          <a:p>
            <a:pPr>
              <a:spcAft>
                <a:spcPts val="400"/>
              </a:spcAft>
              <a:defRPr sz="1400">
                <a:solidFill>
                  <a:srgbClr val="333333"/>
                </a:solidFill>
                <a:latin typeface="Calibri"/>
              </a:defRPr>
            </a:pPr>
            <a:r>
              <a:t>  +200 for a part finished in spec, +≤5 Pareto margin</a:t>
            </a:r>
          </a:p>
          <a:p>
            <a:pPr>
              <a:spcAft>
                <a:spcPts val="400"/>
              </a:spcAft>
              <a:defRPr sz="1400">
                <a:solidFill>
                  <a:srgbClr val="333333"/>
                </a:solidFill>
                <a:latin typeface="Calibri"/>
              </a:defRPr>
            </a:pPr>
            <a:r>
              <a:t>  w₁ = 1 − w₂; safety limits 0.255 mm and 1.36 μm</a:t>
            </a:r>
          </a:p>
          <a:p>
            <a:pPr>
              <a:spcAft>
                <a:spcPts val="400"/>
              </a:spcAft>
              <a:defRPr sz="1400">
                <a:solidFill>
                  <a:srgbClr val="333333"/>
                </a:solidFill>
                <a:latin typeface="Calibri"/>
              </a:defRPr>
            </a:pPr>
            <a:r>
              <a:t>  breakage p = 0.3·wear factor·(load factor)² above 0.15 mm</a:t>
            </a:r>
          </a:p>
          <a:p>
            <a:pPr>
              <a:spcAft>
                <a:spcPts val="400"/>
              </a:spcAft>
              <a:defRPr sz="1400">
                <a:solidFill>
                  <a:srgbClr val="333333"/>
                </a:solidFill>
                <a:latin typeface="Calibri"/>
              </a:defRPr>
            </a:pPr>
            <a:r>
              <a:t>  THE SCALE IS A DESIGN DECISION: the objective term is</a:t>
            </a:r>
          </a:p>
          <a:p>
            <a:pPr>
              <a:spcAft>
                <a:spcPts val="400"/>
              </a:spcAft>
              <a:defRPr sz="1400">
                <a:solidFill>
                  <a:srgbClr val="333333"/>
                </a:solidFill>
                <a:latin typeface="Calibri"/>
              </a:defRPr>
            </a:pPr>
            <a:r>
              <a:t>  worth about 50 points per part, a quarter of a part</a:t>
            </a:r>
          </a:p>
          <a:p>
            <a:pPr>
              <a:spcAft>
                <a:spcPts val="400"/>
              </a:spcAft>
              <a:defRPr sz="1400">
                <a:solidFill>
                  <a:srgbClr val="333333"/>
                </a:solidFill>
                <a:latin typeface="Calibri"/>
              </a:defRPr>
            </a:pPr>
          </a:p>
          <a:p>
            <a:pPr>
              <a:spcAft>
                <a:spcPts val="400"/>
              </a:spcAft>
              <a:defRPr sz="1400">
                <a:solidFill>
                  <a:srgbClr val="333333"/>
                </a:solidFill>
                <a:latin typeface="Calibri"/>
              </a:defRPr>
            </a:pPr>
            <a:r>
              <a:t>Domain Randomization (--randomize):</a:t>
            </a:r>
          </a:p>
          <a:p>
            <a:pPr>
              <a:spcAft>
                <a:spcPts val="400"/>
              </a:spcAft>
              <a:defRPr sz="1400">
                <a:solidFill>
                  <a:srgbClr val="333333"/>
                </a:solidFill>
                <a:latin typeface="Calibri"/>
              </a:defRPr>
            </a:pPr>
            <a:r>
              <a:t>  • Workpiece: κ_total [2,15], D [40,150], L_cut [50,200]</a:t>
            </a:r>
          </a:p>
          <a:p>
            <a:pPr>
              <a:spcAft>
                <a:spcPts val="400"/>
              </a:spcAft>
              <a:defRPr sz="1400">
                <a:solidFill>
                  <a:srgbClr val="333333"/>
                </a:solidFill>
                <a:latin typeface="Calibri"/>
              </a:defRPr>
            </a:pPr>
            <a:r>
              <a:t>  • Material/Tool: C_wear [0.6,1.4]×, k₁,k₂,k₃ [0.8,1.2]× nominal</a:t>
            </a:r>
          </a:p>
          <a:p>
            <a:pPr>
              <a:spcAft>
                <a:spcPts val="400"/>
              </a:spcAft>
              <a:defRPr sz="1400">
                <a:solidFill>
                  <a:srgbClr val="333333"/>
                </a:solidFill>
                <a:latin typeface="Calibri"/>
              </a:defRPr>
            </a:pPr>
            <a:r>
              <a:t>  • Initial wear: V_B0 ~ U[0, 0.8]·V_B_max</a:t>
            </a:r>
          </a:p>
          <a:p>
            <a:pPr>
              <a:spcAft>
                <a:spcPts val="400"/>
              </a:spcAft>
              <a:defRPr sz="1400">
                <a:solidFill>
                  <a:srgbClr val="333333"/>
                </a:solidFill>
                <a:latin typeface="Calibri"/>
              </a:defRPr>
            </a:pPr>
            <a:r>
              <a:t>  • Energy weight drawn U[0,1] per episode</a:t>
            </a:r>
          </a:p>
          <a:p>
            <a:pPr>
              <a:spcAft>
                <a:spcPts val="400"/>
              </a:spcAft>
              <a:defRPr sz="1400">
                <a:solidFill>
                  <a:srgbClr val="333333"/>
                </a:solidFill>
                <a:latin typeface="Calibri"/>
              </a:defRPr>
            </a:pPr>
            <a:r>
              <a:t>  • Same tables for training + Monte Carlo eval</a:t>
            </a:r>
          </a:p>
          <a:p>
            <a:pPr>
              <a:spcAft>
                <a:spcPts val="400"/>
              </a:spcAft>
              <a:defRPr sz="1400">
                <a:solidFill>
                  <a:srgbClr val="333333"/>
                </a:solidFill>
                <a:latin typeface="Calibri"/>
              </a:defRPr>
            </a:pPr>
          </a:p>
          <a:p>
            <a:pPr>
              <a:spcAft>
                <a:spcPts val="400"/>
              </a:spcAft>
              <a:defRPr sz="1400">
                <a:solidFill>
                  <a:srgbClr val="333333"/>
                </a:solidFill>
                <a:latin typeface="Calibri"/>
              </a:defRPr>
            </a:pPr>
            <a:r>
              <a:t>E_ref recomputed per scenario from its own D, L_cut, k_c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Reinforcement Learning: PPO (Stable-Baselines3)</a:t>
            </a:r>
          </a:p>
        </p:txBody>
      </p:sp>
      <p:graphicFrame>
        <p:nvGraphicFramePr>
          <p:cNvPr id="4" name="Table 3"/>
          <p:cNvGraphicFramePr>
            <a:graphicFrameLocks noGrp="1"/>
          </p:cNvGraphicFramePr>
          <p:nvPr/>
        </p:nvGraphicFramePr>
        <p:xfrm>
          <a:off x="457200" y="1280160"/>
          <a:ext cx="5486400" cy="5029200"/>
        </p:xfrm>
        <a:graphic>
          <a:graphicData uri="http://schemas.openxmlformats.org/drawingml/2006/table">
            <a:tbl>
              <a:tblPr firstRow="1" bandRow="1">
                <a:tableStyleId>{5C22544A-7EE6-4342-B048-85BDC9FD1C3A}</a:tableStyleId>
              </a:tblPr>
              <a:tblGrid>
                <a:gridCol w="2286000"/>
                <a:gridCol w="3200400"/>
              </a:tblGrid>
              <a:tr h="419100">
                <a:tc>
                  <a:txBody>
                    <a:bodyPr/>
                    <a:lstStyle/>
                    <a:p>
                      <a:pPr>
                        <a:defRPr sz="1400" b="1">
                          <a:solidFill>
                            <a:srgbClr val="FFFFFF"/>
                          </a:solidFill>
                          <a:latin typeface="Calibri"/>
                        </a:defRPr>
                      </a:pPr>
                      <a:r>
                        <a:t>Parameter</a:t>
                      </a:r>
                    </a:p>
                  </a:txBody>
                  <a:tcPr>
                    <a:solidFill>
                      <a:srgbClr val="003366"/>
                    </a:solidFill>
                  </a:tcPr>
                </a:tc>
                <a:tc>
                  <a:txBody>
                    <a:bodyPr/>
                    <a:lstStyle/>
                    <a:p>
                      <a:pPr>
                        <a:defRPr sz="1400" b="1">
                          <a:solidFill>
                            <a:srgbClr val="FFFFFF"/>
                          </a:solidFill>
                          <a:latin typeface="Calibri"/>
                        </a:defRPr>
                      </a:pPr>
                      <a:r>
                        <a:t>Value</a:t>
                      </a:r>
                    </a:p>
                  </a:txBody>
                  <a:tcPr>
                    <a:solidFill>
                      <a:srgbClr val="003366"/>
                    </a:solidFill>
                  </a:tcPr>
                </a:tc>
              </a:tr>
              <a:tr h="419100">
                <a:tc>
                  <a:txBody>
                    <a:bodyPr/>
                    <a:lstStyle/>
                    <a:p>
                      <a:pPr>
                        <a:defRPr sz="1400">
                          <a:solidFill>
                            <a:srgbClr val="333333"/>
                          </a:solidFill>
                          <a:latin typeface="Calibri"/>
                        </a:defRPr>
                      </a:pPr>
                      <a:r>
                        <a:t>Policy</a:t>
                      </a:r>
                    </a:p>
                  </a:txBody>
                  <a:tcPr/>
                </a:tc>
                <a:tc>
                  <a:txBody>
                    <a:bodyPr/>
                    <a:lstStyle/>
                    <a:p>
                      <a:pPr>
                        <a:defRPr sz="1400">
                          <a:solidFill>
                            <a:srgbClr val="333333"/>
                          </a:solidFill>
                          <a:latin typeface="Calibri"/>
                        </a:defRPr>
                      </a:pPr>
                      <a:r>
                        <a:t>MlpPolicy (2×256 hidden)</a:t>
                      </a:r>
                    </a:p>
                  </a:txBody>
                  <a:tcPr/>
                </a:tc>
              </a:tr>
              <a:tr h="419100">
                <a:tc>
                  <a:txBody>
                    <a:bodyPr/>
                    <a:lstStyle/>
                    <a:p>
                      <a:pPr>
                        <a:defRPr sz="1400">
                          <a:solidFill>
                            <a:srgbClr val="333333"/>
                          </a:solidFill>
                          <a:latin typeface="Calibri"/>
                        </a:defRPr>
                      </a:pPr>
                      <a:r>
                        <a:t>Learning rate</a:t>
                      </a:r>
                    </a:p>
                  </a:txBody>
                  <a:tcPr/>
                </a:tc>
                <a:tc>
                  <a:txBody>
                    <a:bodyPr/>
                    <a:lstStyle/>
                    <a:p>
                      <a:pPr>
                        <a:defRPr sz="1400">
                          <a:solidFill>
                            <a:srgbClr val="333333"/>
                          </a:solidFill>
                          <a:latin typeface="Calibri"/>
                        </a:defRPr>
                      </a:pPr>
                      <a:r>
                        <a:t>3×10⁻⁴ (linear schedule)</a:t>
                      </a:r>
                    </a:p>
                  </a:txBody>
                  <a:tcPr/>
                </a:tc>
              </a:tr>
              <a:tr h="419100">
                <a:tc>
                  <a:txBody>
                    <a:bodyPr/>
                    <a:lstStyle/>
                    <a:p>
                      <a:pPr>
                        <a:defRPr sz="1400">
                          <a:solidFill>
                            <a:srgbClr val="333333"/>
                          </a:solidFill>
                          <a:latin typeface="Calibri"/>
                        </a:defRPr>
                      </a:pPr>
                      <a:r>
                        <a:t>n_steps</a:t>
                      </a:r>
                    </a:p>
                  </a:txBody>
                  <a:tcPr/>
                </a:tc>
                <a:tc>
                  <a:txBody>
                    <a:bodyPr/>
                    <a:lstStyle/>
                    <a:p>
                      <a:pPr>
                        <a:defRPr sz="1400">
                          <a:solidFill>
                            <a:srgbClr val="333333"/>
                          </a:solidFill>
                          <a:latin typeface="Calibri"/>
                        </a:defRPr>
                      </a:pPr>
                      <a:r>
                        <a:t>2048</a:t>
                      </a:r>
                    </a:p>
                  </a:txBody>
                  <a:tcPr/>
                </a:tc>
              </a:tr>
              <a:tr h="419100">
                <a:tc>
                  <a:txBody>
                    <a:bodyPr/>
                    <a:lstStyle/>
                    <a:p>
                      <a:pPr>
                        <a:defRPr sz="1400">
                          <a:solidFill>
                            <a:srgbClr val="333333"/>
                          </a:solidFill>
                          <a:latin typeface="Calibri"/>
                        </a:defRPr>
                      </a:pPr>
                      <a:r>
                        <a:t>Batch size</a:t>
                      </a:r>
                    </a:p>
                  </a:txBody>
                  <a:tcPr/>
                </a:tc>
                <a:tc>
                  <a:txBody>
                    <a:bodyPr/>
                    <a:lstStyle/>
                    <a:p>
                      <a:pPr>
                        <a:defRPr sz="1400">
                          <a:solidFill>
                            <a:srgbClr val="333333"/>
                          </a:solidFill>
                          <a:latin typeface="Calibri"/>
                        </a:defRPr>
                      </a:pPr>
                      <a:r>
                        <a:t>64</a:t>
                      </a:r>
                    </a:p>
                  </a:txBody>
                  <a:tcPr/>
                </a:tc>
              </a:tr>
              <a:tr h="419100">
                <a:tc>
                  <a:txBody>
                    <a:bodyPr/>
                    <a:lstStyle/>
                    <a:p>
                      <a:pPr>
                        <a:defRPr sz="1400">
                          <a:solidFill>
                            <a:srgbClr val="333333"/>
                          </a:solidFill>
                          <a:latin typeface="Calibri"/>
                        </a:defRPr>
                      </a:pPr>
                      <a:r>
                        <a:t>n_epochs</a:t>
                      </a:r>
                    </a:p>
                  </a:txBody>
                  <a:tcPr/>
                </a:tc>
                <a:tc>
                  <a:txBody>
                    <a:bodyPr/>
                    <a:lstStyle/>
                    <a:p>
                      <a:pPr>
                        <a:defRPr sz="1400">
                          <a:solidFill>
                            <a:srgbClr val="333333"/>
                          </a:solidFill>
                          <a:latin typeface="Calibri"/>
                        </a:defRPr>
                      </a:pPr>
                      <a:r>
                        <a:t>10</a:t>
                      </a:r>
                    </a:p>
                  </a:txBody>
                  <a:tcPr/>
                </a:tc>
              </a:tr>
              <a:tr h="419100">
                <a:tc>
                  <a:txBody>
                    <a:bodyPr/>
                    <a:lstStyle/>
                    <a:p>
                      <a:pPr>
                        <a:defRPr sz="1400">
                          <a:solidFill>
                            <a:srgbClr val="333333"/>
                          </a:solidFill>
                          <a:latin typeface="Calibri"/>
                        </a:defRPr>
                      </a:pPr>
                      <a:r>
                        <a:t>γ (discount)</a:t>
                      </a:r>
                    </a:p>
                  </a:txBody>
                  <a:tcPr/>
                </a:tc>
                <a:tc>
                  <a:txBody>
                    <a:bodyPr/>
                    <a:lstStyle/>
                    <a:p>
                      <a:pPr>
                        <a:defRPr sz="1400">
                          <a:solidFill>
                            <a:srgbClr val="333333"/>
                          </a:solidFill>
                          <a:latin typeface="Calibri"/>
                        </a:defRPr>
                      </a:pPr>
                      <a:r>
                        <a:t>0.99</a:t>
                      </a:r>
                    </a:p>
                  </a:txBody>
                  <a:tcPr/>
                </a:tc>
              </a:tr>
              <a:tr h="419100">
                <a:tc>
                  <a:txBody>
                    <a:bodyPr/>
                    <a:lstStyle/>
                    <a:p>
                      <a:pPr>
                        <a:defRPr sz="1400">
                          <a:solidFill>
                            <a:srgbClr val="333333"/>
                          </a:solidFill>
                          <a:latin typeface="Calibri"/>
                        </a:defRPr>
                      </a:pPr>
                      <a:r>
                        <a:t>GAE λ</a:t>
                      </a:r>
                    </a:p>
                  </a:txBody>
                  <a:tcPr/>
                </a:tc>
                <a:tc>
                  <a:txBody>
                    <a:bodyPr/>
                    <a:lstStyle/>
                    <a:p>
                      <a:pPr>
                        <a:defRPr sz="1400">
                          <a:solidFill>
                            <a:srgbClr val="333333"/>
                          </a:solidFill>
                          <a:latin typeface="Calibri"/>
                        </a:defRPr>
                      </a:pPr>
                      <a:r>
                        <a:t>0.95</a:t>
                      </a:r>
                    </a:p>
                  </a:txBody>
                  <a:tcPr/>
                </a:tc>
              </a:tr>
              <a:tr h="419100">
                <a:tc>
                  <a:txBody>
                    <a:bodyPr/>
                    <a:lstStyle/>
                    <a:p>
                      <a:pPr>
                        <a:defRPr sz="1400">
                          <a:solidFill>
                            <a:srgbClr val="333333"/>
                          </a:solidFill>
                          <a:latin typeface="Calibri"/>
                        </a:defRPr>
                      </a:pPr>
                      <a:r>
                        <a:t>Clip range</a:t>
                      </a:r>
                    </a:p>
                  </a:txBody>
                  <a:tcPr/>
                </a:tc>
                <a:tc>
                  <a:txBody>
                    <a:bodyPr/>
                    <a:lstStyle/>
                    <a:p>
                      <a:pPr>
                        <a:defRPr sz="1400">
                          <a:solidFill>
                            <a:srgbClr val="333333"/>
                          </a:solidFill>
                          <a:latin typeface="Calibri"/>
                        </a:defRPr>
                      </a:pPr>
                      <a:r>
                        <a:t>0.2</a:t>
                      </a:r>
                    </a:p>
                  </a:txBody>
                  <a:tcPr/>
                </a:tc>
              </a:tr>
              <a:tr h="419100">
                <a:tc>
                  <a:txBody>
                    <a:bodyPr/>
                    <a:lstStyle/>
                    <a:p>
                      <a:pPr>
                        <a:defRPr sz="1400">
                          <a:solidFill>
                            <a:srgbClr val="333333"/>
                          </a:solidFill>
                          <a:latin typeface="Calibri"/>
                        </a:defRPr>
                      </a:pPr>
                      <a:r>
                        <a:t>Entropy coeff</a:t>
                      </a:r>
                    </a:p>
                  </a:txBody>
                  <a:tcPr/>
                </a:tc>
                <a:tc>
                  <a:txBody>
                    <a:bodyPr/>
                    <a:lstStyle/>
                    <a:p>
                      <a:pPr>
                        <a:defRPr sz="1400">
                          <a:solidFill>
                            <a:srgbClr val="333333"/>
                          </a:solidFill>
                          <a:latin typeface="Calibri"/>
                        </a:defRPr>
                      </a:pPr>
                      <a:r>
                        <a:t>0.02 (keeps the policy exploring)</a:t>
                      </a:r>
                    </a:p>
                  </a:txBody>
                  <a:tcPr/>
                </a:tc>
              </a:tr>
              <a:tr h="419100">
                <a:tc>
                  <a:txBody>
                    <a:bodyPr/>
                    <a:lstStyle/>
                    <a:p>
                      <a:pPr>
                        <a:defRPr sz="1400">
                          <a:solidFill>
                            <a:srgbClr val="333333"/>
                          </a:solidFill>
                          <a:latin typeface="Calibri"/>
                        </a:defRPr>
                      </a:pPr>
                      <a:r>
                        <a:t>VecNormalize</a:t>
                      </a:r>
                    </a:p>
                  </a:txBody>
                  <a:tcPr/>
                </a:tc>
                <a:tc>
                  <a:txBody>
                    <a:bodyPr/>
                    <a:lstStyle/>
                    <a:p>
                      <a:pPr>
                        <a:defRPr sz="1400">
                          <a:solidFill>
                            <a:srgbClr val="333333"/>
                          </a:solidFill>
                          <a:latin typeface="Calibri"/>
                        </a:defRPr>
                      </a:pPr>
                      <a:r>
                        <a:t>norm_obs=True, norm_reward=True</a:t>
                      </a:r>
                    </a:p>
                  </a:txBody>
                  <a:tcPr/>
                </a:tc>
              </a:tr>
              <a:tr h="419100">
                <a:tc>
                  <a:txBody>
                    <a:bodyPr/>
                    <a:lstStyle/>
                    <a:p>
                      <a:pPr>
                        <a:defRPr sz="1400">
                          <a:solidFill>
                            <a:srgbClr val="333333"/>
                          </a:solidFill>
                          <a:latin typeface="Calibri"/>
                        </a:defRPr>
                      </a:pPr>
                      <a:r>
                        <a:t>Envs / Device</a:t>
                      </a:r>
                    </a:p>
                  </a:txBody>
                  <a:tcPr/>
                </a:tc>
                <a:tc>
                  <a:txBody>
                    <a:bodyPr/>
                    <a:lstStyle/>
                    <a:p>
                      <a:pPr>
                        <a:defRPr sz="1400">
                          <a:solidFill>
                            <a:srgbClr val="333333"/>
                          </a:solidFill>
                          <a:latin typeface="Calibri"/>
                        </a:defRPr>
                      </a:pPr>
                      <a:r>
                        <a:t>4 (SubprocVecEnv) / CPU (2.5× faster than GPU)</a:t>
                      </a:r>
                    </a:p>
                  </a:txBody>
                  <a:tcPr/>
                </a:tc>
              </a:tr>
            </a:tbl>
          </a:graphicData>
        </a:graphic>
      </p:graphicFrame>
      <p:sp>
        <p:nvSpPr>
          <p:cNvPr id="5" name="Rectangle 4"/>
          <p:cNvSpPr/>
          <p:nvPr/>
        </p:nvSpPr>
        <p:spPr>
          <a:xfrm>
            <a:off x="6400800" y="1280160"/>
            <a:ext cx="5303520" cy="5029200"/>
          </a:xfrm>
          <a:prstGeom prst="rect">
            <a:avLst/>
          </a:prstGeom>
          <a:solidFill>
            <a:srgbClr val="F0F0F0"/>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0" y="1463040"/>
            <a:ext cx="4754880" cy="457200"/>
          </a:xfrm>
          <a:prstGeom prst="rect">
            <a:avLst/>
          </a:prstGeom>
          <a:noFill/>
        </p:spPr>
        <p:txBody>
          <a:bodyPr wrap="square">
            <a:spAutoFit/>
          </a:bodyPr>
          <a:lstStyle/>
          <a:p>
            <a:pPr algn="l">
              <a:defRPr sz="2200" b="1">
                <a:solidFill>
                  <a:srgbClr val="003366"/>
                </a:solidFill>
                <a:latin typeface="Calibri"/>
              </a:defRPr>
            </a:pPr>
            <a:r>
              <a:t>Training Runs</a:t>
            </a:r>
          </a:p>
        </p:txBody>
      </p:sp>
      <p:sp>
        <p:nvSpPr>
          <p:cNvPr id="7" name="TextBox 6"/>
          <p:cNvSpPr txBox="1"/>
          <p:nvPr/>
        </p:nvSpPr>
        <p:spPr>
          <a:xfrm>
            <a:off x="6675120" y="2011680"/>
            <a:ext cx="4754880" cy="4114800"/>
          </a:xfrm>
          <a:prstGeom prst="rect">
            <a:avLst/>
          </a:prstGeom>
          <a:noFill/>
        </p:spPr>
        <p:txBody>
          <a:bodyPr wrap="square">
            <a:spAutoFit/>
          </a:bodyPr>
          <a:lstStyle/>
          <a:p>
            <a:pPr>
              <a:spcAft>
                <a:spcPts val="600"/>
              </a:spcAft>
              <a:defRPr sz="1500">
                <a:solidFill>
                  <a:srgbClr val="333333"/>
                </a:solidFill>
                <a:latin typeface="Calibri"/>
              </a:defRPr>
            </a:pPr>
            <a:r>
              <a:t>1️⃣ Production policy: 1M steps, seed 42</a:t>
            </a:r>
          </a:p>
          <a:p>
            <a:pPr>
              <a:spcAft>
                <a:spcPts val="600"/>
              </a:spcAft>
              <a:defRPr sz="1500">
                <a:solidFill>
                  <a:srgbClr val="333333"/>
                </a:solidFill>
                <a:latin typeface="Calibri"/>
              </a:defRPr>
            </a:pPr>
            <a:r>
              <a:t>    --randomize --randomize-weight</a:t>
            </a:r>
          </a:p>
          <a:p>
            <a:pPr>
              <a:spcAft>
                <a:spcPts val="600"/>
              </a:spcAft>
              <a:defRPr sz="1500">
                <a:solidFill>
                  <a:srgbClr val="333333"/>
                </a:solidFill>
                <a:latin typeface="Calibri"/>
              </a:defRPr>
            </a:pPr>
            <a:r>
              <a:t>    → results/run_PPO_seed42/</a:t>
            </a:r>
          </a:p>
          <a:p>
            <a:pPr>
              <a:spcAft>
                <a:spcPts val="600"/>
              </a:spcAft>
              <a:defRPr sz="1500">
                <a:solidFill>
                  <a:srgbClr val="333333"/>
                </a:solidFill>
                <a:latin typeface="Calibri"/>
              </a:defRPr>
            </a:pPr>
          </a:p>
          <a:p>
            <a:pPr>
              <a:spcAft>
                <a:spcPts val="600"/>
              </a:spcAft>
              <a:defRPr sz="1500">
                <a:solidFill>
                  <a:srgbClr val="333333"/>
                </a:solidFill>
                <a:latin typeface="Calibri"/>
              </a:defRPr>
            </a:pPr>
            <a:r>
              <a:t>2️⃣ Ablation grid: 7 weights × 3 seeds = 21 policies</a:t>
            </a:r>
          </a:p>
          <a:p>
            <a:pPr>
              <a:spcAft>
                <a:spcPts val="600"/>
              </a:spcAft>
              <a:defRPr sz="1500">
                <a:solidFill>
                  <a:srgbClr val="333333"/>
                </a:solidFill>
                <a:latin typeface="Calibri"/>
              </a:defRPr>
            </a:pPr>
            <a:r>
              <a:t>    w₂ ∈ {0.0, 0.2, 0.4, 0.5, 0.6, 0.8, 1.0}</a:t>
            </a:r>
          </a:p>
          <a:p>
            <a:pPr>
              <a:spcAft>
                <a:spcPts val="600"/>
              </a:spcAft>
              <a:defRPr sz="1500">
                <a:solidFill>
                  <a:srgbClr val="333333"/>
                </a:solidFill>
                <a:latin typeface="Calibri"/>
              </a:defRPr>
            </a:pPr>
            <a:r>
              <a:t>    seeds {42, 43, 44}, 150k steps each</a:t>
            </a:r>
          </a:p>
          <a:p>
            <a:pPr>
              <a:spcAft>
                <a:spcPts val="600"/>
              </a:spcAft>
              <a:defRPr sz="1500">
                <a:solidFill>
                  <a:srgbClr val="333333"/>
                </a:solidFill>
                <a:latin typeface="Calibri"/>
              </a:defRPr>
            </a:pPr>
            <a:r>
              <a:t>    weight PINNED at training, evaluated at that</a:t>
            </a:r>
          </a:p>
          <a:p>
            <a:pPr>
              <a:spcAft>
                <a:spcPts val="600"/>
              </a:spcAft>
              <a:defRPr sz="1500">
                <a:solidFill>
                  <a:srgbClr val="333333"/>
                </a:solidFill>
                <a:latin typeface="Calibri"/>
              </a:defRPr>
            </a:pPr>
            <a:r>
              <a:t>    same weight</a:t>
            </a:r>
          </a:p>
          <a:p>
            <a:pPr>
              <a:spcAft>
                <a:spcPts val="600"/>
              </a:spcAft>
              <a:defRPr sz="1500">
                <a:solidFill>
                  <a:srgbClr val="333333"/>
                </a:solidFill>
                <a:latin typeface="Calibri"/>
              </a:defRPr>
            </a:pPr>
          </a:p>
          <a:p>
            <a:pPr>
              <a:spcAft>
                <a:spcPts val="600"/>
              </a:spcAft>
              <a:defRPr sz="1500">
                <a:solidFill>
                  <a:srgbClr val="333333"/>
                </a:solidFill>
                <a:latin typeface="Calibri"/>
              </a:defRPr>
            </a:pPr>
            <a:r>
              <a:t>3️⃣ Batch-aware policy: 1M steps on MillingDTBatchEnv-v1</a:t>
            </a:r>
          </a:p>
          <a:p>
            <a:pPr>
              <a:spcAft>
                <a:spcPts val="600"/>
              </a:spcAft>
              <a:defRPr sz="1500">
                <a:solidFill>
                  <a:srgbClr val="333333"/>
                </a:solidFill>
                <a:latin typeface="Calibri"/>
              </a:defRPr>
            </a:pPr>
          </a:p>
          <a:p>
            <a:pPr>
              <a:spcAft>
                <a:spcPts val="600"/>
              </a:spcAft>
              <a:defRPr sz="1500">
                <a:solidFill>
                  <a:srgbClr val="333333"/>
                </a:solidFill>
                <a:latin typeface="Calibri"/>
              </a:defRPr>
            </a:pPr>
            <a:r>
              <a:t>4️⃣ Noisy-measurement policy: 1M steps, --obs-noise 0.05</a:t>
            </a:r>
          </a:p>
          <a:p>
            <a:pPr>
              <a:spcAft>
                <a:spcPts val="600"/>
              </a:spcAft>
              <a:defRPr sz="1500">
                <a:solidFill>
                  <a:srgbClr val="333333"/>
                </a:solidFill>
                <a:latin typeface="Calibri"/>
              </a:defRPr>
            </a:pPr>
          </a:p>
          <a:p>
            <a:pPr>
              <a:spcAft>
                <a:spcPts val="600"/>
              </a:spcAft>
              <a:defRPr sz="1500">
                <a:solidFill>
                  <a:srgbClr val="333333"/>
                </a:solidFill>
                <a:latin typeface="Calibri"/>
              </a:defRPr>
            </a:pPr>
            <a:r>
              <a:t>Heartbeat callback: queue signal every 1000 steps</a:t>
            </a:r>
          </a:p>
          <a:p>
            <a:pPr>
              <a:spcAft>
                <a:spcPts val="600"/>
              </a:spcAft>
              <a:defRPr sz="1500">
                <a:solidFill>
                  <a:srgbClr val="333333"/>
                </a:solidFill>
                <a:latin typeface="Calibri"/>
              </a:defRPr>
            </a:pPr>
            <a:r>
              <a:t>→ stall detection in run_experiments.py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Results: Production Policy, Monte Carlo Sweep (100 Scenarios)</a:t>
            </a:r>
          </a:p>
        </p:txBody>
      </p:sp>
      <p:graphicFrame>
        <p:nvGraphicFramePr>
          <p:cNvPr id="4" name="Table 3"/>
          <p:cNvGraphicFramePr>
            <a:graphicFrameLocks noGrp="1"/>
          </p:cNvGraphicFramePr>
          <p:nvPr/>
        </p:nvGraphicFramePr>
        <p:xfrm>
          <a:off x="320040" y="1280160"/>
          <a:ext cx="6035040" cy="1828800"/>
        </p:xfrm>
        <a:graphic>
          <a:graphicData uri="http://schemas.openxmlformats.org/drawingml/2006/table">
            <a:tbl>
              <a:tblPr firstRow="1" bandRow="1">
                <a:tableStyleId>{5C22544A-7EE6-4342-B048-85BDC9FD1C3A}</a:tableStyleId>
              </a:tblPr>
              <a:tblGrid>
                <a:gridCol w="2651760"/>
                <a:gridCol w="1097280"/>
                <a:gridCol w="1097280"/>
                <a:gridCol w="1188720"/>
              </a:tblGrid>
              <a:tr h="304800">
                <a:tc>
                  <a:txBody>
                    <a:bodyPr/>
                    <a:lstStyle/>
                    <a:p>
                      <a:pPr algn="ctr">
                        <a:defRPr sz="1300" b="1">
                          <a:solidFill>
                            <a:srgbClr val="FFFFFF"/>
                          </a:solidFill>
                          <a:latin typeface="Calibri"/>
                        </a:defRPr>
                      </a:pPr>
                      <a:r>
                        <a:t>Metric</a:t>
                      </a:r>
                    </a:p>
                  </a:txBody>
                  <a:tcPr>
                    <a:solidFill>
                      <a:srgbClr val="003366"/>
                    </a:solidFill>
                  </a:tcPr>
                </a:tc>
                <a:tc>
                  <a:txBody>
                    <a:bodyPr/>
                    <a:lstStyle/>
                    <a:p>
                      <a:pPr algn="ctr">
                        <a:defRPr sz="1300" b="1">
                          <a:solidFill>
                            <a:srgbClr val="FFFFFF"/>
                          </a:solidFill>
                          <a:latin typeface="Calibri"/>
                        </a:defRPr>
                      </a:pPr>
                      <a:r>
                        <a:t>Mean</a:t>
                      </a:r>
                    </a:p>
                  </a:txBody>
                  <a:tcPr>
                    <a:solidFill>
                      <a:srgbClr val="003366"/>
                    </a:solidFill>
                  </a:tcPr>
                </a:tc>
                <a:tc>
                  <a:txBody>
                    <a:bodyPr/>
                    <a:lstStyle/>
                    <a:p>
                      <a:pPr algn="ctr">
                        <a:defRPr sz="1300" b="1">
                          <a:solidFill>
                            <a:srgbClr val="FFFFFF"/>
                          </a:solidFill>
                          <a:latin typeface="Calibri"/>
                        </a:defRPr>
                      </a:pPr>
                      <a:r>
                        <a:t>Std</a:t>
                      </a:r>
                    </a:p>
                  </a:txBody>
                  <a:tcPr>
                    <a:solidFill>
                      <a:srgbClr val="003366"/>
                    </a:solidFill>
                  </a:tcPr>
                </a:tc>
                <a:tc>
                  <a:txBody>
                    <a:bodyPr/>
                    <a:lstStyle/>
                    <a:p>
                      <a:pPr algn="ctr">
                        <a:defRPr sz="1300" b="1">
                          <a:solidFill>
                            <a:srgbClr val="FFFFFF"/>
                          </a:solidFill>
                          <a:latin typeface="Calibri"/>
                        </a:defRPr>
                      </a:pPr>
                      <a:r>
                        <a:t>95% CI</a:t>
                      </a:r>
                    </a:p>
                  </a:txBody>
                  <a:tcPr>
                    <a:solidFill>
                      <a:srgbClr val="003366"/>
                    </a:solidFill>
                  </a:tcPr>
                </a:tc>
              </a:tr>
              <a:tr h="304800">
                <a:tc>
                  <a:txBody>
                    <a:bodyPr/>
                    <a:lstStyle/>
                    <a:p>
                      <a:pPr algn="ctr">
                        <a:defRPr sz="1300">
                          <a:solidFill>
                            <a:srgbClr val="333333"/>
                          </a:solidFill>
                          <a:latin typeface="Calibri"/>
                        </a:defRPr>
                      </a:pPr>
                      <a:r>
                        <a:t>MRR (mm³/min)</a:t>
                      </a:r>
                    </a:p>
                  </a:txBody>
                  <a:tcPr/>
                </a:tc>
                <a:tc>
                  <a:txBody>
                    <a:bodyPr/>
                    <a:lstStyle/>
                    <a:p>
                      <a:pPr algn="ctr">
                        <a:defRPr sz="1300">
                          <a:solidFill>
                            <a:srgbClr val="333333"/>
                          </a:solidFill>
                          <a:latin typeface="Calibri"/>
                        </a:defRPr>
                      </a:pPr>
                      <a:r>
                        <a:t>1608.5</a:t>
                      </a:r>
                    </a:p>
                  </a:txBody>
                  <a:tcPr/>
                </a:tc>
                <a:tc>
                  <a:txBody>
                    <a:bodyPr/>
                    <a:lstStyle/>
                    <a:p>
                      <a:pPr algn="ctr">
                        <a:defRPr sz="1300">
                          <a:solidFill>
                            <a:srgbClr val="333333"/>
                          </a:solidFill>
                          <a:latin typeface="Calibri"/>
                        </a:defRPr>
                      </a:pPr>
                      <a:r>
                        <a:t>550.7</a:t>
                      </a:r>
                    </a:p>
                  </a:txBody>
                  <a:tcPr/>
                </a:tc>
                <a:tc>
                  <a:txBody>
                    <a:bodyPr/>
                    <a:lstStyle/>
                    <a:p>
                      <a:pPr algn="ctr">
                        <a:defRPr sz="1300">
                          <a:solidFill>
                            <a:srgbClr val="333333"/>
                          </a:solidFill>
                          <a:latin typeface="Calibri"/>
                        </a:defRPr>
                      </a:pPr>
                      <a:r>
                        <a:t>[1499.2, 1717.8]</a:t>
                      </a:r>
                    </a:p>
                  </a:txBody>
                  <a:tcPr/>
                </a:tc>
              </a:tr>
              <a:tr h="304800">
                <a:tc>
                  <a:txBody>
                    <a:bodyPr/>
                    <a:lstStyle/>
                    <a:p>
                      <a:pPr algn="ctr">
                        <a:defRPr sz="1300">
                          <a:solidFill>
                            <a:srgbClr val="333333"/>
                          </a:solidFill>
                          <a:latin typeface="Calibri"/>
                        </a:defRPr>
                      </a:pPr>
                      <a:r>
                        <a:t>Energy/part (kJ)</a:t>
                      </a:r>
                    </a:p>
                  </a:txBody>
                  <a:tcPr/>
                </a:tc>
                <a:tc>
                  <a:txBody>
                    <a:bodyPr/>
                    <a:lstStyle/>
                    <a:p>
                      <a:pPr algn="ctr">
                        <a:defRPr sz="1300">
                          <a:solidFill>
                            <a:srgbClr val="333333"/>
                          </a:solidFill>
                          <a:latin typeface="Calibri"/>
                        </a:defRPr>
                      </a:pPr>
                      <a:r>
                        <a:t>66.4</a:t>
                      </a:r>
                    </a:p>
                  </a:txBody>
                  <a:tcPr/>
                </a:tc>
                <a:tc>
                  <a:txBody>
                    <a:bodyPr/>
                    <a:lstStyle/>
                    <a:p>
                      <a:pPr algn="ctr">
                        <a:defRPr sz="1300">
                          <a:solidFill>
                            <a:srgbClr val="333333"/>
                          </a:solidFill>
                          <a:latin typeface="Calibri"/>
                        </a:defRPr>
                      </a:pPr>
                      <a:r>
                        <a:t>48.0</a:t>
                      </a:r>
                    </a:p>
                  </a:txBody>
                  <a:tcPr/>
                </a:tc>
                <a:tc>
                  <a:txBody>
                    <a:bodyPr/>
                    <a:lstStyle/>
                    <a:p>
                      <a:pPr algn="ctr">
                        <a:defRPr sz="1300">
                          <a:solidFill>
                            <a:srgbClr val="333333"/>
                          </a:solidFill>
                          <a:latin typeface="Calibri"/>
                        </a:defRPr>
                      </a:pPr>
                      <a:r>
                        <a:t>[56.9, 75.9]</a:t>
                      </a:r>
                    </a:p>
                  </a:txBody>
                  <a:tcPr/>
                </a:tc>
              </a:tr>
              <a:tr h="304800">
                <a:tc>
                  <a:txBody>
                    <a:bodyPr/>
                    <a:lstStyle/>
                    <a:p>
                      <a:pPr algn="ctr">
                        <a:defRPr sz="1300">
                          <a:solidFill>
                            <a:srgbClr val="333333"/>
                          </a:solidFill>
                          <a:latin typeface="Calibri"/>
                        </a:defRPr>
                      </a:pPr>
                      <a:r>
                        <a:t>Cycle time (s)</a:t>
                      </a:r>
                    </a:p>
                  </a:txBody>
                  <a:tcPr/>
                </a:tc>
                <a:tc>
                  <a:txBody>
                    <a:bodyPr/>
                    <a:lstStyle/>
                    <a:p>
                      <a:pPr algn="ctr">
                        <a:defRPr sz="1300">
                          <a:solidFill>
                            <a:srgbClr val="333333"/>
                          </a:solidFill>
                          <a:latin typeface="Calibri"/>
                        </a:defRPr>
                      </a:pPr>
                      <a:r>
                        <a:t>11.4</a:t>
                      </a:r>
                    </a:p>
                  </a:txBody>
                  <a:tcPr/>
                </a:tc>
                <a:tc>
                  <a:txBody>
                    <a:bodyPr/>
                    <a:lstStyle/>
                    <a:p>
                      <a:pPr algn="ctr">
                        <a:defRPr sz="1300">
                          <a:solidFill>
                            <a:srgbClr val="333333"/>
                          </a:solidFill>
                          <a:latin typeface="Calibri"/>
                        </a:defRPr>
                      </a:pPr>
                      <a:r>
                        <a:t>6.9</a:t>
                      </a:r>
                    </a:p>
                  </a:txBody>
                  <a:tcPr/>
                </a:tc>
                <a:tc>
                  <a:txBody>
                    <a:bodyPr/>
                    <a:lstStyle/>
                    <a:p>
                      <a:pPr algn="ctr">
                        <a:defRPr sz="1300">
                          <a:solidFill>
                            <a:srgbClr val="333333"/>
                          </a:solidFill>
                          <a:latin typeface="Calibri"/>
                        </a:defRPr>
                      </a:pPr>
                      <a:r>
                        <a:t>[10.1, 12.8]</a:t>
                      </a:r>
                    </a:p>
                  </a:txBody>
                  <a:tcPr/>
                </a:tc>
              </a:tr>
              <a:tr h="304800">
                <a:tc>
                  <a:txBody>
                    <a:bodyPr/>
                    <a:lstStyle/>
                    <a:p>
                      <a:pPr algn="ctr">
                        <a:defRPr sz="1300">
                          <a:solidFill>
                            <a:srgbClr val="333333"/>
                          </a:solidFill>
                          <a:latin typeface="Calibri"/>
                        </a:defRPr>
                      </a:pPr>
                      <a:r>
                        <a:t>Max R_a (μm)</a:t>
                      </a:r>
                    </a:p>
                  </a:txBody>
                  <a:tcPr/>
                </a:tc>
                <a:tc>
                  <a:txBody>
                    <a:bodyPr/>
                    <a:lstStyle/>
                    <a:p>
                      <a:pPr algn="ctr">
                        <a:defRPr sz="1300">
                          <a:solidFill>
                            <a:srgbClr val="333333"/>
                          </a:solidFill>
                          <a:latin typeface="Calibri"/>
                        </a:defRPr>
                      </a:pPr>
                      <a:r>
                        <a:t>1.610</a:t>
                      </a:r>
                    </a:p>
                  </a:txBody>
                  <a:tcPr/>
                </a:tc>
                <a:tc>
                  <a:txBody>
                    <a:bodyPr/>
                    <a:lstStyle/>
                    <a:p>
                      <a:pPr algn="ctr">
                        <a:defRPr sz="1300">
                          <a:solidFill>
                            <a:srgbClr val="333333"/>
                          </a:solidFill>
                          <a:latin typeface="Calibri"/>
                        </a:defRPr>
                      </a:pPr>
                      <a:r>
                        <a:t>0.178</a:t>
                      </a:r>
                    </a:p>
                  </a:txBody>
                  <a:tcPr/>
                </a:tc>
                <a:tc>
                  <a:txBody>
                    <a:bodyPr/>
                    <a:lstStyle/>
                    <a:p>
                      <a:pPr algn="ctr">
                        <a:defRPr sz="1300">
                          <a:solidFill>
                            <a:srgbClr val="333333"/>
                          </a:solidFill>
                          <a:latin typeface="Calibri"/>
                        </a:defRPr>
                      </a:pPr>
                      <a:r>
                        <a:t>[1.575, 1.645]</a:t>
                      </a:r>
                    </a:p>
                  </a:txBody>
                  <a:tcPr/>
                </a:tc>
              </a:tr>
              <a:tr h="304800">
                <a:tc>
                  <a:txBody>
                    <a:bodyPr/>
                    <a:lstStyle/>
                    <a:p>
                      <a:pPr algn="ctr">
                        <a:defRPr sz="1300">
                          <a:solidFill>
                            <a:srgbClr val="333333"/>
                          </a:solidFill>
                          <a:latin typeface="Calibri"/>
                        </a:defRPr>
                      </a:pPr>
                      <a:r>
                        <a:t>Max V_B (mm)</a:t>
                      </a:r>
                    </a:p>
                  </a:txBody>
                  <a:tcPr/>
                </a:tc>
                <a:tc>
                  <a:txBody>
                    <a:bodyPr/>
                    <a:lstStyle/>
                    <a:p>
                      <a:pPr algn="ctr">
                        <a:defRPr sz="1300">
                          <a:solidFill>
                            <a:srgbClr val="333333"/>
                          </a:solidFill>
                          <a:latin typeface="Calibri"/>
                        </a:defRPr>
                      </a:pPr>
                      <a:r>
                        <a:t>0.1407</a:t>
                      </a:r>
                    </a:p>
                  </a:txBody>
                  <a:tcPr/>
                </a:tc>
                <a:tc>
                  <a:txBody>
                    <a:bodyPr/>
                    <a:lstStyle/>
                    <a:p>
                      <a:pPr algn="ctr">
                        <a:defRPr sz="1300">
                          <a:solidFill>
                            <a:srgbClr val="333333"/>
                          </a:solidFill>
                          <a:latin typeface="Calibri"/>
                        </a:defRPr>
                      </a:pPr>
                      <a:r>
                        <a:t>0.0672</a:t>
                      </a:r>
                    </a:p>
                  </a:txBody>
                  <a:tcPr/>
                </a:tc>
                <a:tc>
                  <a:txBody>
                    <a:bodyPr/>
                    <a:lstStyle/>
                    <a:p>
                      <a:pPr algn="ctr">
                        <a:defRPr sz="1300">
                          <a:solidFill>
                            <a:srgbClr val="333333"/>
                          </a:solidFill>
                          <a:latin typeface="Calibri"/>
                        </a:defRPr>
                      </a:pPr>
                      <a:r>
                        <a:t>[0.1274, 0.1540]</a:t>
                      </a:r>
                    </a:p>
                  </a:txBody>
                  <a:tcPr/>
                </a:tc>
              </a:tr>
            </a:tbl>
          </a:graphicData>
        </a:graphic>
      </p:graphicFrame>
      <p:graphicFrame>
        <p:nvGraphicFramePr>
          <p:cNvPr id="5" name="Table 4"/>
          <p:cNvGraphicFramePr>
            <a:graphicFrameLocks noGrp="1"/>
          </p:cNvGraphicFramePr>
          <p:nvPr/>
        </p:nvGraphicFramePr>
        <p:xfrm>
          <a:off x="6492240" y="1280160"/>
          <a:ext cx="5394960" cy="2377440"/>
        </p:xfrm>
        <a:graphic>
          <a:graphicData uri="http://schemas.openxmlformats.org/drawingml/2006/table">
            <a:tbl>
              <a:tblPr firstRow="1" bandRow="1">
                <a:tableStyleId>{5C22544A-7EE6-4342-B048-85BDC9FD1C3A}</a:tableStyleId>
              </a:tblPr>
              <a:tblGrid>
                <a:gridCol w="3108960"/>
                <a:gridCol w="914400"/>
                <a:gridCol w="1371600"/>
              </a:tblGrid>
              <a:tr h="297180">
                <a:tc>
                  <a:txBody>
                    <a:bodyPr/>
                    <a:lstStyle/>
                    <a:p>
                      <a:pPr algn="ctr">
                        <a:defRPr sz="1300" b="1">
                          <a:solidFill>
                            <a:srgbClr val="FFFFFF"/>
                          </a:solidFill>
                          <a:latin typeface="Calibri"/>
                        </a:defRPr>
                      </a:pPr>
                      <a:r>
                        <a:t>Constraint</a:t>
                      </a:r>
                    </a:p>
                  </a:txBody>
                  <a:tcPr>
                    <a:solidFill>
                      <a:srgbClr val="003366"/>
                    </a:solidFill>
                  </a:tcPr>
                </a:tc>
                <a:tc>
                  <a:txBody>
                    <a:bodyPr/>
                    <a:lstStyle/>
                    <a:p>
                      <a:pPr algn="ctr">
                        <a:defRPr sz="1300" b="1">
                          <a:solidFill>
                            <a:srgbClr val="FFFFFF"/>
                          </a:solidFill>
                          <a:latin typeface="Calibri"/>
                        </a:defRPr>
                      </a:pPr>
                      <a:r>
                        <a:t>Rate</a:t>
                      </a:r>
                    </a:p>
                  </a:txBody>
                  <a:tcPr>
                    <a:solidFill>
                      <a:srgbClr val="003366"/>
                    </a:solidFill>
                  </a:tcPr>
                </a:tc>
                <a:tc>
                  <a:txBody>
                    <a:bodyPr/>
                    <a:lstStyle/>
                    <a:p>
                      <a:pPr algn="ctr">
                        <a:defRPr sz="1300" b="1">
                          <a:solidFill>
                            <a:srgbClr val="FFFFFF"/>
                          </a:solidFill>
                          <a:latin typeface="Calibri"/>
                        </a:defRPr>
                      </a:pPr>
                      <a:r>
                        <a:t>95% CI</a:t>
                      </a:r>
                    </a:p>
                  </a:txBody>
                  <a:tcPr>
                    <a:solidFill>
                      <a:srgbClr val="003366"/>
                    </a:solidFill>
                  </a:tcPr>
                </a:tc>
              </a:tr>
              <a:tr h="297180">
                <a:tc>
                  <a:txBody>
                    <a:bodyPr/>
                    <a:lstStyle/>
                    <a:p>
                      <a:pPr algn="ctr">
                        <a:defRPr sz="1300">
                          <a:solidFill>
                            <a:srgbClr val="333333"/>
                          </a:solidFill>
                          <a:latin typeface="Calibri"/>
                        </a:defRPr>
                      </a:pPr>
                      <a:r>
                        <a:t>R_a viol., worst pass</a:t>
                      </a:r>
                    </a:p>
                  </a:txBody>
                  <a:tcPr/>
                </a:tc>
                <a:tc>
                  <a:txBody>
                    <a:bodyPr/>
                    <a:lstStyle/>
                    <a:p>
                      <a:pPr algn="ctr">
                        <a:defRPr sz="1300">
                          <a:solidFill>
                            <a:srgbClr val="333333"/>
                          </a:solidFill>
                          <a:latin typeface="Calibri"/>
                        </a:defRPr>
                      </a:pPr>
                      <a:r>
                        <a:t>55.0%</a:t>
                      </a:r>
                    </a:p>
                  </a:txBody>
                  <a:tcPr/>
                </a:tc>
                <a:tc>
                  <a:txBody>
                    <a:bodyPr/>
                    <a:lstStyle/>
                    <a:p>
                      <a:pPr algn="ctr">
                        <a:defRPr sz="1300">
                          <a:solidFill>
                            <a:srgbClr val="333333"/>
                          </a:solidFill>
                          <a:latin typeface="Calibri"/>
                        </a:defRPr>
                      </a:pPr>
                      <a:r>
                        <a:t>[45.2, 64.8]%</a:t>
                      </a:r>
                    </a:p>
                  </a:txBody>
                  <a:tcPr/>
                </a:tc>
              </a:tr>
              <a:tr h="297180">
                <a:tc>
                  <a:txBody>
                    <a:bodyPr/>
                    <a:lstStyle/>
                    <a:p>
                      <a:pPr algn="ctr">
                        <a:defRPr sz="1300">
                          <a:solidFill>
                            <a:srgbClr val="333333"/>
                          </a:solidFill>
                          <a:latin typeface="Calibri"/>
                        </a:defRPr>
                      </a:pPr>
                      <a:r>
                        <a:t>R_a viol., finished surface</a:t>
                      </a:r>
                    </a:p>
                  </a:txBody>
                  <a:tcPr/>
                </a:tc>
                <a:tc>
                  <a:txBody>
                    <a:bodyPr/>
                    <a:lstStyle/>
                    <a:p>
                      <a:pPr algn="ctr">
                        <a:defRPr sz="1300">
                          <a:solidFill>
                            <a:srgbClr val="333333"/>
                          </a:solidFill>
                          <a:latin typeface="Calibri"/>
                        </a:defRPr>
                      </a:pPr>
                      <a:r>
                        <a:t>4.0%</a:t>
                      </a:r>
                    </a:p>
                  </a:txBody>
                  <a:tcPr/>
                </a:tc>
                <a:tc>
                  <a:txBody>
                    <a:bodyPr/>
                    <a:lstStyle/>
                    <a:p>
                      <a:pPr algn="ctr">
                        <a:defRPr sz="1300">
                          <a:solidFill>
                            <a:srgbClr val="333333"/>
                          </a:solidFill>
                          <a:latin typeface="Calibri"/>
                        </a:defRPr>
                      </a:pPr>
                      <a:r>
                        <a:t>[0.2, 7.8]%</a:t>
                      </a:r>
                    </a:p>
                  </a:txBody>
                  <a:tcPr/>
                </a:tc>
              </a:tr>
              <a:tr h="297180">
                <a:tc>
                  <a:txBody>
                    <a:bodyPr/>
                    <a:lstStyle/>
                    <a:p>
                      <a:pPr algn="ctr">
                        <a:defRPr sz="1300">
                          <a:solidFill>
                            <a:srgbClr val="333333"/>
                          </a:solidFill>
                          <a:latin typeface="Calibri"/>
                        </a:defRPr>
                      </a:pPr>
                      <a:r>
                        <a:t>R_a above safety limit, worst</a:t>
                      </a:r>
                    </a:p>
                  </a:txBody>
                  <a:tcPr/>
                </a:tc>
                <a:tc>
                  <a:txBody>
                    <a:bodyPr/>
                    <a:lstStyle/>
                    <a:p>
                      <a:pPr algn="ctr">
                        <a:defRPr sz="1300">
                          <a:solidFill>
                            <a:srgbClr val="333333"/>
                          </a:solidFill>
                          <a:latin typeface="Calibri"/>
                        </a:defRPr>
                      </a:pPr>
                      <a:r>
                        <a:t>87.0%</a:t>
                      </a:r>
                    </a:p>
                  </a:txBody>
                  <a:tcPr/>
                </a:tc>
                <a:tc>
                  <a:txBody>
                    <a:bodyPr/>
                    <a:lstStyle/>
                    <a:p>
                      <a:pPr algn="ctr">
                        <a:defRPr sz="1300">
                          <a:solidFill>
                            <a:srgbClr val="333333"/>
                          </a:solidFill>
                          <a:latin typeface="Calibri"/>
                        </a:defRPr>
                      </a:pPr>
                      <a:r>
                        <a:t>[80.4, 93.6]%</a:t>
                      </a:r>
                    </a:p>
                  </a:txBody>
                  <a:tcPr/>
                </a:tc>
              </a:tr>
              <a:tr h="297180">
                <a:tc>
                  <a:txBody>
                    <a:bodyPr/>
                    <a:lstStyle/>
                    <a:p>
                      <a:pPr algn="ctr">
                        <a:defRPr sz="1300">
                          <a:solidFill>
                            <a:srgbClr val="333333"/>
                          </a:solidFill>
                          <a:latin typeface="Calibri"/>
                        </a:defRPr>
                      </a:pPr>
                      <a:r>
                        <a:t>R_a above safety limit, finished</a:t>
                      </a:r>
                    </a:p>
                  </a:txBody>
                  <a:tcPr/>
                </a:tc>
                <a:tc>
                  <a:txBody>
                    <a:bodyPr/>
                    <a:lstStyle/>
                    <a:p>
                      <a:pPr algn="ctr">
                        <a:defRPr sz="1300">
                          <a:solidFill>
                            <a:srgbClr val="333333"/>
                          </a:solidFill>
                          <a:latin typeface="Calibri"/>
                        </a:defRPr>
                      </a:pPr>
                      <a:r>
                        <a:t>4.0%</a:t>
                      </a:r>
                    </a:p>
                  </a:txBody>
                  <a:tcPr/>
                </a:tc>
                <a:tc>
                  <a:txBody>
                    <a:bodyPr/>
                    <a:lstStyle/>
                    <a:p>
                      <a:pPr algn="ctr">
                        <a:defRPr sz="1300">
                          <a:solidFill>
                            <a:srgbClr val="333333"/>
                          </a:solidFill>
                          <a:latin typeface="Calibri"/>
                        </a:defRPr>
                      </a:pPr>
                      <a:r>
                        <a:t>[0.2, 7.8]%</a:t>
                      </a:r>
                    </a:p>
                  </a:txBody>
                  <a:tcPr/>
                </a:tc>
              </a:tr>
              <a:tr h="297180">
                <a:tc>
                  <a:txBody>
                    <a:bodyPr/>
                    <a:lstStyle/>
                    <a:p>
                      <a:pPr algn="ctr">
                        <a:defRPr sz="1300">
                          <a:solidFill>
                            <a:srgbClr val="333333"/>
                          </a:solidFill>
                          <a:latin typeface="Calibri"/>
                        </a:defRPr>
                      </a:pPr>
                      <a:r>
                        <a:t>Flank wear violations (V_B &gt; 0.3)</a:t>
                      </a:r>
                    </a:p>
                  </a:txBody>
                  <a:tcPr/>
                </a:tc>
                <a:tc>
                  <a:txBody>
                    <a:bodyPr/>
                    <a:lstStyle/>
                    <a:p>
                      <a:pPr algn="ctr">
                        <a:defRPr sz="1300">
                          <a:solidFill>
                            <a:srgbClr val="333333"/>
                          </a:solidFill>
                          <a:latin typeface="Calibri"/>
                        </a:defRPr>
                      </a:pPr>
                      <a:r>
                        <a:t>0.0%</a:t>
                      </a:r>
                    </a:p>
                  </a:txBody>
                  <a:tcPr/>
                </a:tc>
                <a:tc>
                  <a:txBody>
                    <a:bodyPr/>
                    <a:lstStyle/>
                    <a:p>
                      <a:pPr algn="ctr">
                        <a:defRPr sz="1300">
                          <a:solidFill>
                            <a:srgbClr val="333333"/>
                          </a:solidFill>
                          <a:latin typeface="Calibri"/>
                        </a:defRPr>
                      </a:pPr>
                      <a:r>
                        <a:t>[0, 0]%</a:t>
                      </a:r>
                    </a:p>
                  </a:txBody>
                  <a:tcPr/>
                </a:tc>
              </a:tr>
              <a:tr h="297180">
                <a:tc>
                  <a:txBody>
                    <a:bodyPr/>
                    <a:lstStyle/>
                    <a:p>
                      <a:pPr algn="ctr">
                        <a:defRPr sz="1300">
                          <a:solidFill>
                            <a:srgbClr val="333333"/>
                          </a:solidFill>
                          <a:latin typeface="Calibri"/>
                        </a:defRPr>
                      </a:pPr>
                      <a:r>
                        <a:t>Tool breakage</a:t>
                      </a:r>
                    </a:p>
                  </a:txBody>
                  <a:tcPr/>
                </a:tc>
                <a:tc>
                  <a:txBody>
                    <a:bodyPr/>
                    <a:lstStyle/>
                    <a:p>
                      <a:pPr algn="ctr">
                        <a:defRPr sz="1300">
                          <a:solidFill>
                            <a:srgbClr val="333333"/>
                          </a:solidFill>
                          <a:latin typeface="Calibri"/>
                        </a:defRPr>
                      </a:pPr>
                      <a:r>
                        <a:t>6.0%</a:t>
                      </a:r>
                    </a:p>
                  </a:txBody>
                  <a:tcPr/>
                </a:tc>
                <a:tc>
                  <a:txBody>
                    <a:bodyPr/>
                    <a:lstStyle/>
                    <a:p>
                      <a:pPr algn="ctr">
                        <a:defRPr sz="1300">
                          <a:solidFill>
                            <a:srgbClr val="333333"/>
                          </a:solidFill>
                          <a:latin typeface="Calibri"/>
                        </a:defRPr>
                      </a:pPr>
                      <a:r>
                        <a:t>[1.3, 10.7]%</a:t>
                      </a:r>
                    </a:p>
                  </a:txBody>
                  <a:tcPr/>
                </a:tc>
              </a:tr>
              <a:tr h="297180">
                <a:tc>
                  <a:txBody>
                    <a:bodyPr/>
                    <a:lstStyle/>
                    <a:p>
                      <a:pPr algn="ctr">
                        <a:defRPr sz="1300">
                          <a:solidFill>
                            <a:srgbClr val="333333"/>
                          </a:solidFill>
                          <a:latin typeface="Calibri"/>
                        </a:defRPr>
                      </a:pPr>
                      <a:r>
                        <a:t>Parts completed in spec</a:t>
                      </a:r>
                    </a:p>
                  </a:txBody>
                  <a:tcPr/>
                </a:tc>
                <a:tc>
                  <a:txBody>
                    <a:bodyPr/>
                    <a:lstStyle/>
                    <a:p>
                      <a:pPr algn="ctr">
                        <a:defRPr sz="1300">
                          <a:solidFill>
                            <a:srgbClr val="333333"/>
                          </a:solidFill>
                          <a:latin typeface="Calibri"/>
                        </a:defRPr>
                      </a:pPr>
                      <a:r>
                        <a:t>94.0%</a:t>
                      </a:r>
                    </a:p>
                  </a:txBody>
                  <a:tcPr/>
                </a:tc>
                <a:tc>
                  <a:txBody>
                    <a:bodyPr/>
                    <a:lstStyle/>
                    <a:p>
                      <a:pPr algn="ctr">
                        <a:defRPr sz="1300">
                          <a:solidFill>
                            <a:srgbClr val="333333"/>
                          </a:solidFill>
                          <a:latin typeface="Calibri"/>
                        </a:defRPr>
                      </a:pPr>
                    </a:p>
                  </a:txBody>
                  <a:tcPr/>
                </a:tc>
              </a:tr>
            </a:tbl>
          </a:graphicData>
        </a:graphic>
      </p:graphicFrame>
      <p:sp>
        <p:nvSpPr>
          <p:cNvPr id="6" name="Rectangle 5"/>
          <p:cNvSpPr/>
          <p:nvPr/>
        </p:nvSpPr>
        <p:spPr>
          <a:xfrm>
            <a:off x="457200" y="3977639"/>
            <a:ext cx="11247120" cy="2377440"/>
          </a:xfrm>
          <a:prstGeom prst="rect">
            <a:avLst/>
          </a:prstGeom>
          <a:solidFill>
            <a:srgbClr val="E6F5E6"/>
          </a:solidFill>
          <a:ln w="25400">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114800"/>
            <a:ext cx="10698480" cy="457200"/>
          </a:xfrm>
          <a:prstGeom prst="rect">
            <a:avLst/>
          </a:prstGeom>
          <a:noFill/>
        </p:spPr>
        <p:txBody>
          <a:bodyPr wrap="square">
            <a:spAutoFit/>
          </a:bodyPr>
          <a:lstStyle/>
          <a:p>
            <a:pPr algn="l">
              <a:defRPr sz="2200" b="1">
                <a:solidFill>
                  <a:srgbClr val="008000"/>
                </a:solidFill>
                <a:latin typeface="Calibri"/>
              </a:defRPr>
            </a:pPr>
            <a:r>
              <a:t>✅ Key Findings</a:t>
            </a:r>
          </a:p>
        </p:txBody>
      </p:sp>
      <p:sp>
        <p:nvSpPr>
          <p:cNvPr id="8" name="TextBox 7"/>
          <p:cNvSpPr txBox="1"/>
          <p:nvPr/>
        </p:nvSpPr>
        <p:spPr>
          <a:xfrm>
            <a:off x="731520" y="4663440"/>
            <a:ext cx="10698480" cy="1554480"/>
          </a:xfrm>
          <a:prstGeom prst="rect">
            <a:avLst/>
          </a:prstGeom>
          <a:noFill/>
        </p:spPr>
        <p:txBody>
          <a:bodyPr wrap="square">
            <a:spAutoFit/>
          </a:bodyPr>
          <a:lstStyle/>
          <a:p>
            <a:pPr>
              <a:spcAft>
                <a:spcPts val="400"/>
              </a:spcAft>
              <a:defRPr sz="1500">
                <a:solidFill>
                  <a:srgbClr val="333333"/>
                </a:solidFill>
                <a:latin typeface="Calibri"/>
              </a:defRPr>
            </a:pPr>
            <a:r>
              <a:t>• A much more aggressive operator than under the old reward: 1608.5 mm³/min against 1205.2, and 11.4 s per part against 20.3 s</a:t>
            </a:r>
          </a:p>
          <a:p>
            <a:pPr>
              <a:spcAft>
                <a:spcPts val="400"/>
              </a:spcAft>
              <a:defRPr sz="1500">
                <a:solidFill>
                  <a:srgbClr val="333333"/>
                </a:solidFill>
                <a:latin typeface="Calibri"/>
              </a:defRPr>
            </a:pPr>
            <a:r>
              <a:t>• The price is paid in the tool and in the part quality: 6.0% tool breakage and 4.0% of the finished surfaces outside the roughness limit</a:t>
            </a:r>
          </a:p>
          <a:p>
            <a:pPr>
              <a:spcAft>
                <a:spcPts val="400"/>
              </a:spcAft>
              <a:defRPr sz="1500">
                <a:solidFill>
                  <a:srgbClr val="333333"/>
                </a:solidFill>
                <a:latin typeface="Calibri"/>
              </a:defRPr>
            </a:pPr>
            <a:r>
              <a:t>• The roughing passes are rough: 87% of the worst passes are above the safety margin, 55% above the hard limit</a:t>
            </a:r>
          </a:p>
          <a:p>
            <a:pPr>
              <a:spcAft>
                <a:spcPts val="400"/>
              </a:spcAft>
              <a:defRPr sz="1500">
                <a:solidFill>
                  <a:srgbClr val="333333"/>
                </a:solidFill>
                <a:latin typeface="Calibri"/>
              </a:defRPr>
            </a:pPr>
            <a:r>
              <a:t>• Wear is not the binding constraint on a single part (0% violations, mean 0.1407 mm); it binds on the aggregate of a batch</a:t>
            </a:r>
          </a:p>
          <a:p>
            <a:pPr>
              <a:spcAft>
                <a:spcPts val="400"/>
              </a:spcAft>
              <a:defRPr sz="1500">
                <a:solidFill>
                  <a:srgbClr val="333333"/>
                </a:solidFill>
                <a:latin typeface="Calibri"/>
              </a:defRPr>
            </a:pPr>
            <a:r>
              <a:t>• Mean operating point: 7907 RPM, 0.318 mm/r, 2.07 mm, 4.0 passes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Energy Weight Ablation: Empirical Pareto Frontier</a:t>
            </a:r>
          </a:p>
        </p:txBody>
      </p:sp>
      <p:graphicFrame>
        <p:nvGraphicFramePr>
          <p:cNvPr id="4" name="Table 3"/>
          <p:cNvGraphicFramePr>
            <a:graphicFrameLocks noGrp="1"/>
          </p:cNvGraphicFramePr>
          <p:nvPr/>
        </p:nvGraphicFramePr>
        <p:xfrm>
          <a:off x="457200" y="1280160"/>
          <a:ext cx="11247120" cy="2468880"/>
        </p:xfrm>
        <a:graphic>
          <a:graphicData uri="http://schemas.openxmlformats.org/drawingml/2006/table">
            <a:tbl>
              <a:tblPr firstRow="1" bandRow="1">
                <a:tableStyleId>{5C22544A-7EE6-4342-B048-85BDC9FD1C3A}</a:tableStyleId>
              </a:tblPr>
              <a:tblGrid>
                <a:gridCol w="1005840"/>
                <a:gridCol w="2103120"/>
                <a:gridCol w="1828800"/>
                <a:gridCol w="1554480"/>
                <a:gridCol w="1554480"/>
                <a:gridCol w="1371600"/>
                <a:gridCol w="1828800"/>
              </a:tblGrid>
              <a:tr h="308610">
                <a:tc>
                  <a:txBody>
                    <a:bodyPr/>
                    <a:lstStyle/>
                    <a:p>
                      <a:pPr algn="ctr">
                        <a:defRPr sz="1300" b="1">
                          <a:solidFill>
                            <a:srgbClr val="FFFFFF"/>
                          </a:solidFill>
                          <a:latin typeface="Calibri"/>
                        </a:defRPr>
                      </a:pPr>
                      <a:r>
                        <a:t>w₂</a:t>
                      </a:r>
                    </a:p>
                  </a:txBody>
                  <a:tcPr>
                    <a:solidFill>
                      <a:srgbClr val="003366"/>
                    </a:solidFill>
                  </a:tcPr>
                </a:tc>
                <a:tc>
                  <a:txBody>
                    <a:bodyPr/>
                    <a:lstStyle/>
                    <a:p>
                      <a:pPr algn="ctr">
                        <a:defRPr sz="1300" b="1">
                          <a:solidFill>
                            <a:srgbClr val="FFFFFF"/>
                          </a:solidFill>
                          <a:latin typeface="Calibri"/>
                        </a:defRPr>
                      </a:pPr>
                      <a:r>
                        <a:t>MRR (mm³/min)</a:t>
                      </a:r>
                    </a:p>
                  </a:txBody>
                  <a:tcPr>
                    <a:solidFill>
                      <a:srgbClr val="003366"/>
                    </a:solidFill>
                  </a:tcPr>
                </a:tc>
                <a:tc>
                  <a:txBody>
                    <a:bodyPr/>
                    <a:lstStyle/>
                    <a:p>
                      <a:pPr algn="ctr">
                        <a:defRPr sz="1300" b="1">
                          <a:solidFill>
                            <a:srgbClr val="FFFFFF"/>
                          </a:solidFill>
                          <a:latin typeface="Calibri"/>
                        </a:defRPr>
                      </a:pPr>
                      <a:r>
                        <a:t>Energy (kJ)</a:t>
                      </a:r>
                    </a:p>
                  </a:txBody>
                  <a:tcPr>
                    <a:solidFill>
                      <a:srgbClr val="003366"/>
                    </a:solidFill>
                  </a:tcPr>
                </a:tc>
                <a:tc>
                  <a:txBody>
                    <a:bodyPr/>
                    <a:lstStyle/>
                    <a:p>
                      <a:pPr algn="ctr">
                        <a:defRPr sz="1300" b="1">
                          <a:solidFill>
                            <a:srgbClr val="FFFFFF"/>
                          </a:solidFill>
                          <a:latin typeface="Calibri"/>
                        </a:defRPr>
                      </a:pPr>
                      <a:r>
                        <a:t>Cycle (s)</a:t>
                      </a:r>
                    </a:p>
                  </a:txBody>
                  <a:tcPr>
                    <a:solidFill>
                      <a:srgbClr val="003366"/>
                    </a:solidFill>
                  </a:tcPr>
                </a:tc>
                <a:tc>
                  <a:txBody>
                    <a:bodyPr/>
                    <a:lstStyle/>
                    <a:p>
                      <a:pPr algn="ctr">
                        <a:defRPr sz="1300" b="1">
                          <a:solidFill>
                            <a:srgbClr val="FFFFFF"/>
                          </a:solidFill>
                          <a:latin typeface="Calibri"/>
                        </a:defRPr>
                      </a:pPr>
                      <a:r>
                        <a:t>n (RPM)</a:t>
                      </a:r>
                    </a:p>
                  </a:txBody>
                  <a:tcPr>
                    <a:solidFill>
                      <a:srgbClr val="003366"/>
                    </a:solidFill>
                  </a:tcPr>
                </a:tc>
                <a:tc>
                  <a:txBody>
                    <a:bodyPr/>
                    <a:lstStyle/>
                    <a:p>
                      <a:pPr algn="ctr">
                        <a:defRPr sz="1300" b="1">
                          <a:solidFill>
                            <a:srgbClr val="FFFFFF"/>
                          </a:solidFill>
                          <a:latin typeface="Calibri"/>
                        </a:defRPr>
                      </a:pPr>
                      <a:r>
                        <a:t>f_r (mm/r)</a:t>
                      </a:r>
                    </a:p>
                  </a:txBody>
                  <a:tcPr>
                    <a:solidFill>
                      <a:srgbClr val="003366"/>
                    </a:solidFill>
                  </a:tcPr>
                </a:tc>
                <a:tc>
                  <a:txBody>
                    <a:bodyPr/>
                    <a:lstStyle/>
                    <a:p>
                      <a:pPr algn="ctr">
                        <a:defRPr sz="1300" b="1">
                          <a:solidFill>
                            <a:srgbClr val="FFFFFF"/>
                          </a:solidFill>
                          <a:latin typeface="Calibri"/>
                        </a:defRPr>
                      </a:pPr>
                      <a:r>
                        <a:t>Frontier</a:t>
                      </a:r>
                    </a:p>
                  </a:txBody>
                  <a:tcPr>
                    <a:solidFill>
                      <a:srgbClr val="003366"/>
                    </a:solidFill>
                  </a:tcPr>
                </a:tc>
              </a:tr>
              <a:tr h="308610">
                <a:tc>
                  <a:txBody>
                    <a:bodyPr/>
                    <a:lstStyle/>
                    <a:p>
                      <a:pPr algn="ctr">
                        <a:defRPr sz="1300">
                          <a:solidFill>
                            <a:srgbClr val="333333"/>
                          </a:solidFill>
                          <a:latin typeface="Calibri"/>
                        </a:defRPr>
                      </a:pPr>
                      <a:r>
                        <a:t>0.0</a:t>
                      </a:r>
                    </a:p>
                  </a:txBody>
                  <a:tcPr/>
                </a:tc>
                <a:tc>
                  <a:txBody>
                    <a:bodyPr/>
                    <a:lstStyle/>
                    <a:p>
                      <a:pPr algn="ctr">
                        <a:defRPr sz="1300">
                          <a:solidFill>
                            <a:srgbClr val="333333"/>
                          </a:solidFill>
                          <a:latin typeface="Calibri"/>
                        </a:defRPr>
                      </a:pPr>
                      <a:r>
                        <a:t>1397.1±14.8</a:t>
                      </a:r>
                    </a:p>
                  </a:txBody>
                  <a:tcPr/>
                </a:tc>
                <a:tc>
                  <a:txBody>
                    <a:bodyPr/>
                    <a:lstStyle/>
                    <a:p>
                      <a:pPr algn="ctr">
                        <a:defRPr sz="1300">
                          <a:solidFill>
                            <a:srgbClr val="333333"/>
                          </a:solidFill>
                          <a:latin typeface="Calibri"/>
                        </a:defRPr>
                      </a:pPr>
                      <a:r>
                        <a:t>70.4±0.1</a:t>
                      </a:r>
                    </a:p>
                  </a:txBody>
                  <a:tcPr/>
                </a:tc>
                <a:tc>
                  <a:txBody>
                    <a:bodyPr/>
                    <a:lstStyle/>
                    <a:p>
                      <a:pPr algn="ctr">
                        <a:defRPr sz="1300">
                          <a:solidFill>
                            <a:srgbClr val="333333"/>
                          </a:solidFill>
                          <a:latin typeface="Calibri"/>
                        </a:defRPr>
                      </a:pPr>
                      <a:r>
                        <a:t>14.8</a:t>
                      </a:r>
                    </a:p>
                  </a:txBody>
                  <a:tcPr/>
                </a:tc>
                <a:tc>
                  <a:txBody>
                    <a:bodyPr/>
                    <a:lstStyle/>
                    <a:p>
                      <a:pPr algn="ctr">
                        <a:defRPr sz="1300">
                          <a:solidFill>
                            <a:srgbClr val="333333"/>
                          </a:solidFill>
                          <a:latin typeface="Calibri"/>
                        </a:defRPr>
                      </a:pPr>
                      <a:r>
                        <a:t>7998</a:t>
                      </a:r>
                    </a:p>
                  </a:txBody>
                  <a:tcPr/>
                </a:tc>
                <a:tc>
                  <a:txBody>
                    <a:bodyPr/>
                    <a:lstStyle/>
                    <a:p>
                      <a:pPr algn="ctr">
                        <a:defRPr sz="1300">
                          <a:solidFill>
                            <a:srgbClr val="333333"/>
                          </a:solidFill>
                          <a:latin typeface="Calibri"/>
                        </a:defRPr>
                      </a:pPr>
                      <a:r>
                        <a:t>0.299</a:t>
                      </a:r>
                    </a:p>
                  </a:txBody>
                  <a:tcPr/>
                </a:tc>
                <a:tc>
                  <a:txBody>
                    <a:bodyPr/>
                    <a:lstStyle/>
                    <a:p>
                      <a:pPr algn="ctr">
                        <a:defRPr sz="1300">
                          <a:solidFill>
                            <a:srgbClr val="333333"/>
                          </a:solidFill>
                          <a:latin typeface="Calibri"/>
                        </a:defRPr>
                      </a:pPr>
                      <a:r>
                        <a:t>✗ dominated</a:t>
                      </a:r>
                    </a:p>
                  </a:txBody>
                  <a:tcPr/>
                </a:tc>
              </a:tr>
              <a:tr h="308610">
                <a:tc>
                  <a:txBody>
                    <a:bodyPr/>
                    <a:lstStyle/>
                    <a:p>
                      <a:pPr algn="ctr">
                        <a:defRPr sz="1300">
                          <a:solidFill>
                            <a:srgbClr val="333333"/>
                          </a:solidFill>
                          <a:latin typeface="Calibri"/>
                        </a:defRPr>
                      </a:pPr>
                      <a:r>
                        <a:t>0.2</a:t>
                      </a:r>
                    </a:p>
                  </a:txBody>
                  <a:tcPr/>
                </a:tc>
                <a:tc>
                  <a:txBody>
                    <a:bodyPr/>
                    <a:lstStyle/>
                    <a:p>
                      <a:pPr algn="ctr">
                        <a:defRPr sz="1300">
                          <a:solidFill>
                            <a:srgbClr val="333333"/>
                          </a:solidFill>
                          <a:latin typeface="Calibri"/>
                        </a:defRPr>
                      </a:pPr>
                      <a:r>
                        <a:t>1456.9±14.6</a:t>
                      </a:r>
                    </a:p>
                  </a:txBody>
                  <a:tcPr/>
                </a:tc>
                <a:tc>
                  <a:txBody>
                    <a:bodyPr/>
                    <a:lstStyle/>
                    <a:p>
                      <a:pPr algn="ctr">
                        <a:defRPr sz="1300">
                          <a:solidFill>
                            <a:srgbClr val="333333"/>
                          </a:solidFill>
                          <a:latin typeface="Calibri"/>
                        </a:defRPr>
                      </a:pPr>
                      <a:r>
                        <a:t>70.0±0.1</a:t>
                      </a:r>
                    </a:p>
                  </a:txBody>
                  <a:tcPr/>
                </a:tc>
                <a:tc>
                  <a:txBody>
                    <a:bodyPr/>
                    <a:lstStyle/>
                    <a:p>
                      <a:pPr algn="ctr">
                        <a:defRPr sz="1300">
                          <a:solidFill>
                            <a:srgbClr val="333333"/>
                          </a:solidFill>
                          <a:latin typeface="Calibri"/>
                        </a:defRPr>
                      </a:pPr>
                      <a:r>
                        <a:t>13.8</a:t>
                      </a:r>
                    </a:p>
                  </a:txBody>
                  <a:tcPr/>
                </a:tc>
                <a:tc>
                  <a:txBody>
                    <a:bodyPr/>
                    <a:lstStyle/>
                    <a:p>
                      <a:pPr algn="ctr">
                        <a:defRPr sz="1300">
                          <a:solidFill>
                            <a:srgbClr val="333333"/>
                          </a:solidFill>
                          <a:latin typeface="Calibri"/>
                        </a:defRPr>
                      </a:pPr>
                      <a:r>
                        <a:t>7992</a:t>
                      </a:r>
                    </a:p>
                  </a:txBody>
                  <a:tcPr/>
                </a:tc>
                <a:tc>
                  <a:txBody>
                    <a:bodyPr/>
                    <a:lstStyle/>
                    <a:p>
                      <a:pPr algn="ctr">
                        <a:defRPr sz="1300">
                          <a:solidFill>
                            <a:srgbClr val="333333"/>
                          </a:solidFill>
                          <a:latin typeface="Calibri"/>
                        </a:defRPr>
                      </a:pPr>
                      <a:r>
                        <a:t>0.299</a:t>
                      </a:r>
                    </a:p>
                  </a:txBody>
                  <a:tcPr/>
                </a:tc>
                <a:tc>
                  <a:txBody>
                    <a:bodyPr/>
                    <a:lstStyle/>
                    <a:p>
                      <a:pPr algn="ctr">
                        <a:defRPr sz="1300">
                          <a:solidFill>
                            <a:srgbClr val="333333"/>
                          </a:solidFill>
                          <a:latin typeface="Calibri"/>
                        </a:defRPr>
                      </a:pPr>
                      <a:r>
                        <a:t>✗ dominated</a:t>
                      </a:r>
                    </a:p>
                  </a:txBody>
                  <a:tcPr/>
                </a:tc>
              </a:tr>
              <a:tr h="308610">
                <a:tc>
                  <a:txBody>
                    <a:bodyPr/>
                    <a:lstStyle/>
                    <a:p>
                      <a:pPr algn="ctr">
                        <a:defRPr sz="1300">
                          <a:solidFill>
                            <a:srgbClr val="333333"/>
                          </a:solidFill>
                          <a:latin typeface="Calibri"/>
                        </a:defRPr>
                      </a:pPr>
                      <a:r>
                        <a:t>0.4</a:t>
                      </a:r>
                    </a:p>
                  </a:txBody>
                  <a:tcPr/>
                </a:tc>
                <a:tc>
                  <a:txBody>
                    <a:bodyPr/>
                    <a:lstStyle/>
                    <a:p>
                      <a:pPr algn="ctr">
                        <a:defRPr sz="1300">
                          <a:solidFill>
                            <a:srgbClr val="333333"/>
                          </a:solidFill>
                          <a:latin typeface="Calibri"/>
                        </a:defRPr>
                      </a:pPr>
                      <a:r>
                        <a:t>1524.9±40.2</a:t>
                      </a:r>
                    </a:p>
                  </a:txBody>
                  <a:tcPr/>
                </a:tc>
                <a:tc>
                  <a:txBody>
                    <a:bodyPr/>
                    <a:lstStyle/>
                    <a:p>
                      <a:pPr algn="ctr">
                        <a:defRPr sz="1300">
                          <a:solidFill>
                            <a:srgbClr val="333333"/>
                          </a:solidFill>
                          <a:latin typeface="Calibri"/>
                        </a:defRPr>
                      </a:pPr>
                      <a:r>
                        <a:t>69.3±0.2</a:t>
                      </a:r>
                    </a:p>
                  </a:txBody>
                  <a:tcPr/>
                </a:tc>
                <a:tc>
                  <a:txBody>
                    <a:bodyPr/>
                    <a:lstStyle/>
                    <a:p>
                      <a:pPr algn="ctr">
                        <a:defRPr sz="1300">
                          <a:solidFill>
                            <a:srgbClr val="333333"/>
                          </a:solidFill>
                          <a:latin typeface="Calibri"/>
                        </a:defRPr>
                      </a:pPr>
                      <a:r>
                        <a:t>13.0</a:t>
                      </a:r>
                    </a:p>
                  </a:txBody>
                  <a:tcPr/>
                </a:tc>
                <a:tc>
                  <a:txBody>
                    <a:bodyPr/>
                    <a:lstStyle/>
                    <a:p>
                      <a:pPr algn="ctr">
                        <a:defRPr sz="1300">
                          <a:solidFill>
                            <a:srgbClr val="333333"/>
                          </a:solidFill>
                          <a:latin typeface="Calibri"/>
                        </a:defRPr>
                      </a:pPr>
                      <a:r>
                        <a:t>7896</a:t>
                      </a:r>
                    </a:p>
                  </a:txBody>
                  <a:tcPr/>
                </a:tc>
                <a:tc>
                  <a:txBody>
                    <a:bodyPr/>
                    <a:lstStyle/>
                    <a:p>
                      <a:pPr algn="ctr">
                        <a:defRPr sz="1300">
                          <a:solidFill>
                            <a:srgbClr val="333333"/>
                          </a:solidFill>
                          <a:latin typeface="Calibri"/>
                        </a:defRPr>
                      </a:pPr>
                      <a:r>
                        <a:t>0.296</a:t>
                      </a:r>
                    </a:p>
                  </a:txBody>
                  <a:tcPr/>
                </a:tc>
                <a:tc>
                  <a:txBody>
                    <a:bodyPr/>
                    <a:lstStyle/>
                    <a:p>
                      <a:pPr algn="ctr">
                        <a:defRPr sz="1300">
                          <a:solidFill>
                            <a:srgbClr val="333333"/>
                          </a:solidFill>
                          <a:latin typeface="Calibri"/>
                        </a:defRPr>
                      </a:pPr>
                      <a:r>
                        <a:t>✗ dominated</a:t>
                      </a:r>
                    </a:p>
                  </a:txBody>
                  <a:tcPr/>
                </a:tc>
              </a:tr>
              <a:tr h="308610">
                <a:tc>
                  <a:txBody>
                    <a:bodyPr/>
                    <a:lstStyle/>
                    <a:p>
                      <a:pPr algn="ctr">
                        <a:defRPr sz="1300">
                          <a:solidFill>
                            <a:srgbClr val="333333"/>
                          </a:solidFill>
                          <a:latin typeface="Calibri"/>
                        </a:defRPr>
                      </a:pPr>
                      <a:r>
                        <a:t>0.5</a:t>
                      </a:r>
                    </a:p>
                  </a:txBody>
                  <a:tcPr/>
                </a:tc>
                <a:tc>
                  <a:txBody>
                    <a:bodyPr/>
                    <a:lstStyle/>
                    <a:p>
                      <a:pPr algn="ctr">
                        <a:defRPr sz="1300">
                          <a:solidFill>
                            <a:srgbClr val="333333"/>
                          </a:solidFill>
                          <a:latin typeface="Calibri"/>
                        </a:defRPr>
                      </a:pPr>
                      <a:r>
                        <a:t>1556.6±9.7</a:t>
                      </a:r>
                    </a:p>
                  </a:txBody>
                  <a:tcPr/>
                </a:tc>
                <a:tc>
                  <a:txBody>
                    <a:bodyPr/>
                    <a:lstStyle/>
                    <a:p>
                      <a:pPr algn="ctr">
                        <a:defRPr sz="1300">
                          <a:solidFill>
                            <a:srgbClr val="333333"/>
                          </a:solidFill>
                          <a:latin typeface="Calibri"/>
                        </a:defRPr>
                      </a:pPr>
                      <a:r>
                        <a:t>69.1±0.2</a:t>
                      </a:r>
                    </a:p>
                  </a:txBody>
                  <a:tcPr/>
                </a:tc>
                <a:tc>
                  <a:txBody>
                    <a:bodyPr/>
                    <a:lstStyle/>
                    <a:p>
                      <a:pPr algn="ctr">
                        <a:defRPr sz="1300">
                          <a:solidFill>
                            <a:srgbClr val="333333"/>
                          </a:solidFill>
                          <a:latin typeface="Calibri"/>
                        </a:defRPr>
                      </a:pPr>
                      <a:r>
                        <a:t>12.7</a:t>
                      </a:r>
                    </a:p>
                  </a:txBody>
                  <a:tcPr/>
                </a:tc>
                <a:tc>
                  <a:txBody>
                    <a:bodyPr/>
                    <a:lstStyle/>
                    <a:p>
                      <a:pPr algn="ctr">
                        <a:defRPr sz="1300">
                          <a:solidFill>
                            <a:srgbClr val="333333"/>
                          </a:solidFill>
                          <a:latin typeface="Calibri"/>
                        </a:defRPr>
                      </a:pPr>
                      <a:r>
                        <a:t>7859</a:t>
                      </a:r>
                    </a:p>
                  </a:txBody>
                  <a:tcPr/>
                </a:tc>
                <a:tc>
                  <a:txBody>
                    <a:bodyPr/>
                    <a:lstStyle/>
                    <a:p>
                      <a:pPr algn="ctr">
                        <a:defRPr sz="1300">
                          <a:solidFill>
                            <a:srgbClr val="333333"/>
                          </a:solidFill>
                          <a:latin typeface="Calibri"/>
                        </a:defRPr>
                      </a:pPr>
                      <a:r>
                        <a:t>0.296</a:t>
                      </a:r>
                    </a:p>
                  </a:txBody>
                  <a:tcPr/>
                </a:tc>
                <a:tc>
                  <a:txBody>
                    <a:bodyPr/>
                    <a:lstStyle/>
                    <a:p>
                      <a:pPr algn="ctr">
                        <a:defRPr sz="1300">
                          <a:solidFill>
                            <a:srgbClr val="333333"/>
                          </a:solidFill>
                          <a:latin typeface="Calibri"/>
                        </a:defRPr>
                      </a:pPr>
                      <a:r>
                        <a:t>✓</a:t>
                      </a:r>
                    </a:p>
                  </a:txBody>
                  <a:tcPr/>
                </a:tc>
              </a:tr>
              <a:tr h="308610">
                <a:tc>
                  <a:txBody>
                    <a:bodyPr/>
                    <a:lstStyle/>
                    <a:p>
                      <a:pPr algn="ctr">
                        <a:defRPr sz="1300">
                          <a:solidFill>
                            <a:srgbClr val="333333"/>
                          </a:solidFill>
                          <a:latin typeface="Calibri"/>
                        </a:defRPr>
                      </a:pPr>
                      <a:r>
                        <a:t>0.6</a:t>
                      </a:r>
                    </a:p>
                  </a:txBody>
                  <a:tcPr/>
                </a:tc>
                <a:tc>
                  <a:txBody>
                    <a:bodyPr/>
                    <a:lstStyle/>
                    <a:p>
                      <a:pPr algn="ctr">
                        <a:defRPr sz="1300">
                          <a:solidFill>
                            <a:srgbClr val="333333"/>
                          </a:solidFill>
                          <a:latin typeface="Calibri"/>
                        </a:defRPr>
                      </a:pPr>
                      <a:r>
                        <a:t>1519.8±36.4</a:t>
                      </a:r>
                    </a:p>
                  </a:txBody>
                  <a:tcPr/>
                </a:tc>
                <a:tc>
                  <a:txBody>
                    <a:bodyPr/>
                    <a:lstStyle/>
                    <a:p>
                      <a:pPr algn="ctr">
                        <a:defRPr sz="1300">
                          <a:solidFill>
                            <a:srgbClr val="333333"/>
                          </a:solidFill>
                          <a:latin typeface="Calibri"/>
                        </a:defRPr>
                      </a:pPr>
                      <a:r>
                        <a:t>68.3±0.4</a:t>
                      </a:r>
                    </a:p>
                  </a:txBody>
                  <a:tcPr/>
                </a:tc>
                <a:tc>
                  <a:txBody>
                    <a:bodyPr/>
                    <a:lstStyle/>
                    <a:p>
                      <a:pPr algn="ctr">
                        <a:defRPr sz="1300">
                          <a:solidFill>
                            <a:srgbClr val="333333"/>
                          </a:solidFill>
                          <a:latin typeface="Calibri"/>
                        </a:defRPr>
                      </a:pPr>
                      <a:r>
                        <a:t>13.1</a:t>
                      </a:r>
                    </a:p>
                  </a:txBody>
                  <a:tcPr/>
                </a:tc>
                <a:tc>
                  <a:txBody>
                    <a:bodyPr/>
                    <a:lstStyle/>
                    <a:p>
                      <a:pPr algn="ctr">
                        <a:defRPr sz="1300">
                          <a:solidFill>
                            <a:srgbClr val="333333"/>
                          </a:solidFill>
                          <a:latin typeface="Calibri"/>
                        </a:defRPr>
                      </a:pPr>
                      <a:r>
                        <a:t>7638</a:t>
                      </a:r>
                    </a:p>
                  </a:txBody>
                  <a:tcPr/>
                </a:tc>
                <a:tc>
                  <a:txBody>
                    <a:bodyPr/>
                    <a:lstStyle/>
                    <a:p>
                      <a:pPr algn="ctr">
                        <a:defRPr sz="1300">
                          <a:solidFill>
                            <a:srgbClr val="333333"/>
                          </a:solidFill>
                          <a:latin typeface="Calibri"/>
                        </a:defRPr>
                      </a:pPr>
                      <a:r>
                        <a:t>0.296</a:t>
                      </a:r>
                    </a:p>
                  </a:txBody>
                  <a:tcPr/>
                </a:tc>
                <a:tc>
                  <a:txBody>
                    <a:bodyPr/>
                    <a:lstStyle/>
                    <a:p>
                      <a:pPr algn="ctr">
                        <a:defRPr sz="1300">
                          <a:solidFill>
                            <a:srgbClr val="333333"/>
                          </a:solidFill>
                          <a:latin typeface="Calibri"/>
                        </a:defRPr>
                      </a:pPr>
                      <a:r>
                        <a:t>✓</a:t>
                      </a:r>
                    </a:p>
                  </a:txBody>
                  <a:tcPr/>
                </a:tc>
              </a:tr>
              <a:tr h="308610">
                <a:tc>
                  <a:txBody>
                    <a:bodyPr/>
                    <a:lstStyle/>
                    <a:p>
                      <a:pPr algn="ctr">
                        <a:defRPr sz="1300">
                          <a:solidFill>
                            <a:srgbClr val="333333"/>
                          </a:solidFill>
                          <a:latin typeface="Calibri"/>
                        </a:defRPr>
                      </a:pPr>
                      <a:r>
                        <a:t>0.8</a:t>
                      </a:r>
                    </a:p>
                  </a:txBody>
                  <a:tcPr/>
                </a:tc>
                <a:tc>
                  <a:txBody>
                    <a:bodyPr/>
                    <a:lstStyle/>
                    <a:p>
                      <a:pPr algn="ctr">
                        <a:defRPr sz="1300">
                          <a:solidFill>
                            <a:srgbClr val="333333"/>
                          </a:solidFill>
                          <a:latin typeface="Calibri"/>
                        </a:defRPr>
                      </a:pPr>
                      <a:r>
                        <a:t>1224.4±11.3</a:t>
                      </a:r>
                    </a:p>
                  </a:txBody>
                  <a:tcPr/>
                </a:tc>
                <a:tc>
                  <a:txBody>
                    <a:bodyPr/>
                    <a:lstStyle/>
                    <a:p>
                      <a:pPr algn="ctr">
                        <a:defRPr sz="1300">
                          <a:solidFill>
                            <a:srgbClr val="333333"/>
                          </a:solidFill>
                          <a:latin typeface="Calibri"/>
                        </a:defRPr>
                      </a:pPr>
                      <a:r>
                        <a:t>63.0±0.2</a:t>
                      </a:r>
                    </a:p>
                  </a:txBody>
                  <a:tcPr/>
                </a:tc>
                <a:tc>
                  <a:txBody>
                    <a:bodyPr/>
                    <a:lstStyle/>
                    <a:p>
                      <a:pPr algn="ctr">
                        <a:defRPr sz="1300">
                          <a:solidFill>
                            <a:srgbClr val="333333"/>
                          </a:solidFill>
                          <a:latin typeface="Calibri"/>
                        </a:defRPr>
                      </a:pPr>
                      <a:r>
                        <a:t>15.4</a:t>
                      </a:r>
                    </a:p>
                  </a:txBody>
                  <a:tcPr/>
                </a:tc>
                <a:tc>
                  <a:txBody>
                    <a:bodyPr/>
                    <a:lstStyle/>
                    <a:p>
                      <a:pPr algn="ctr">
                        <a:defRPr sz="1300">
                          <a:solidFill>
                            <a:srgbClr val="333333"/>
                          </a:solidFill>
                          <a:latin typeface="Calibri"/>
                        </a:defRPr>
                      </a:pPr>
                      <a:r>
                        <a:t>6573</a:t>
                      </a:r>
                    </a:p>
                  </a:txBody>
                  <a:tcPr/>
                </a:tc>
                <a:tc>
                  <a:txBody>
                    <a:bodyPr/>
                    <a:lstStyle/>
                    <a:p>
                      <a:pPr algn="ctr">
                        <a:defRPr sz="1300">
                          <a:solidFill>
                            <a:srgbClr val="333333"/>
                          </a:solidFill>
                          <a:latin typeface="Calibri"/>
                        </a:defRPr>
                      </a:pPr>
                      <a:r>
                        <a:t>0.292</a:t>
                      </a:r>
                    </a:p>
                  </a:txBody>
                  <a:tcPr/>
                </a:tc>
                <a:tc>
                  <a:txBody>
                    <a:bodyPr/>
                    <a:lstStyle/>
                    <a:p>
                      <a:pPr algn="ctr">
                        <a:defRPr sz="1300">
                          <a:solidFill>
                            <a:srgbClr val="333333"/>
                          </a:solidFill>
                          <a:latin typeface="Calibri"/>
                        </a:defRPr>
                      </a:pPr>
                      <a:r>
                        <a:t>✓</a:t>
                      </a:r>
                    </a:p>
                  </a:txBody>
                  <a:tcPr/>
                </a:tc>
              </a:tr>
              <a:tr h="308610">
                <a:tc>
                  <a:txBody>
                    <a:bodyPr/>
                    <a:lstStyle/>
                    <a:p>
                      <a:pPr algn="ctr">
                        <a:defRPr sz="1300">
                          <a:solidFill>
                            <a:srgbClr val="333333"/>
                          </a:solidFill>
                          <a:latin typeface="Calibri"/>
                        </a:defRPr>
                      </a:pPr>
                      <a:r>
                        <a:t>1.0</a:t>
                      </a:r>
                    </a:p>
                  </a:txBody>
                  <a:tcPr/>
                </a:tc>
                <a:tc>
                  <a:txBody>
                    <a:bodyPr/>
                    <a:lstStyle/>
                    <a:p>
                      <a:pPr algn="ctr">
                        <a:defRPr sz="1300">
                          <a:solidFill>
                            <a:srgbClr val="333333"/>
                          </a:solidFill>
                          <a:latin typeface="Calibri"/>
                        </a:defRPr>
                      </a:pPr>
                      <a:r>
                        <a:t>918.5±14.9</a:t>
                      </a:r>
                    </a:p>
                  </a:txBody>
                  <a:tcPr/>
                </a:tc>
                <a:tc>
                  <a:txBody>
                    <a:bodyPr/>
                    <a:lstStyle/>
                    <a:p>
                      <a:pPr algn="ctr">
                        <a:defRPr sz="1300">
                          <a:solidFill>
                            <a:srgbClr val="333333"/>
                          </a:solidFill>
                          <a:latin typeface="Calibri"/>
                        </a:defRPr>
                      </a:pPr>
                      <a:r>
                        <a:t>57.2±0.2</a:t>
                      </a:r>
                    </a:p>
                  </a:txBody>
                  <a:tcPr/>
                </a:tc>
                <a:tc>
                  <a:txBody>
                    <a:bodyPr/>
                    <a:lstStyle/>
                    <a:p>
                      <a:pPr algn="ctr">
                        <a:defRPr sz="1300">
                          <a:solidFill>
                            <a:srgbClr val="333333"/>
                          </a:solidFill>
                          <a:latin typeface="Calibri"/>
                        </a:defRPr>
                      </a:pPr>
                      <a:r>
                        <a:t>20.1</a:t>
                      </a:r>
                    </a:p>
                  </a:txBody>
                  <a:tcPr/>
                </a:tc>
                <a:tc>
                  <a:txBody>
                    <a:bodyPr/>
                    <a:lstStyle/>
                    <a:p>
                      <a:pPr algn="ctr">
                        <a:defRPr sz="1300">
                          <a:solidFill>
                            <a:srgbClr val="333333"/>
                          </a:solidFill>
                          <a:latin typeface="Calibri"/>
                        </a:defRPr>
                      </a:pPr>
                      <a:r>
                        <a:t>5382</a:t>
                      </a:r>
                    </a:p>
                  </a:txBody>
                  <a:tcPr/>
                </a:tc>
                <a:tc>
                  <a:txBody>
                    <a:bodyPr/>
                    <a:lstStyle/>
                    <a:p>
                      <a:pPr algn="ctr">
                        <a:defRPr sz="1300">
                          <a:solidFill>
                            <a:srgbClr val="333333"/>
                          </a:solidFill>
                          <a:latin typeface="Calibri"/>
                        </a:defRPr>
                      </a:pPr>
                      <a:r>
                        <a:t>0.292</a:t>
                      </a:r>
                    </a:p>
                  </a:txBody>
                  <a:tcPr/>
                </a:tc>
                <a:tc>
                  <a:txBody>
                    <a:bodyPr/>
                    <a:lstStyle/>
                    <a:p>
                      <a:pPr algn="ctr">
                        <a:defRPr sz="1300">
                          <a:solidFill>
                            <a:srgbClr val="333333"/>
                          </a:solidFill>
                          <a:latin typeface="Calibri"/>
                        </a:defRPr>
                      </a:pPr>
                      <a:r>
                        <a:t>✓</a:t>
                      </a:r>
                    </a:p>
                  </a:txBody>
                  <a:tcPr/>
                </a:tc>
              </a:tr>
            </a:tbl>
          </a:graphicData>
        </a:graphic>
      </p:graphicFrame>
      <p:sp>
        <p:nvSpPr>
          <p:cNvPr id="5" name="Rectangle 4"/>
          <p:cNvSpPr/>
          <p:nvPr/>
        </p:nvSpPr>
        <p:spPr>
          <a:xfrm>
            <a:off x="457200" y="3977639"/>
            <a:ext cx="11247120" cy="2377440"/>
          </a:xfrm>
          <a:prstGeom prst="rect">
            <a:avLst/>
          </a:prstGeom>
          <a:solidFill>
            <a:srgbClr val="FFF8DC"/>
          </a:solidFill>
          <a:ln w="25400">
            <a:solidFill>
              <a:srgbClr val="CC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114800"/>
            <a:ext cx="10698480" cy="457200"/>
          </a:xfrm>
          <a:prstGeom prst="rect">
            <a:avLst/>
          </a:prstGeom>
          <a:noFill/>
        </p:spPr>
        <p:txBody>
          <a:bodyPr wrap="square">
            <a:spAutoFit/>
          </a:bodyPr>
          <a:lstStyle/>
          <a:p>
            <a:pPr algn="l">
              <a:defRPr sz="2200" b="1">
                <a:solidFill>
                  <a:srgbClr val="CC9900"/>
                </a:solidFill>
                <a:latin typeface="Calibri"/>
              </a:defRPr>
            </a:pPr>
            <a:r>
              <a:t>📊 Frontier Analysis</a:t>
            </a:r>
          </a:p>
        </p:txBody>
      </p:sp>
      <p:sp>
        <p:nvSpPr>
          <p:cNvPr id="7" name="TextBox 6"/>
          <p:cNvSpPr txBox="1"/>
          <p:nvPr/>
        </p:nvSpPr>
        <p:spPr>
          <a:xfrm>
            <a:off x="731520" y="4663440"/>
            <a:ext cx="10698480" cy="1554480"/>
          </a:xfrm>
          <a:prstGeom prst="rect">
            <a:avLst/>
          </a:prstGeom>
          <a:noFill/>
        </p:spPr>
        <p:txBody>
          <a:bodyPr wrap="square">
            <a:spAutoFit/>
          </a:bodyPr>
          <a:lstStyle/>
          <a:p>
            <a:pPr>
              <a:spcAft>
                <a:spcPts val="400"/>
              </a:spcAft>
              <a:defRPr sz="1400">
                <a:solidFill>
                  <a:srgbClr val="333333"/>
                </a:solidFill>
                <a:latin typeface="Calibri"/>
              </a:defRPr>
            </a:pPr>
            <a:r>
              <a:t>• From w₂ = 0.5 to w₂ = 1.0 the removal rate falls 41% (1557 → 919 mm³/min) and the energy falls 17% (69.1 → 57.2 kJ): the trade-off is asymmetric</a:t>
            </a:r>
          </a:p>
          <a:p>
            <a:pPr>
              <a:spcAft>
                <a:spcPts val="400"/>
              </a:spcAft>
              <a:defRPr sz="1400">
                <a:solidFill>
                  <a:srgbClr val="333333"/>
                </a:solidFill>
                <a:latin typeface="Calibri"/>
              </a:defRPr>
            </a:pPr>
            <a:r>
              <a:t>• The energy is bought with a lot of removal rate, and with time (12.7 → 20.1 s); the spindle speed falls with the weight (7859 → 5382 RPM)</a:t>
            </a:r>
          </a:p>
          <a:p>
            <a:pPr>
              <a:spcAft>
                <a:spcPts val="400"/>
              </a:spcAft>
              <a:defRPr sz="1400">
                <a:solidFill>
                  <a:srgbClr val="333333"/>
                </a:solidFill>
                <a:latin typeface="Calibri"/>
              </a:defRPr>
            </a:pPr>
            <a:r>
              <a:t>• Dominated points (w₂ = 0.0, 0.2, 0.4) remove less for more</a:t>
            </a:r>
          </a:p>
          <a:p>
            <a:pPr>
              <a:spcAft>
                <a:spcPts val="400"/>
              </a:spcAft>
              <a:defRPr sz="1400">
                <a:solidFill>
                  <a:srgbClr val="333333"/>
                </a:solidFill>
                <a:latin typeface="Calibri"/>
              </a:defRPr>
            </a:pPr>
            <a:r>
              <a:t>• Each policy has its weight pinned at training and evaluated at that same weight; 3 seeds, 50 scenarios each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Ablation Frontier: Removal Rate against Energy</a:t>
            </a:r>
          </a:p>
        </p:txBody>
      </p:sp>
      <p:pic>
        <p:nvPicPr>
          <p:cNvPr id="4" name="Picture 3" descr="ablation_pareto_frontier.png"/>
          <p:cNvPicPr>
            <a:picLocks noChangeAspect="1"/>
          </p:cNvPicPr>
          <p:nvPr/>
        </p:nvPicPr>
        <p:blipFill>
          <a:blip r:embed="rId2"/>
          <a:stretch>
            <a:fillRect/>
          </a:stretch>
        </p:blipFill>
        <p:spPr>
          <a:xfrm>
            <a:off x="414645" y="1143000"/>
            <a:ext cx="11359661" cy="4343400"/>
          </a:xfrm>
          <a:prstGeom prst="rect">
            <a:avLst/>
          </a:prstGeom>
        </p:spPr>
      </p:pic>
      <p:sp>
        <p:nvSpPr>
          <p:cNvPr id="5" name="Rectangle 4"/>
          <p:cNvSpPr/>
          <p:nvPr/>
        </p:nvSpPr>
        <p:spPr>
          <a:xfrm>
            <a:off x="457200" y="5559552"/>
            <a:ext cx="11247120" cy="1024128"/>
          </a:xfrm>
          <a:prstGeom prst="rect">
            <a:avLst/>
          </a:prstGeom>
          <a:solidFill>
            <a:srgbClr val="FFF8DC"/>
          </a:solidFill>
          <a:ln w="25400">
            <a:solidFill>
              <a:srgbClr val="CC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5632704"/>
            <a:ext cx="10698480" cy="320040"/>
          </a:xfrm>
          <a:prstGeom prst="rect">
            <a:avLst/>
          </a:prstGeom>
          <a:noFill/>
        </p:spPr>
        <p:txBody>
          <a:bodyPr wrap="square">
            <a:spAutoFit/>
          </a:bodyPr>
          <a:lstStyle/>
          <a:p>
            <a:pPr algn="l">
              <a:defRPr sz="1600" b="1">
                <a:solidFill>
                  <a:srgbClr val="CC9900"/>
                </a:solidFill>
                <a:latin typeface="Calibri"/>
              </a:defRPr>
            </a:pPr>
            <a:r>
              <a:t>How to read this</a:t>
            </a:r>
          </a:p>
        </p:txBody>
      </p:sp>
      <p:sp>
        <p:nvSpPr>
          <p:cNvPr id="7" name="TextBox 6"/>
          <p:cNvSpPr txBox="1"/>
          <p:nvPr/>
        </p:nvSpPr>
        <p:spPr>
          <a:xfrm>
            <a:off x="731520" y="5961888"/>
            <a:ext cx="10698480" cy="548640"/>
          </a:xfrm>
          <a:prstGeom prst="rect">
            <a:avLst/>
          </a:prstGeom>
          <a:noFill/>
        </p:spPr>
        <p:txBody>
          <a:bodyPr wrap="square">
            <a:spAutoFit/>
          </a:bodyPr>
          <a:lstStyle/>
          <a:p>
            <a:pPr algn="l">
              <a:defRPr sz="1400" b="0">
                <a:solidFill>
                  <a:srgbClr val="333333"/>
                </a:solidFill>
                <a:latin typeface="Calibri"/>
              </a:defRPr>
            </a:pPr>
            <a:r>
              <a:t>Seven pinned-weight policies, three seeds each. The four non-dominated points are joined into the frontier: w₂ = 0.5, 0.6, 0.8 and 1.0, and the three dominated points sit off it. Left: the energy of a part. Right: the energy of a pass, which the reward charges.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One Policy Against 21 Policies</a:t>
            </a:r>
          </a:p>
        </p:txBody>
      </p:sp>
      <p:graphicFrame>
        <p:nvGraphicFramePr>
          <p:cNvPr id="4" name="Table 3"/>
          <p:cNvGraphicFramePr>
            <a:graphicFrameLocks noGrp="1"/>
          </p:cNvGraphicFramePr>
          <p:nvPr/>
        </p:nvGraphicFramePr>
        <p:xfrm>
          <a:off x="685800" y="1280160"/>
          <a:ext cx="10789920" cy="2468880"/>
        </p:xfrm>
        <a:graphic>
          <a:graphicData uri="http://schemas.openxmlformats.org/drawingml/2006/table">
            <a:tbl>
              <a:tblPr firstRow="1" bandRow="1">
                <a:tableStyleId>{5C22544A-7EE6-4342-B048-85BDC9FD1C3A}</a:tableStyleId>
              </a:tblPr>
              <a:tblGrid>
                <a:gridCol w="1005840"/>
                <a:gridCol w="1737360"/>
                <a:gridCol w="1737360"/>
                <a:gridCol w="1371600"/>
                <a:gridCol w="1737360"/>
                <a:gridCol w="1737360"/>
                <a:gridCol w="1463040"/>
              </a:tblGrid>
              <a:tr h="308610">
                <a:tc>
                  <a:txBody>
                    <a:bodyPr/>
                    <a:lstStyle/>
                    <a:p>
                      <a:pPr algn="ctr">
                        <a:defRPr sz="1300" b="1">
                          <a:solidFill>
                            <a:srgbClr val="FFFFFF"/>
                          </a:solidFill>
                          <a:latin typeface="Calibri"/>
                        </a:defRPr>
                      </a:pPr>
                      <a:r>
                        <a:t>w₂</a:t>
                      </a:r>
                    </a:p>
                  </a:txBody>
                  <a:tcPr>
                    <a:solidFill>
                      <a:srgbClr val="003366"/>
                    </a:solidFill>
                  </a:tcPr>
                </a:tc>
                <a:tc>
                  <a:txBody>
                    <a:bodyPr/>
                    <a:lstStyle/>
                    <a:p>
                      <a:pPr algn="ctr">
                        <a:defRPr sz="1300" b="1">
                          <a:solidFill>
                            <a:srgbClr val="FFFFFF"/>
                          </a:solidFill>
                          <a:latin typeface="Calibri"/>
                        </a:defRPr>
                      </a:pPr>
                      <a:r>
                        <a:t>MRR, one policy</a:t>
                      </a:r>
                    </a:p>
                  </a:txBody>
                  <a:tcPr>
                    <a:solidFill>
                      <a:srgbClr val="003366"/>
                    </a:solidFill>
                  </a:tcPr>
                </a:tc>
                <a:tc>
                  <a:txBody>
                    <a:bodyPr/>
                    <a:lstStyle/>
                    <a:p>
                      <a:pPr algn="ctr">
                        <a:defRPr sz="1300" b="1">
                          <a:solidFill>
                            <a:srgbClr val="FFFFFF"/>
                          </a:solidFill>
                          <a:latin typeface="Calibri"/>
                        </a:defRPr>
                      </a:pPr>
                      <a:r>
                        <a:t>MRR, per weight</a:t>
                      </a:r>
                    </a:p>
                  </a:txBody>
                  <a:tcPr>
                    <a:solidFill>
                      <a:srgbClr val="003366"/>
                    </a:solidFill>
                  </a:tcPr>
                </a:tc>
                <a:tc>
                  <a:txBody>
                    <a:bodyPr/>
                    <a:lstStyle/>
                    <a:p>
                      <a:pPr algn="ctr">
                        <a:defRPr sz="1300" b="1">
                          <a:solidFill>
                            <a:srgbClr val="FFFFFF"/>
                          </a:solidFill>
                          <a:latin typeface="Calibri"/>
                        </a:defRPr>
                      </a:pPr>
                      <a:r>
                        <a:t>MRR gap</a:t>
                      </a:r>
                    </a:p>
                  </a:txBody>
                  <a:tcPr>
                    <a:solidFill>
                      <a:srgbClr val="003366"/>
                    </a:solidFill>
                  </a:tcPr>
                </a:tc>
                <a:tc>
                  <a:txBody>
                    <a:bodyPr/>
                    <a:lstStyle/>
                    <a:p>
                      <a:pPr algn="ctr">
                        <a:defRPr sz="1300" b="1">
                          <a:solidFill>
                            <a:srgbClr val="FFFFFF"/>
                          </a:solidFill>
                          <a:latin typeface="Calibri"/>
                        </a:defRPr>
                      </a:pPr>
                      <a:r>
                        <a:t>Energy, one policy</a:t>
                      </a:r>
                    </a:p>
                  </a:txBody>
                  <a:tcPr>
                    <a:solidFill>
                      <a:srgbClr val="003366"/>
                    </a:solidFill>
                  </a:tcPr>
                </a:tc>
                <a:tc>
                  <a:txBody>
                    <a:bodyPr/>
                    <a:lstStyle/>
                    <a:p>
                      <a:pPr algn="ctr">
                        <a:defRPr sz="1300" b="1">
                          <a:solidFill>
                            <a:srgbClr val="FFFFFF"/>
                          </a:solidFill>
                          <a:latin typeface="Calibri"/>
                        </a:defRPr>
                      </a:pPr>
                      <a:r>
                        <a:t>Energy, per weight</a:t>
                      </a:r>
                    </a:p>
                  </a:txBody>
                  <a:tcPr>
                    <a:solidFill>
                      <a:srgbClr val="003366"/>
                    </a:solidFill>
                  </a:tcPr>
                </a:tc>
                <a:tc>
                  <a:txBody>
                    <a:bodyPr/>
                    <a:lstStyle/>
                    <a:p>
                      <a:pPr algn="ctr">
                        <a:defRPr sz="1300" b="1">
                          <a:solidFill>
                            <a:srgbClr val="FFFFFF"/>
                          </a:solidFill>
                          <a:latin typeface="Calibri"/>
                        </a:defRPr>
                      </a:pPr>
                      <a:r>
                        <a:t>Energy gap</a:t>
                      </a:r>
                    </a:p>
                  </a:txBody>
                  <a:tcPr>
                    <a:solidFill>
                      <a:srgbClr val="003366"/>
                    </a:solidFill>
                  </a:tcPr>
                </a:tc>
              </a:tr>
              <a:tr h="308610">
                <a:tc>
                  <a:txBody>
                    <a:bodyPr/>
                    <a:lstStyle/>
                    <a:p>
                      <a:pPr algn="ctr">
                        <a:defRPr sz="1300">
                          <a:solidFill>
                            <a:srgbClr val="333333"/>
                          </a:solidFill>
                          <a:latin typeface="Calibri"/>
                        </a:defRPr>
                      </a:pPr>
                      <a:r>
                        <a:t>0.0</a:t>
                      </a:r>
                    </a:p>
                  </a:txBody>
                  <a:tcPr/>
                </a:tc>
                <a:tc>
                  <a:txBody>
                    <a:bodyPr/>
                    <a:lstStyle/>
                    <a:p>
                      <a:pPr algn="ctr">
                        <a:defRPr sz="1300">
                          <a:solidFill>
                            <a:srgbClr val="333333"/>
                          </a:solidFill>
                          <a:latin typeface="Calibri"/>
                        </a:defRPr>
                      </a:pPr>
                      <a:r>
                        <a:t>1475.9</a:t>
                      </a:r>
                    </a:p>
                  </a:txBody>
                  <a:tcPr/>
                </a:tc>
                <a:tc>
                  <a:txBody>
                    <a:bodyPr/>
                    <a:lstStyle/>
                    <a:p>
                      <a:pPr algn="ctr">
                        <a:defRPr sz="1300">
                          <a:solidFill>
                            <a:srgbClr val="333333"/>
                          </a:solidFill>
                          <a:latin typeface="Calibri"/>
                        </a:defRPr>
                      </a:pPr>
                      <a:r>
                        <a:t>1397.1</a:t>
                      </a:r>
                    </a:p>
                  </a:txBody>
                  <a:tcPr/>
                </a:tc>
                <a:tc>
                  <a:txBody>
                    <a:bodyPr/>
                    <a:lstStyle/>
                    <a:p>
                      <a:pPr algn="ctr">
                        <a:defRPr sz="1300">
                          <a:solidFill>
                            <a:srgbClr val="333333"/>
                          </a:solidFill>
                          <a:latin typeface="Calibri"/>
                        </a:defRPr>
                      </a:pPr>
                      <a:r>
                        <a:t>+5.6%</a:t>
                      </a:r>
                    </a:p>
                  </a:txBody>
                  <a:tcPr/>
                </a:tc>
                <a:tc>
                  <a:txBody>
                    <a:bodyPr/>
                    <a:lstStyle/>
                    <a:p>
                      <a:pPr algn="ctr">
                        <a:defRPr sz="1300">
                          <a:solidFill>
                            <a:srgbClr val="333333"/>
                          </a:solidFill>
                          <a:latin typeface="Calibri"/>
                        </a:defRPr>
                      </a:pPr>
                      <a:r>
                        <a:t>68.4</a:t>
                      </a:r>
                    </a:p>
                  </a:txBody>
                  <a:tcPr/>
                </a:tc>
                <a:tc>
                  <a:txBody>
                    <a:bodyPr/>
                    <a:lstStyle/>
                    <a:p>
                      <a:pPr algn="ctr">
                        <a:defRPr sz="1300">
                          <a:solidFill>
                            <a:srgbClr val="333333"/>
                          </a:solidFill>
                          <a:latin typeface="Calibri"/>
                        </a:defRPr>
                      </a:pPr>
                      <a:r>
                        <a:t>70.4</a:t>
                      </a:r>
                    </a:p>
                  </a:txBody>
                  <a:tcPr/>
                </a:tc>
                <a:tc>
                  <a:txBody>
                    <a:bodyPr/>
                    <a:lstStyle/>
                    <a:p>
                      <a:pPr algn="ctr">
                        <a:defRPr sz="1300">
                          <a:solidFill>
                            <a:srgbClr val="333333"/>
                          </a:solidFill>
                          <a:latin typeface="Calibri"/>
                        </a:defRPr>
                      </a:pPr>
                      <a:r>
                        <a:t>−2.9%</a:t>
                      </a:r>
                    </a:p>
                  </a:txBody>
                  <a:tcPr/>
                </a:tc>
              </a:tr>
              <a:tr h="308610">
                <a:tc>
                  <a:txBody>
                    <a:bodyPr/>
                    <a:lstStyle/>
                    <a:p>
                      <a:pPr algn="ctr">
                        <a:defRPr sz="1300">
                          <a:solidFill>
                            <a:srgbClr val="333333"/>
                          </a:solidFill>
                          <a:latin typeface="Calibri"/>
                        </a:defRPr>
                      </a:pPr>
                      <a:r>
                        <a:t>0.2</a:t>
                      </a:r>
                    </a:p>
                  </a:txBody>
                  <a:tcPr/>
                </a:tc>
                <a:tc>
                  <a:txBody>
                    <a:bodyPr/>
                    <a:lstStyle/>
                    <a:p>
                      <a:pPr algn="ctr">
                        <a:defRPr sz="1300">
                          <a:solidFill>
                            <a:srgbClr val="333333"/>
                          </a:solidFill>
                          <a:latin typeface="Calibri"/>
                        </a:defRPr>
                      </a:pPr>
                      <a:r>
                        <a:t>1518.0</a:t>
                      </a:r>
                    </a:p>
                  </a:txBody>
                  <a:tcPr/>
                </a:tc>
                <a:tc>
                  <a:txBody>
                    <a:bodyPr/>
                    <a:lstStyle/>
                    <a:p>
                      <a:pPr algn="ctr">
                        <a:defRPr sz="1300">
                          <a:solidFill>
                            <a:srgbClr val="333333"/>
                          </a:solidFill>
                          <a:latin typeface="Calibri"/>
                        </a:defRPr>
                      </a:pPr>
                      <a:r>
                        <a:t>1456.9</a:t>
                      </a:r>
                    </a:p>
                  </a:txBody>
                  <a:tcPr/>
                </a:tc>
                <a:tc>
                  <a:txBody>
                    <a:bodyPr/>
                    <a:lstStyle/>
                    <a:p>
                      <a:pPr algn="ctr">
                        <a:defRPr sz="1300">
                          <a:solidFill>
                            <a:srgbClr val="333333"/>
                          </a:solidFill>
                          <a:latin typeface="Calibri"/>
                        </a:defRPr>
                      </a:pPr>
                      <a:r>
                        <a:t>+4.2%</a:t>
                      </a:r>
                    </a:p>
                  </a:txBody>
                  <a:tcPr/>
                </a:tc>
                <a:tc>
                  <a:txBody>
                    <a:bodyPr/>
                    <a:lstStyle/>
                    <a:p>
                      <a:pPr algn="ctr">
                        <a:defRPr sz="1300">
                          <a:solidFill>
                            <a:srgbClr val="333333"/>
                          </a:solidFill>
                          <a:latin typeface="Calibri"/>
                        </a:defRPr>
                      </a:pPr>
                      <a:r>
                        <a:t>65.8</a:t>
                      </a:r>
                    </a:p>
                  </a:txBody>
                  <a:tcPr/>
                </a:tc>
                <a:tc>
                  <a:txBody>
                    <a:bodyPr/>
                    <a:lstStyle/>
                    <a:p>
                      <a:pPr algn="ctr">
                        <a:defRPr sz="1300">
                          <a:solidFill>
                            <a:srgbClr val="333333"/>
                          </a:solidFill>
                          <a:latin typeface="Calibri"/>
                        </a:defRPr>
                      </a:pPr>
                      <a:r>
                        <a:t>70.0</a:t>
                      </a:r>
                    </a:p>
                  </a:txBody>
                  <a:tcPr/>
                </a:tc>
                <a:tc>
                  <a:txBody>
                    <a:bodyPr/>
                    <a:lstStyle/>
                    <a:p>
                      <a:pPr algn="ctr">
                        <a:defRPr sz="1300">
                          <a:solidFill>
                            <a:srgbClr val="333333"/>
                          </a:solidFill>
                          <a:latin typeface="Calibri"/>
                        </a:defRPr>
                      </a:pPr>
                      <a:r>
                        <a:t>−6.1%</a:t>
                      </a:r>
                    </a:p>
                  </a:txBody>
                  <a:tcPr/>
                </a:tc>
              </a:tr>
              <a:tr h="308610">
                <a:tc>
                  <a:txBody>
                    <a:bodyPr/>
                    <a:lstStyle/>
                    <a:p>
                      <a:pPr algn="ctr">
                        <a:defRPr sz="1300">
                          <a:solidFill>
                            <a:srgbClr val="333333"/>
                          </a:solidFill>
                          <a:latin typeface="Calibri"/>
                        </a:defRPr>
                      </a:pPr>
                      <a:r>
                        <a:t>0.4</a:t>
                      </a:r>
                    </a:p>
                  </a:txBody>
                  <a:tcPr/>
                </a:tc>
                <a:tc>
                  <a:txBody>
                    <a:bodyPr/>
                    <a:lstStyle/>
                    <a:p>
                      <a:pPr algn="ctr">
                        <a:defRPr sz="1300">
                          <a:solidFill>
                            <a:srgbClr val="333333"/>
                          </a:solidFill>
                          <a:latin typeface="Calibri"/>
                        </a:defRPr>
                      </a:pPr>
                      <a:r>
                        <a:t>1608.5</a:t>
                      </a:r>
                    </a:p>
                  </a:txBody>
                  <a:tcPr/>
                </a:tc>
                <a:tc>
                  <a:txBody>
                    <a:bodyPr/>
                    <a:lstStyle/>
                    <a:p>
                      <a:pPr algn="ctr">
                        <a:defRPr sz="1300">
                          <a:solidFill>
                            <a:srgbClr val="333333"/>
                          </a:solidFill>
                          <a:latin typeface="Calibri"/>
                        </a:defRPr>
                      </a:pPr>
                      <a:r>
                        <a:t>1524.9</a:t>
                      </a:r>
                    </a:p>
                  </a:txBody>
                  <a:tcPr/>
                </a:tc>
                <a:tc>
                  <a:txBody>
                    <a:bodyPr/>
                    <a:lstStyle/>
                    <a:p>
                      <a:pPr algn="ctr">
                        <a:defRPr sz="1300">
                          <a:solidFill>
                            <a:srgbClr val="333333"/>
                          </a:solidFill>
                          <a:latin typeface="Calibri"/>
                        </a:defRPr>
                      </a:pPr>
                      <a:r>
                        <a:t>+5.5%</a:t>
                      </a:r>
                    </a:p>
                  </a:txBody>
                  <a:tcPr/>
                </a:tc>
                <a:tc>
                  <a:txBody>
                    <a:bodyPr/>
                    <a:lstStyle/>
                    <a:p>
                      <a:pPr algn="ctr">
                        <a:defRPr sz="1300">
                          <a:solidFill>
                            <a:srgbClr val="333333"/>
                          </a:solidFill>
                          <a:latin typeface="Calibri"/>
                        </a:defRPr>
                      </a:pPr>
                      <a:r>
                        <a:t>66.4</a:t>
                      </a:r>
                    </a:p>
                  </a:txBody>
                  <a:tcPr/>
                </a:tc>
                <a:tc>
                  <a:txBody>
                    <a:bodyPr/>
                    <a:lstStyle/>
                    <a:p>
                      <a:pPr algn="ctr">
                        <a:defRPr sz="1300">
                          <a:solidFill>
                            <a:srgbClr val="333333"/>
                          </a:solidFill>
                          <a:latin typeface="Calibri"/>
                        </a:defRPr>
                      </a:pPr>
                      <a:r>
                        <a:t>69.3</a:t>
                      </a:r>
                    </a:p>
                  </a:txBody>
                  <a:tcPr/>
                </a:tc>
                <a:tc>
                  <a:txBody>
                    <a:bodyPr/>
                    <a:lstStyle/>
                    <a:p>
                      <a:pPr algn="ctr">
                        <a:defRPr sz="1300">
                          <a:solidFill>
                            <a:srgbClr val="333333"/>
                          </a:solidFill>
                          <a:latin typeface="Calibri"/>
                        </a:defRPr>
                      </a:pPr>
                      <a:r>
                        <a:t>−4.2%</a:t>
                      </a:r>
                    </a:p>
                  </a:txBody>
                  <a:tcPr/>
                </a:tc>
              </a:tr>
              <a:tr h="308610">
                <a:tc>
                  <a:txBody>
                    <a:bodyPr/>
                    <a:lstStyle/>
                    <a:p>
                      <a:pPr algn="ctr">
                        <a:defRPr sz="1300">
                          <a:solidFill>
                            <a:srgbClr val="333333"/>
                          </a:solidFill>
                          <a:latin typeface="Calibri"/>
                        </a:defRPr>
                      </a:pPr>
                      <a:r>
                        <a:t>0.5</a:t>
                      </a:r>
                    </a:p>
                  </a:txBody>
                  <a:tcPr/>
                </a:tc>
                <a:tc>
                  <a:txBody>
                    <a:bodyPr/>
                    <a:lstStyle/>
                    <a:p>
                      <a:pPr algn="ctr">
                        <a:defRPr sz="1300">
                          <a:solidFill>
                            <a:srgbClr val="333333"/>
                          </a:solidFill>
                          <a:latin typeface="Calibri"/>
                        </a:defRPr>
                      </a:pPr>
                      <a:r>
                        <a:t>1630.3</a:t>
                      </a:r>
                    </a:p>
                  </a:txBody>
                  <a:tcPr/>
                </a:tc>
                <a:tc>
                  <a:txBody>
                    <a:bodyPr/>
                    <a:lstStyle/>
                    <a:p>
                      <a:pPr algn="ctr">
                        <a:defRPr sz="1300">
                          <a:solidFill>
                            <a:srgbClr val="333333"/>
                          </a:solidFill>
                          <a:latin typeface="Calibri"/>
                        </a:defRPr>
                      </a:pPr>
                      <a:r>
                        <a:t>1556.6</a:t>
                      </a:r>
                    </a:p>
                  </a:txBody>
                  <a:tcPr/>
                </a:tc>
                <a:tc>
                  <a:txBody>
                    <a:bodyPr/>
                    <a:lstStyle/>
                    <a:p>
                      <a:pPr algn="ctr">
                        <a:defRPr sz="1300">
                          <a:solidFill>
                            <a:srgbClr val="333333"/>
                          </a:solidFill>
                          <a:latin typeface="Calibri"/>
                        </a:defRPr>
                      </a:pPr>
                      <a:r>
                        <a:t>+4.7%</a:t>
                      </a:r>
                    </a:p>
                  </a:txBody>
                  <a:tcPr/>
                </a:tc>
                <a:tc>
                  <a:txBody>
                    <a:bodyPr/>
                    <a:lstStyle/>
                    <a:p>
                      <a:pPr algn="ctr">
                        <a:defRPr sz="1300">
                          <a:solidFill>
                            <a:srgbClr val="333333"/>
                          </a:solidFill>
                          <a:latin typeface="Calibri"/>
                        </a:defRPr>
                      </a:pPr>
                      <a:r>
                        <a:t>66.0</a:t>
                      </a:r>
                    </a:p>
                  </a:txBody>
                  <a:tcPr/>
                </a:tc>
                <a:tc>
                  <a:txBody>
                    <a:bodyPr/>
                    <a:lstStyle/>
                    <a:p>
                      <a:pPr algn="ctr">
                        <a:defRPr sz="1300">
                          <a:solidFill>
                            <a:srgbClr val="333333"/>
                          </a:solidFill>
                          <a:latin typeface="Calibri"/>
                        </a:defRPr>
                      </a:pPr>
                      <a:r>
                        <a:t>69.1</a:t>
                      </a:r>
                    </a:p>
                  </a:txBody>
                  <a:tcPr/>
                </a:tc>
                <a:tc>
                  <a:txBody>
                    <a:bodyPr/>
                    <a:lstStyle/>
                    <a:p>
                      <a:pPr algn="ctr">
                        <a:defRPr sz="1300">
                          <a:solidFill>
                            <a:srgbClr val="333333"/>
                          </a:solidFill>
                          <a:latin typeface="Calibri"/>
                        </a:defRPr>
                      </a:pPr>
                      <a:r>
                        <a:t>−4.4%</a:t>
                      </a:r>
                    </a:p>
                  </a:txBody>
                  <a:tcPr/>
                </a:tc>
              </a:tr>
              <a:tr h="308610">
                <a:tc>
                  <a:txBody>
                    <a:bodyPr/>
                    <a:lstStyle/>
                    <a:p>
                      <a:pPr algn="ctr">
                        <a:defRPr sz="1300">
                          <a:solidFill>
                            <a:srgbClr val="333333"/>
                          </a:solidFill>
                          <a:latin typeface="Calibri"/>
                        </a:defRPr>
                      </a:pPr>
                      <a:r>
                        <a:t>0.6</a:t>
                      </a:r>
                    </a:p>
                  </a:txBody>
                  <a:tcPr/>
                </a:tc>
                <a:tc>
                  <a:txBody>
                    <a:bodyPr/>
                    <a:lstStyle/>
                    <a:p>
                      <a:pPr algn="ctr">
                        <a:defRPr sz="1300">
                          <a:solidFill>
                            <a:srgbClr val="333333"/>
                          </a:solidFill>
                          <a:latin typeface="Calibri"/>
                        </a:defRPr>
                      </a:pPr>
                      <a:r>
                        <a:t>1540.8</a:t>
                      </a:r>
                    </a:p>
                  </a:txBody>
                  <a:tcPr/>
                </a:tc>
                <a:tc>
                  <a:txBody>
                    <a:bodyPr/>
                    <a:lstStyle/>
                    <a:p>
                      <a:pPr algn="ctr">
                        <a:defRPr sz="1300">
                          <a:solidFill>
                            <a:srgbClr val="333333"/>
                          </a:solidFill>
                          <a:latin typeface="Calibri"/>
                        </a:defRPr>
                      </a:pPr>
                      <a:r>
                        <a:t>1519.8</a:t>
                      </a:r>
                    </a:p>
                  </a:txBody>
                  <a:tcPr/>
                </a:tc>
                <a:tc>
                  <a:txBody>
                    <a:bodyPr/>
                    <a:lstStyle/>
                    <a:p>
                      <a:pPr algn="ctr">
                        <a:defRPr sz="1300">
                          <a:solidFill>
                            <a:srgbClr val="333333"/>
                          </a:solidFill>
                          <a:latin typeface="Calibri"/>
                        </a:defRPr>
                      </a:pPr>
                      <a:r>
                        <a:t>+1.4%</a:t>
                      </a:r>
                    </a:p>
                  </a:txBody>
                  <a:tcPr/>
                </a:tc>
                <a:tc>
                  <a:txBody>
                    <a:bodyPr/>
                    <a:lstStyle/>
                    <a:p>
                      <a:pPr algn="ctr">
                        <a:defRPr sz="1300">
                          <a:solidFill>
                            <a:srgbClr val="333333"/>
                          </a:solidFill>
                          <a:latin typeface="Calibri"/>
                        </a:defRPr>
                      </a:pPr>
                      <a:r>
                        <a:t>65.5</a:t>
                      </a:r>
                    </a:p>
                  </a:txBody>
                  <a:tcPr/>
                </a:tc>
                <a:tc>
                  <a:txBody>
                    <a:bodyPr/>
                    <a:lstStyle/>
                    <a:p>
                      <a:pPr algn="ctr">
                        <a:defRPr sz="1300">
                          <a:solidFill>
                            <a:srgbClr val="333333"/>
                          </a:solidFill>
                          <a:latin typeface="Calibri"/>
                        </a:defRPr>
                      </a:pPr>
                      <a:r>
                        <a:t>68.3</a:t>
                      </a:r>
                    </a:p>
                  </a:txBody>
                  <a:tcPr/>
                </a:tc>
                <a:tc>
                  <a:txBody>
                    <a:bodyPr/>
                    <a:lstStyle/>
                    <a:p>
                      <a:pPr algn="ctr">
                        <a:defRPr sz="1300">
                          <a:solidFill>
                            <a:srgbClr val="333333"/>
                          </a:solidFill>
                          <a:latin typeface="Calibri"/>
                        </a:defRPr>
                      </a:pPr>
                      <a:r>
                        <a:t>−4.0%</a:t>
                      </a:r>
                    </a:p>
                  </a:txBody>
                  <a:tcPr/>
                </a:tc>
              </a:tr>
              <a:tr h="308610">
                <a:tc>
                  <a:txBody>
                    <a:bodyPr/>
                    <a:lstStyle/>
                    <a:p>
                      <a:pPr algn="ctr">
                        <a:defRPr sz="1300">
                          <a:solidFill>
                            <a:srgbClr val="333333"/>
                          </a:solidFill>
                          <a:latin typeface="Calibri"/>
                        </a:defRPr>
                      </a:pPr>
                      <a:r>
                        <a:t>0.8</a:t>
                      </a:r>
                    </a:p>
                  </a:txBody>
                  <a:tcPr/>
                </a:tc>
                <a:tc>
                  <a:txBody>
                    <a:bodyPr/>
                    <a:lstStyle/>
                    <a:p>
                      <a:pPr algn="ctr">
                        <a:defRPr sz="1300">
                          <a:solidFill>
                            <a:srgbClr val="333333"/>
                          </a:solidFill>
                          <a:latin typeface="Calibri"/>
                        </a:defRPr>
                      </a:pPr>
                      <a:r>
                        <a:t>1114.5</a:t>
                      </a:r>
                    </a:p>
                  </a:txBody>
                  <a:tcPr/>
                </a:tc>
                <a:tc>
                  <a:txBody>
                    <a:bodyPr/>
                    <a:lstStyle/>
                    <a:p>
                      <a:pPr algn="ctr">
                        <a:defRPr sz="1300">
                          <a:solidFill>
                            <a:srgbClr val="333333"/>
                          </a:solidFill>
                          <a:latin typeface="Calibri"/>
                        </a:defRPr>
                      </a:pPr>
                      <a:r>
                        <a:t>1224.4</a:t>
                      </a:r>
                    </a:p>
                  </a:txBody>
                  <a:tcPr/>
                </a:tc>
                <a:tc>
                  <a:txBody>
                    <a:bodyPr/>
                    <a:lstStyle/>
                    <a:p>
                      <a:pPr algn="ctr">
                        <a:defRPr sz="1300">
                          <a:solidFill>
                            <a:srgbClr val="333333"/>
                          </a:solidFill>
                          <a:latin typeface="Calibri"/>
                        </a:defRPr>
                      </a:pPr>
                      <a:r>
                        <a:t>−9.0%</a:t>
                      </a:r>
                    </a:p>
                  </a:txBody>
                  <a:tcPr/>
                </a:tc>
                <a:tc>
                  <a:txBody>
                    <a:bodyPr/>
                    <a:lstStyle/>
                    <a:p>
                      <a:pPr algn="ctr">
                        <a:defRPr sz="1300">
                          <a:solidFill>
                            <a:srgbClr val="333333"/>
                          </a:solidFill>
                          <a:latin typeface="Calibri"/>
                        </a:defRPr>
                      </a:pPr>
                      <a:r>
                        <a:t>57.9</a:t>
                      </a:r>
                    </a:p>
                  </a:txBody>
                  <a:tcPr/>
                </a:tc>
                <a:tc>
                  <a:txBody>
                    <a:bodyPr/>
                    <a:lstStyle/>
                    <a:p>
                      <a:pPr algn="ctr">
                        <a:defRPr sz="1300">
                          <a:solidFill>
                            <a:srgbClr val="333333"/>
                          </a:solidFill>
                          <a:latin typeface="Calibri"/>
                        </a:defRPr>
                      </a:pPr>
                      <a:r>
                        <a:t>63.0</a:t>
                      </a:r>
                    </a:p>
                  </a:txBody>
                  <a:tcPr/>
                </a:tc>
                <a:tc>
                  <a:txBody>
                    <a:bodyPr/>
                    <a:lstStyle/>
                    <a:p>
                      <a:pPr algn="ctr">
                        <a:defRPr sz="1300">
                          <a:solidFill>
                            <a:srgbClr val="333333"/>
                          </a:solidFill>
                          <a:latin typeface="Calibri"/>
                        </a:defRPr>
                      </a:pPr>
                      <a:r>
                        <a:t>−8.0%</a:t>
                      </a:r>
                    </a:p>
                  </a:txBody>
                  <a:tcPr/>
                </a:tc>
              </a:tr>
              <a:tr h="308610">
                <a:tc>
                  <a:txBody>
                    <a:bodyPr/>
                    <a:lstStyle/>
                    <a:p>
                      <a:pPr algn="ctr">
                        <a:defRPr sz="1300">
                          <a:solidFill>
                            <a:srgbClr val="333333"/>
                          </a:solidFill>
                          <a:latin typeface="Calibri"/>
                        </a:defRPr>
                      </a:pPr>
                      <a:r>
                        <a:t>1.0</a:t>
                      </a:r>
                    </a:p>
                  </a:txBody>
                  <a:tcPr/>
                </a:tc>
                <a:tc>
                  <a:txBody>
                    <a:bodyPr/>
                    <a:lstStyle/>
                    <a:p>
                      <a:pPr algn="ctr">
                        <a:defRPr sz="1300">
                          <a:solidFill>
                            <a:srgbClr val="333333"/>
                          </a:solidFill>
                          <a:latin typeface="Calibri"/>
                        </a:defRPr>
                      </a:pPr>
                      <a:r>
                        <a:t>720.4</a:t>
                      </a:r>
                    </a:p>
                  </a:txBody>
                  <a:tcPr/>
                </a:tc>
                <a:tc>
                  <a:txBody>
                    <a:bodyPr/>
                    <a:lstStyle/>
                    <a:p>
                      <a:pPr algn="ctr">
                        <a:defRPr sz="1300">
                          <a:solidFill>
                            <a:srgbClr val="333333"/>
                          </a:solidFill>
                          <a:latin typeface="Calibri"/>
                        </a:defRPr>
                      </a:pPr>
                      <a:r>
                        <a:t>918.5</a:t>
                      </a:r>
                    </a:p>
                  </a:txBody>
                  <a:tcPr/>
                </a:tc>
                <a:tc>
                  <a:txBody>
                    <a:bodyPr/>
                    <a:lstStyle/>
                    <a:p>
                      <a:pPr algn="ctr">
                        <a:defRPr sz="1300">
                          <a:solidFill>
                            <a:srgbClr val="333333"/>
                          </a:solidFill>
                          <a:latin typeface="Calibri"/>
                        </a:defRPr>
                      </a:pPr>
                      <a:r>
                        <a:t>−21.6%</a:t>
                      </a:r>
                    </a:p>
                  </a:txBody>
                  <a:tcPr/>
                </a:tc>
                <a:tc>
                  <a:txBody>
                    <a:bodyPr/>
                    <a:lstStyle/>
                    <a:p>
                      <a:pPr algn="ctr">
                        <a:defRPr sz="1300">
                          <a:solidFill>
                            <a:srgbClr val="333333"/>
                          </a:solidFill>
                          <a:latin typeface="Calibri"/>
                        </a:defRPr>
                      </a:pPr>
                      <a:r>
                        <a:t>51.7</a:t>
                      </a:r>
                    </a:p>
                  </a:txBody>
                  <a:tcPr/>
                </a:tc>
                <a:tc>
                  <a:txBody>
                    <a:bodyPr/>
                    <a:lstStyle/>
                    <a:p>
                      <a:pPr algn="ctr">
                        <a:defRPr sz="1300">
                          <a:solidFill>
                            <a:srgbClr val="333333"/>
                          </a:solidFill>
                          <a:latin typeface="Calibri"/>
                        </a:defRPr>
                      </a:pPr>
                      <a:r>
                        <a:t>57.2</a:t>
                      </a:r>
                    </a:p>
                  </a:txBody>
                  <a:tcPr/>
                </a:tc>
                <a:tc>
                  <a:txBody>
                    <a:bodyPr/>
                    <a:lstStyle/>
                    <a:p>
                      <a:pPr algn="ctr">
                        <a:defRPr sz="1300">
                          <a:solidFill>
                            <a:srgbClr val="333333"/>
                          </a:solidFill>
                          <a:latin typeface="Calibri"/>
                        </a:defRPr>
                      </a:pPr>
                      <a:r>
                        <a:t>−9.7%</a:t>
                      </a:r>
                    </a:p>
                  </a:txBody>
                  <a:tcPr/>
                </a:tc>
              </a:tr>
            </a:tbl>
          </a:graphicData>
        </a:graphic>
      </p:graphicFrame>
      <p:sp>
        <p:nvSpPr>
          <p:cNvPr id="5" name="Rectangle 4"/>
          <p:cNvSpPr/>
          <p:nvPr/>
        </p:nvSpPr>
        <p:spPr>
          <a:xfrm>
            <a:off x="457200" y="3977639"/>
            <a:ext cx="11247120" cy="2377440"/>
          </a:xfrm>
          <a:prstGeom prst="rect">
            <a:avLst/>
          </a:prstGeom>
          <a:solidFill>
            <a:srgbClr val="E6F5E6"/>
          </a:solidFill>
          <a:ln w="25400">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114800"/>
            <a:ext cx="10698480" cy="457200"/>
          </a:xfrm>
          <a:prstGeom prst="rect">
            <a:avLst/>
          </a:prstGeom>
          <a:noFill/>
        </p:spPr>
        <p:txBody>
          <a:bodyPr wrap="square">
            <a:spAutoFit/>
          </a:bodyPr>
          <a:lstStyle/>
          <a:p>
            <a:pPr algn="l">
              <a:defRPr sz="2200" b="1">
                <a:solidFill>
                  <a:srgbClr val="008000"/>
                </a:solidFill>
                <a:latin typeface="Calibri"/>
              </a:defRPr>
            </a:pPr>
            <a:r>
              <a:t>🎯 Result (the previous claim has reversed)</a:t>
            </a:r>
          </a:p>
        </p:txBody>
      </p:sp>
      <p:sp>
        <p:nvSpPr>
          <p:cNvPr id="7" name="TextBox 6"/>
          <p:cNvSpPr txBox="1"/>
          <p:nvPr/>
        </p:nvSpPr>
        <p:spPr>
          <a:xfrm>
            <a:off x="731520" y="4663440"/>
            <a:ext cx="10698480" cy="1554480"/>
          </a:xfrm>
          <a:prstGeom prst="rect">
            <a:avLst/>
          </a:prstGeom>
          <a:noFill/>
        </p:spPr>
        <p:txBody>
          <a:bodyPr wrap="square">
            <a:spAutoFit/>
          </a:bodyPr>
          <a:lstStyle/>
          <a:p>
            <a:pPr>
              <a:spcAft>
                <a:spcPts val="400"/>
              </a:spcAft>
              <a:defRPr sz="1500">
                <a:solidFill>
                  <a:srgbClr val="333333"/>
                </a:solidFill>
                <a:latin typeface="Calibri"/>
              </a:defRPr>
            </a:pPr>
            <a:r>
              <a:t>• Over the weights from 0.0 to 0.6 the single policy removes 1.4% to 5.6% more material for 2.9% to 6.1% less energy</a:t>
            </a:r>
          </a:p>
          <a:p>
            <a:pPr>
              <a:spcAft>
                <a:spcPts val="400"/>
              </a:spcAft>
              <a:defRPr sz="1500">
                <a:solidFill>
                  <a:srgbClr val="333333"/>
                </a:solidFill>
                <a:latin typeface="Calibri"/>
              </a:defRPr>
            </a:pPr>
            <a:r>
              <a:t>• At w₂ = 0.8 and w₂ = 1.0 it is behind by 9.0% and 21.6% of the removal rate</a:t>
            </a:r>
          </a:p>
          <a:p>
            <a:pPr>
              <a:spcAft>
                <a:spcPts val="400"/>
              </a:spcAft>
              <a:defRPr sz="1500">
                <a:solidFill>
                  <a:srgbClr val="333333"/>
                </a:solidFill>
                <a:latin typeface="Calibri"/>
              </a:defRPr>
            </a:pPr>
            <a:r>
              <a:t>• The weight in the observation is a weaker signal than a dedicated policy where the trade-off is steepest</a:t>
            </a:r>
          </a:p>
          <a:p>
            <a:pPr>
              <a:spcAft>
                <a:spcPts val="400"/>
              </a:spcAft>
              <a:defRPr sz="1500">
                <a:solidFill>
                  <a:srgbClr val="333333"/>
                </a:solidFill>
                <a:latin typeface="Calibri"/>
              </a:defRPr>
            </a:pPr>
            <a:r>
              <a:t>• The same policy swept at runtime: MRR 1475.9 (w₂ = 0.0) → 720.4 (w₂ = 1.0), energy 68.4 → 51.7 kJ, spindle 8000 → 4111 RPM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Baseline Comparison (50 Episodes, Nominal Condition, w₂ = 0.4)</a:t>
            </a:r>
          </a:p>
        </p:txBody>
      </p:sp>
      <p:graphicFrame>
        <p:nvGraphicFramePr>
          <p:cNvPr id="4" name="Table 3"/>
          <p:cNvGraphicFramePr>
            <a:graphicFrameLocks noGrp="1"/>
          </p:cNvGraphicFramePr>
          <p:nvPr/>
        </p:nvGraphicFramePr>
        <p:xfrm>
          <a:off x="1097280" y="1280160"/>
          <a:ext cx="9875520" cy="2194560"/>
        </p:xfrm>
        <a:graphic>
          <a:graphicData uri="http://schemas.openxmlformats.org/drawingml/2006/table">
            <a:tbl>
              <a:tblPr firstRow="1" bandRow="1">
                <a:tableStyleId>{5C22544A-7EE6-4342-B048-85BDC9FD1C3A}</a:tableStyleId>
              </a:tblPr>
              <a:tblGrid>
                <a:gridCol w="2743200"/>
                <a:gridCol w="1645920"/>
                <a:gridCol w="2011680"/>
                <a:gridCol w="1828800"/>
                <a:gridCol w="1645920"/>
              </a:tblGrid>
              <a:tr h="365760">
                <a:tc>
                  <a:txBody>
                    <a:bodyPr/>
                    <a:lstStyle/>
                    <a:p>
                      <a:pPr algn="ctr">
                        <a:defRPr sz="1400" b="1">
                          <a:solidFill>
                            <a:srgbClr val="FFFFFF"/>
                          </a:solidFill>
                          <a:latin typeface="Calibri"/>
                        </a:defRPr>
                      </a:pPr>
                      <a:r>
                        <a:t>Policy</a:t>
                      </a:r>
                    </a:p>
                  </a:txBody>
                  <a:tcPr>
                    <a:solidFill>
                      <a:srgbClr val="003366"/>
                    </a:solidFill>
                  </a:tcPr>
                </a:tc>
                <a:tc>
                  <a:txBody>
                    <a:bodyPr/>
                    <a:lstStyle/>
                    <a:p>
                      <a:pPr algn="ctr">
                        <a:defRPr sz="1400" b="1">
                          <a:solidFill>
                            <a:srgbClr val="FFFFFF"/>
                          </a:solidFill>
                          <a:latin typeface="Calibri"/>
                        </a:defRPr>
                      </a:pPr>
                      <a:r>
                        <a:t>Reward</a:t>
                      </a:r>
                    </a:p>
                  </a:txBody>
                  <a:tcPr>
                    <a:solidFill>
                      <a:srgbClr val="003366"/>
                    </a:solidFill>
                  </a:tcPr>
                </a:tc>
                <a:tc>
                  <a:txBody>
                    <a:bodyPr/>
                    <a:lstStyle/>
                    <a:p>
                      <a:pPr algn="ctr">
                        <a:defRPr sz="1400" b="1">
                          <a:solidFill>
                            <a:srgbClr val="FFFFFF"/>
                          </a:solidFill>
                          <a:latin typeface="Calibri"/>
                        </a:defRPr>
                      </a:pPr>
                      <a:r>
                        <a:t>MRR (mm³/min)</a:t>
                      </a:r>
                    </a:p>
                  </a:txBody>
                  <a:tcPr>
                    <a:solidFill>
                      <a:srgbClr val="003366"/>
                    </a:solidFill>
                  </a:tcPr>
                </a:tc>
                <a:tc>
                  <a:txBody>
                    <a:bodyPr/>
                    <a:lstStyle/>
                    <a:p>
                      <a:pPr algn="ctr">
                        <a:defRPr sz="1400" b="1">
                          <a:solidFill>
                            <a:srgbClr val="FFFFFF"/>
                          </a:solidFill>
                          <a:latin typeface="Calibri"/>
                        </a:defRPr>
                      </a:pPr>
                      <a:r>
                        <a:t>Energy (kJ)</a:t>
                      </a:r>
                    </a:p>
                  </a:txBody>
                  <a:tcPr>
                    <a:solidFill>
                      <a:srgbClr val="003366"/>
                    </a:solidFill>
                  </a:tcPr>
                </a:tc>
                <a:tc>
                  <a:txBody>
                    <a:bodyPr/>
                    <a:lstStyle/>
                    <a:p>
                      <a:pPr algn="ctr">
                        <a:defRPr sz="1400" b="1">
                          <a:solidFill>
                            <a:srgbClr val="FFFFFF"/>
                          </a:solidFill>
                          <a:latin typeface="Calibri"/>
                        </a:defRPr>
                      </a:pPr>
                      <a:r>
                        <a:t>Cycle (s)</a:t>
                      </a:r>
                    </a:p>
                  </a:txBody>
                  <a:tcPr>
                    <a:solidFill>
                      <a:srgbClr val="003366"/>
                    </a:solidFill>
                  </a:tcPr>
                </a:tc>
              </a:tr>
              <a:tr h="365760">
                <a:tc>
                  <a:txBody>
                    <a:bodyPr/>
                    <a:lstStyle/>
                    <a:p>
                      <a:pPr algn="ctr">
                        <a:defRPr sz="1400">
                          <a:solidFill>
                            <a:srgbClr val="333333"/>
                          </a:solidFill>
                          <a:latin typeface="Calibri"/>
                        </a:defRPr>
                      </a:pPr>
                      <a:r>
                        <a:t>Constant high</a:t>
                      </a:r>
                    </a:p>
                  </a:txBody>
                  <a:tcPr/>
                </a:tc>
                <a:tc>
                  <a:txBody>
                    <a:bodyPr/>
                    <a:lstStyle/>
                    <a:p>
                      <a:pPr algn="ctr">
                        <a:defRPr sz="1400">
                          <a:solidFill>
                            <a:srgbClr val="333333"/>
                          </a:solidFill>
                          <a:latin typeface="Calibri"/>
                        </a:defRPr>
                      </a:pPr>
                      <a:r>
                        <a:t>10.0</a:t>
                      </a:r>
                    </a:p>
                  </a:txBody>
                  <a:tcPr/>
                </a:tc>
                <a:tc>
                  <a:txBody>
                    <a:bodyPr/>
                    <a:lstStyle/>
                    <a:p>
                      <a:pPr algn="ctr">
                        <a:defRPr sz="1400">
                          <a:solidFill>
                            <a:srgbClr val="333333"/>
                          </a:solidFill>
                          <a:latin typeface="Calibri"/>
                        </a:defRPr>
                      </a:pPr>
                      <a:r>
                        <a:t>1099.6</a:t>
                      </a:r>
                    </a:p>
                  </a:txBody>
                  <a:tcPr/>
                </a:tc>
                <a:tc>
                  <a:txBody>
                    <a:bodyPr/>
                    <a:lstStyle/>
                    <a:p>
                      <a:pPr algn="ctr">
                        <a:defRPr sz="1400">
                          <a:solidFill>
                            <a:srgbClr val="333333"/>
                          </a:solidFill>
                          <a:latin typeface="Calibri"/>
                        </a:defRPr>
                      </a:pPr>
                      <a:r>
                        <a:t>17.8</a:t>
                      </a:r>
                    </a:p>
                  </a:txBody>
                  <a:tcPr/>
                </a:tc>
                <a:tc>
                  <a:txBody>
                    <a:bodyPr/>
                    <a:lstStyle/>
                    <a:p>
                      <a:pPr algn="ctr">
                        <a:defRPr sz="1400">
                          <a:solidFill>
                            <a:srgbClr val="333333"/>
                          </a:solidFill>
                          <a:latin typeface="Calibri"/>
                        </a:defRPr>
                      </a:pPr>
                      <a:r>
                        <a:t>4.3</a:t>
                      </a:r>
                    </a:p>
                  </a:txBody>
                  <a:tcPr/>
                </a:tc>
              </a:tr>
              <a:tr h="365760">
                <a:tc>
                  <a:txBody>
                    <a:bodyPr/>
                    <a:lstStyle/>
                    <a:p>
                      <a:pPr algn="ctr">
                        <a:defRPr sz="1400">
                          <a:solidFill>
                            <a:srgbClr val="333333"/>
                          </a:solidFill>
                          <a:latin typeface="Calibri"/>
                        </a:defRPr>
                      </a:pPr>
                      <a:r>
                        <a:t>NSGA-II static</a:t>
                      </a:r>
                    </a:p>
                  </a:txBody>
                  <a:tcPr/>
                </a:tc>
                <a:tc>
                  <a:txBody>
                    <a:bodyPr/>
                    <a:lstStyle/>
                    <a:p>
                      <a:pPr algn="ctr">
                        <a:defRPr sz="1400">
                          <a:solidFill>
                            <a:srgbClr val="333333"/>
                          </a:solidFill>
                          <a:latin typeface="Calibri"/>
                        </a:defRPr>
                      </a:pPr>
                      <a:r>
                        <a:t>5.1</a:t>
                      </a:r>
                    </a:p>
                  </a:txBody>
                  <a:tcPr/>
                </a:tc>
                <a:tc>
                  <a:txBody>
                    <a:bodyPr/>
                    <a:lstStyle/>
                    <a:p>
                      <a:pPr algn="ctr">
                        <a:defRPr sz="1400">
                          <a:solidFill>
                            <a:srgbClr val="333333"/>
                          </a:solidFill>
                          <a:latin typeface="Calibri"/>
                        </a:defRPr>
                      </a:pPr>
                      <a:r>
                        <a:t>732.9</a:t>
                      </a:r>
                    </a:p>
                  </a:txBody>
                  <a:tcPr/>
                </a:tc>
                <a:tc>
                  <a:txBody>
                    <a:bodyPr/>
                    <a:lstStyle/>
                    <a:p>
                      <a:pPr algn="ctr">
                        <a:defRPr sz="1400">
                          <a:solidFill>
                            <a:srgbClr val="333333"/>
                          </a:solidFill>
                          <a:latin typeface="Calibri"/>
                        </a:defRPr>
                      </a:pPr>
                      <a:r>
                        <a:t>18.8</a:t>
                      </a:r>
                    </a:p>
                  </a:txBody>
                  <a:tcPr/>
                </a:tc>
                <a:tc>
                  <a:txBody>
                    <a:bodyPr/>
                    <a:lstStyle/>
                    <a:p>
                      <a:pPr algn="ctr">
                        <a:defRPr sz="1400">
                          <a:solidFill>
                            <a:srgbClr val="333333"/>
                          </a:solidFill>
                          <a:latin typeface="Calibri"/>
                        </a:defRPr>
                      </a:pPr>
                      <a:r>
                        <a:t>6.4</a:t>
                      </a:r>
                    </a:p>
                  </a:txBody>
                  <a:tcPr/>
                </a:tc>
              </a:tr>
              <a:tr h="365760">
                <a:tc>
                  <a:txBody>
                    <a:bodyPr/>
                    <a:lstStyle/>
                    <a:p>
                      <a:pPr algn="ctr">
                        <a:defRPr sz="1400">
                          <a:solidFill>
                            <a:srgbClr val="333333"/>
                          </a:solidFill>
                          <a:latin typeface="Calibri"/>
                        </a:defRPr>
                      </a:pPr>
                      <a:r>
                        <a:t>Rule based</a:t>
                      </a:r>
                    </a:p>
                  </a:txBody>
                  <a:tcPr/>
                </a:tc>
                <a:tc>
                  <a:txBody>
                    <a:bodyPr/>
                    <a:lstStyle/>
                    <a:p>
                      <a:pPr algn="ctr">
                        <a:defRPr sz="1400">
                          <a:solidFill>
                            <a:srgbClr val="333333"/>
                          </a:solidFill>
                          <a:latin typeface="Calibri"/>
                        </a:defRPr>
                      </a:pPr>
                      <a:r>
                        <a:t>3.3</a:t>
                      </a:r>
                    </a:p>
                  </a:txBody>
                  <a:tcPr/>
                </a:tc>
                <a:tc>
                  <a:txBody>
                    <a:bodyPr/>
                    <a:lstStyle/>
                    <a:p>
                      <a:pPr algn="ctr">
                        <a:defRPr sz="1400">
                          <a:solidFill>
                            <a:srgbClr val="333333"/>
                          </a:solidFill>
                          <a:latin typeface="Calibri"/>
                        </a:defRPr>
                      </a:pPr>
                      <a:r>
                        <a:t>719.8</a:t>
                      </a:r>
                    </a:p>
                  </a:txBody>
                  <a:tcPr/>
                </a:tc>
                <a:tc>
                  <a:txBody>
                    <a:bodyPr/>
                    <a:lstStyle/>
                    <a:p>
                      <a:pPr algn="ctr">
                        <a:defRPr sz="1400">
                          <a:solidFill>
                            <a:srgbClr val="333333"/>
                          </a:solidFill>
                          <a:latin typeface="Calibri"/>
                        </a:defRPr>
                      </a:pPr>
                      <a:r>
                        <a:t>18.8</a:t>
                      </a:r>
                    </a:p>
                  </a:txBody>
                  <a:tcPr/>
                </a:tc>
                <a:tc>
                  <a:txBody>
                    <a:bodyPr/>
                    <a:lstStyle/>
                    <a:p>
                      <a:pPr algn="ctr">
                        <a:defRPr sz="1400">
                          <a:solidFill>
                            <a:srgbClr val="333333"/>
                          </a:solidFill>
                          <a:latin typeface="Calibri"/>
                        </a:defRPr>
                      </a:pPr>
                      <a:r>
                        <a:t>6.6</a:t>
                      </a:r>
                    </a:p>
                  </a:txBody>
                  <a:tcPr/>
                </a:tc>
              </a:tr>
              <a:tr h="365760">
                <a:tc>
                  <a:txBody>
                    <a:bodyPr/>
                    <a:lstStyle/>
                    <a:p>
                      <a:pPr algn="ctr">
                        <a:defRPr sz="1400">
                          <a:solidFill>
                            <a:srgbClr val="333333"/>
                          </a:solidFill>
                          <a:latin typeface="Calibri"/>
                        </a:defRPr>
                      </a:pPr>
                      <a:r>
                        <a:t>Receding-horizon</a:t>
                      </a:r>
                    </a:p>
                  </a:txBody>
                  <a:tcPr>
                    <a:solidFill>
                      <a:srgbClr val="FFF8DC"/>
                    </a:solidFill>
                  </a:tcPr>
                </a:tc>
                <a:tc>
                  <a:txBody>
                    <a:bodyPr/>
                    <a:lstStyle/>
                    <a:p>
                      <a:pPr algn="ctr">
                        <a:defRPr sz="1400">
                          <a:solidFill>
                            <a:srgbClr val="333333"/>
                          </a:solidFill>
                          <a:latin typeface="Calibri"/>
                        </a:defRPr>
                      </a:pPr>
                      <a:r>
                        <a:t>253.5</a:t>
                      </a:r>
                    </a:p>
                  </a:txBody>
                  <a:tcPr>
                    <a:solidFill>
                      <a:srgbClr val="FFF8DC"/>
                    </a:solidFill>
                  </a:tcPr>
                </a:tc>
                <a:tc>
                  <a:txBody>
                    <a:bodyPr/>
                    <a:lstStyle/>
                    <a:p>
                      <a:pPr algn="ctr">
                        <a:defRPr sz="1400">
                          <a:solidFill>
                            <a:srgbClr val="333333"/>
                          </a:solidFill>
                          <a:latin typeface="Calibri"/>
                        </a:defRPr>
                      </a:pPr>
                      <a:r>
                        <a:t>725.5</a:t>
                      </a:r>
                    </a:p>
                  </a:txBody>
                  <a:tcPr>
                    <a:solidFill>
                      <a:srgbClr val="FFF8DC"/>
                    </a:solidFill>
                  </a:tcPr>
                </a:tc>
                <a:tc>
                  <a:txBody>
                    <a:bodyPr/>
                    <a:lstStyle/>
                    <a:p>
                      <a:pPr algn="ctr">
                        <a:defRPr sz="1400">
                          <a:solidFill>
                            <a:srgbClr val="333333"/>
                          </a:solidFill>
                          <a:latin typeface="Calibri"/>
                        </a:defRPr>
                      </a:pPr>
                      <a:r>
                        <a:t>19.0</a:t>
                      </a:r>
                    </a:p>
                  </a:txBody>
                  <a:tcPr>
                    <a:solidFill>
                      <a:srgbClr val="FFF8DC"/>
                    </a:solidFill>
                  </a:tcPr>
                </a:tc>
                <a:tc>
                  <a:txBody>
                    <a:bodyPr/>
                    <a:lstStyle/>
                    <a:p>
                      <a:pPr algn="ctr">
                        <a:defRPr sz="1400">
                          <a:solidFill>
                            <a:srgbClr val="333333"/>
                          </a:solidFill>
                          <a:latin typeface="Calibri"/>
                        </a:defRPr>
                      </a:pPr>
                      <a:r>
                        <a:t>6.7</a:t>
                      </a:r>
                    </a:p>
                  </a:txBody>
                  <a:tcPr>
                    <a:solidFill>
                      <a:srgbClr val="FFF8DC"/>
                    </a:solidFill>
                  </a:tcPr>
                </a:tc>
              </a:tr>
              <a:tr h="365760">
                <a:tc>
                  <a:txBody>
                    <a:bodyPr/>
                    <a:lstStyle/>
                    <a:p>
                      <a:pPr algn="ctr">
                        <a:defRPr sz="1400">
                          <a:solidFill>
                            <a:srgbClr val="333333"/>
                          </a:solidFill>
                          <a:latin typeface="Calibri"/>
                        </a:defRPr>
                      </a:pPr>
                      <a:r>
                        <a:t>Constant safe</a:t>
                      </a:r>
                    </a:p>
                  </a:txBody>
                  <a:tcPr>
                    <a:solidFill>
                      <a:srgbClr val="FFE6E6"/>
                    </a:solidFill>
                  </a:tcPr>
                </a:tc>
                <a:tc>
                  <a:txBody>
                    <a:bodyPr/>
                    <a:lstStyle/>
                    <a:p>
                      <a:pPr algn="ctr">
                        <a:defRPr sz="1400">
                          <a:solidFill>
                            <a:srgbClr val="333333"/>
                          </a:solidFill>
                          <a:latin typeface="Calibri"/>
                        </a:defRPr>
                      </a:pPr>
                      <a:r>
                        <a:t>−1882.9</a:t>
                      </a:r>
                    </a:p>
                  </a:txBody>
                  <a:tcPr>
                    <a:solidFill>
                      <a:srgbClr val="FFE6E6"/>
                    </a:solidFill>
                  </a:tcPr>
                </a:tc>
                <a:tc>
                  <a:txBody>
                    <a:bodyPr/>
                    <a:lstStyle/>
                    <a:p>
                      <a:pPr algn="ctr">
                        <a:defRPr sz="1400">
                          <a:solidFill>
                            <a:srgbClr val="333333"/>
                          </a:solidFill>
                          <a:latin typeface="Calibri"/>
                        </a:defRPr>
                      </a:pPr>
                      <a:r>
                        <a:t>1.6</a:t>
                      </a:r>
                    </a:p>
                  </a:txBody>
                  <a:tcPr>
                    <a:solidFill>
                      <a:srgbClr val="FFE6E6"/>
                    </a:solidFill>
                  </a:tcPr>
                </a:tc>
                <a:tc>
                  <a:txBody>
                    <a:bodyPr/>
                    <a:lstStyle/>
                    <a:p>
                      <a:pPr algn="ctr">
                        <a:defRPr sz="1400">
                          <a:solidFill>
                            <a:srgbClr val="333333"/>
                          </a:solidFill>
                          <a:latin typeface="Calibri"/>
                        </a:defRPr>
                      </a:pPr>
                      <a:r>
                        <a:t>385.7</a:t>
                      </a:r>
                    </a:p>
                  </a:txBody>
                  <a:tcPr>
                    <a:solidFill>
                      <a:srgbClr val="FFE6E6"/>
                    </a:solidFill>
                  </a:tcPr>
                </a:tc>
                <a:tc>
                  <a:txBody>
                    <a:bodyPr/>
                    <a:lstStyle/>
                    <a:p>
                      <a:pPr algn="ctr">
                        <a:defRPr sz="1400">
                          <a:solidFill>
                            <a:srgbClr val="333333"/>
                          </a:solidFill>
                          <a:latin typeface="Calibri"/>
                        </a:defRPr>
                      </a:pPr>
                      <a:r>
                        <a:t>768.0</a:t>
                      </a:r>
                    </a:p>
                  </a:txBody>
                  <a:tcPr>
                    <a:solidFill>
                      <a:srgbClr val="FFE6E6"/>
                    </a:solidFill>
                  </a:tcPr>
                </a:tc>
              </a:tr>
            </a:tbl>
          </a:graphicData>
        </a:graphic>
      </p:graphicFrame>
      <p:sp>
        <p:nvSpPr>
          <p:cNvPr id="5" name="Rectangle 4"/>
          <p:cNvSpPr/>
          <p:nvPr/>
        </p:nvSpPr>
        <p:spPr>
          <a:xfrm>
            <a:off x="457200" y="3794760"/>
            <a:ext cx="11247120" cy="2560320"/>
          </a:xfrm>
          <a:prstGeom prst="rect">
            <a:avLst/>
          </a:prstGeom>
          <a:solidFill>
            <a:srgbClr val="F0F0F0"/>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931920"/>
            <a:ext cx="10698480" cy="365760"/>
          </a:xfrm>
          <a:prstGeom prst="rect">
            <a:avLst/>
          </a:prstGeom>
          <a:noFill/>
        </p:spPr>
        <p:txBody>
          <a:bodyPr wrap="square">
            <a:spAutoFit/>
          </a:bodyPr>
          <a:lstStyle/>
          <a:p>
            <a:pPr algn="l">
              <a:defRPr sz="2000" b="1">
                <a:solidFill>
                  <a:srgbClr val="003366"/>
                </a:solidFill>
                <a:latin typeface="Calibri"/>
              </a:defRPr>
            </a:pPr>
            <a:r>
              <a:t>Analysis</a:t>
            </a:r>
          </a:p>
        </p:txBody>
      </p:sp>
      <p:sp>
        <p:nvSpPr>
          <p:cNvPr id="7" name="TextBox 6"/>
          <p:cNvSpPr txBox="1"/>
          <p:nvPr/>
        </p:nvSpPr>
        <p:spPr>
          <a:xfrm>
            <a:off x="731520" y="4434840"/>
            <a:ext cx="10698480" cy="1828800"/>
          </a:xfrm>
          <a:prstGeom prst="rect">
            <a:avLst/>
          </a:prstGeom>
          <a:noFill/>
        </p:spPr>
        <p:txBody>
          <a:bodyPr wrap="square">
            <a:spAutoFit/>
          </a:bodyPr>
          <a:lstStyle/>
          <a:p>
            <a:pPr>
              <a:spcAft>
                <a:spcPts val="400"/>
              </a:spcAft>
              <a:defRPr sz="1500">
                <a:solidFill>
                  <a:srgbClr val="333333"/>
                </a:solidFill>
                <a:latin typeface="Calibri"/>
              </a:defRPr>
            </a:pPr>
            <a:r>
              <a:t>• Same 50 episodes of the nominal condition for all six policies, at w₂ = 0.4</a:t>
            </a:r>
          </a:p>
          <a:p>
            <a:pPr>
              <a:spcAft>
                <a:spcPts val="400"/>
              </a:spcAft>
              <a:defRPr sz="1500">
                <a:solidFill>
                  <a:srgbClr val="333333"/>
                </a:solidFill>
                <a:latin typeface="Calibri"/>
              </a:defRPr>
            </a:pPr>
            <a:r>
              <a:t>• Three of the four static policies finish outside the roughness safety limit (1.56 μm against 1.36 μm): no completion bonus, the finishing penalty, so they land near zero</a:t>
            </a:r>
          </a:p>
          <a:p>
            <a:pPr>
              <a:spcAft>
                <a:spcPts val="400"/>
              </a:spcAft>
              <a:defRPr sz="1500">
                <a:solidFill>
                  <a:srgbClr val="333333"/>
                </a:solidFill>
                <a:latin typeface="Calibri"/>
              </a:defRPr>
            </a:pPr>
            <a:r>
              <a:t>• Constant-Safe stays inside the limit (0.26 μm) but needs 768 s and 385.7 kJ per part: −1882.9</a:t>
            </a:r>
          </a:p>
          <a:p>
            <a:pPr>
              <a:spcAft>
                <a:spcPts val="400"/>
              </a:spcAft>
              <a:defRPr sz="1500">
                <a:solidFill>
                  <a:srgbClr val="333333"/>
                </a:solidFill>
                <a:latin typeface="Calibri"/>
              </a:defRPr>
            </a:pPr>
            <a:r>
              <a:t>• Receding-horizon is the strongest baseline, +253.5, and the only classical policy that finishes every part in spec</a:t>
            </a:r>
          </a:p>
          <a:p>
            <a:pPr>
              <a:spcAft>
                <a:spcPts val="400"/>
              </a:spcAft>
              <a:defRPr sz="1500">
                <a:solidFill>
                  <a:srgbClr val="333333"/>
                </a:solidFill>
                <a:latin typeface="Calibri"/>
              </a:defRPr>
            </a:pPr>
            <a:r>
              <a:t>• It pays for that with throughput: 725.5 mm³/min and 6.7 s against 1099.6 mm³/min and 4.3 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Policy Comparison: Six Policies, Same 50 Episodes</a:t>
            </a:r>
          </a:p>
        </p:txBody>
      </p:sp>
      <p:pic>
        <p:nvPicPr>
          <p:cNvPr id="4" name="Picture 3" descr="baseline_vs_ppo_comparison.png"/>
          <p:cNvPicPr>
            <a:picLocks noChangeAspect="1"/>
          </p:cNvPicPr>
          <p:nvPr/>
        </p:nvPicPr>
        <p:blipFill>
          <a:blip r:embed="rId2"/>
          <a:stretch>
            <a:fillRect/>
          </a:stretch>
        </p:blipFill>
        <p:spPr>
          <a:xfrm>
            <a:off x="685840" y="1143000"/>
            <a:ext cx="10817271" cy="4343400"/>
          </a:xfrm>
          <a:prstGeom prst="rect">
            <a:avLst/>
          </a:prstGeom>
        </p:spPr>
      </p:pic>
      <p:sp>
        <p:nvSpPr>
          <p:cNvPr id="5" name="Rectangle 4"/>
          <p:cNvSpPr/>
          <p:nvPr/>
        </p:nvSpPr>
        <p:spPr>
          <a:xfrm>
            <a:off x="457200" y="5559552"/>
            <a:ext cx="11247120" cy="1024128"/>
          </a:xfrm>
          <a:prstGeom prst="rect">
            <a:avLst/>
          </a:prstGeom>
          <a:solidFill>
            <a:srgbClr val="FFF8DC"/>
          </a:solidFill>
          <a:ln w="25400">
            <a:solidFill>
              <a:srgbClr val="CC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5632704"/>
            <a:ext cx="10698480" cy="320040"/>
          </a:xfrm>
          <a:prstGeom prst="rect">
            <a:avLst/>
          </a:prstGeom>
          <a:noFill/>
        </p:spPr>
        <p:txBody>
          <a:bodyPr wrap="square">
            <a:spAutoFit/>
          </a:bodyPr>
          <a:lstStyle/>
          <a:p>
            <a:pPr algn="l">
              <a:defRPr sz="1600" b="1">
                <a:solidFill>
                  <a:srgbClr val="CC9900"/>
                </a:solidFill>
                <a:latin typeface="Calibri"/>
              </a:defRPr>
            </a:pPr>
            <a:r>
              <a:t>How to read this</a:t>
            </a:r>
          </a:p>
        </p:txBody>
      </p:sp>
      <p:sp>
        <p:nvSpPr>
          <p:cNvPr id="7" name="TextBox 6"/>
          <p:cNvSpPr txBox="1"/>
          <p:nvPr/>
        </p:nvSpPr>
        <p:spPr>
          <a:xfrm>
            <a:off x="731520" y="5961888"/>
            <a:ext cx="10698480" cy="548640"/>
          </a:xfrm>
          <a:prstGeom prst="rect">
            <a:avLst/>
          </a:prstGeom>
          <a:noFill/>
        </p:spPr>
        <p:txBody>
          <a:bodyPr wrap="square">
            <a:spAutoFit/>
          </a:bodyPr>
          <a:lstStyle/>
          <a:p>
            <a:pPr algn="l">
              <a:defRPr sz="1400" b="0">
                <a:solidFill>
                  <a:srgbClr val="333333"/>
                </a:solidFill>
                <a:latin typeface="Calibri"/>
              </a:defRPr>
            </a:pPr>
            <a:r>
              <a:t>The three fast static policies land near zero: they finish outside the roughness safety limit, so they are paid no completion bonus and are charged the finishing penalty. Constant-Safe stays inside but needs 768 s and 385.7 kJ per part. The comparison that matters is the receding-horizon controller against the learned policy, the only two with a positive reward.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Robustness Against the Classical Controller</a:t>
            </a:r>
          </a:p>
        </p:txBody>
      </p:sp>
      <p:graphicFrame>
        <p:nvGraphicFramePr>
          <p:cNvPr id="4" name="Table 3"/>
          <p:cNvGraphicFramePr>
            <a:graphicFrameLocks noGrp="1"/>
          </p:cNvGraphicFramePr>
          <p:nvPr/>
        </p:nvGraphicFramePr>
        <p:xfrm>
          <a:off x="365760" y="1234440"/>
          <a:ext cx="11155680" cy="2651760"/>
        </p:xfrm>
        <a:graphic>
          <a:graphicData uri="http://schemas.openxmlformats.org/drawingml/2006/table">
            <a:tbl>
              <a:tblPr firstRow="1" bandRow="1">
                <a:tableStyleId>{5C22544A-7EE6-4342-B048-85BDC9FD1C3A}</a:tableStyleId>
              </a:tblPr>
              <a:tblGrid>
                <a:gridCol w="2377440"/>
                <a:gridCol w="2011680"/>
                <a:gridCol w="1005840"/>
                <a:gridCol w="914400"/>
                <a:gridCol w="1097280"/>
                <a:gridCol w="914400"/>
                <a:gridCol w="914400"/>
                <a:gridCol w="1005840"/>
                <a:gridCol w="914400"/>
              </a:tblGrid>
              <a:tr h="378822">
                <a:tc>
                  <a:txBody>
                    <a:bodyPr/>
                    <a:lstStyle/>
                    <a:p>
                      <a:pPr algn="ctr">
                        <a:defRPr sz="1200" b="1">
                          <a:solidFill>
                            <a:srgbClr val="FFFFFF"/>
                          </a:solidFill>
                          <a:latin typeface="Calibri"/>
                        </a:defRPr>
                      </a:pPr>
                      <a:r>
                        <a:t>Regime</a:t>
                      </a:r>
                    </a:p>
                  </a:txBody>
                  <a:tcPr>
                    <a:solidFill>
                      <a:srgbClr val="003366"/>
                    </a:solidFill>
                  </a:tcPr>
                </a:tc>
                <a:tc>
                  <a:txBody>
                    <a:bodyPr/>
                    <a:lstStyle/>
                    <a:p>
                      <a:pPr algn="ctr">
                        <a:defRPr sz="1200" b="1">
                          <a:solidFill>
                            <a:srgbClr val="FFFFFF"/>
                          </a:solidFill>
                          <a:latin typeface="Calibri"/>
                        </a:defRPr>
                      </a:pPr>
                      <a:r>
                        <a:t>Arm</a:t>
                      </a:r>
                    </a:p>
                  </a:txBody>
                  <a:tcPr>
                    <a:solidFill>
                      <a:srgbClr val="003366"/>
                    </a:solidFill>
                  </a:tcPr>
                </a:tc>
                <a:tc>
                  <a:txBody>
                    <a:bodyPr/>
                    <a:lstStyle/>
                    <a:p>
                      <a:pPr algn="ctr">
                        <a:defRPr sz="1200" b="1">
                          <a:solidFill>
                            <a:srgbClr val="FFFFFF"/>
                          </a:solidFill>
                          <a:latin typeface="Calibri"/>
                        </a:defRPr>
                      </a:pPr>
                      <a:r>
                        <a:t>Reward</a:t>
                      </a:r>
                    </a:p>
                  </a:txBody>
                  <a:tcPr>
                    <a:solidFill>
                      <a:srgbClr val="003366"/>
                    </a:solidFill>
                  </a:tcPr>
                </a:tc>
                <a:tc>
                  <a:txBody>
                    <a:bodyPr/>
                    <a:lstStyle/>
                    <a:p>
                      <a:pPr algn="ctr">
                        <a:defRPr sz="1200" b="1">
                          <a:solidFill>
                            <a:srgbClr val="FFFFFF"/>
                          </a:solidFill>
                          <a:latin typeface="Calibri"/>
                        </a:defRPr>
                      </a:pPr>
                      <a:r>
                        <a:t>Std</a:t>
                      </a:r>
                    </a:p>
                  </a:txBody>
                  <a:tcPr>
                    <a:solidFill>
                      <a:srgbClr val="003366"/>
                    </a:solidFill>
                  </a:tcPr>
                </a:tc>
                <a:tc>
                  <a:txBody>
                    <a:bodyPr/>
                    <a:lstStyle/>
                    <a:p>
                      <a:pPr algn="ctr">
                        <a:defRPr sz="1200" b="1">
                          <a:solidFill>
                            <a:srgbClr val="FFFFFF"/>
                          </a:solidFill>
                          <a:latin typeface="Calibri"/>
                        </a:defRPr>
                      </a:pPr>
                      <a:r>
                        <a:t>MRR</a:t>
                      </a:r>
                    </a:p>
                  </a:txBody>
                  <a:tcPr>
                    <a:solidFill>
                      <a:srgbClr val="003366"/>
                    </a:solidFill>
                  </a:tcPr>
                </a:tc>
                <a:tc>
                  <a:txBody>
                    <a:bodyPr/>
                    <a:lstStyle/>
                    <a:p>
                      <a:pPr algn="ctr">
                        <a:defRPr sz="1200" b="1">
                          <a:solidFill>
                            <a:srgbClr val="FFFFFF"/>
                          </a:solidFill>
                          <a:latin typeface="Calibri"/>
                        </a:defRPr>
                      </a:pPr>
                      <a:r>
                        <a:t>kJ</a:t>
                      </a:r>
                    </a:p>
                  </a:txBody>
                  <a:tcPr>
                    <a:solidFill>
                      <a:srgbClr val="003366"/>
                    </a:solidFill>
                  </a:tcPr>
                </a:tc>
                <a:tc>
                  <a:txBody>
                    <a:bodyPr/>
                    <a:lstStyle/>
                    <a:p>
                      <a:pPr algn="ctr">
                        <a:defRPr sz="1200" b="1">
                          <a:solidFill>
                            <a:srgbClr val="FFFFFF"/>
                          </a:solidFill>
                          <a:latin typeface="Calibri"/>
                        </a:defRPr>
                      </a:pPr>
                      <a:r>
                        <a:t>s</a:t>
                      </a:r>
                    </a:p>
                  </a:txBody>
                  <a:tcPr>
                    <a:solidFill>
                      <a:srgbClr val="003366"/>
                    </a:solidFill>
                  </a:tcPr>
                </a:tc>
                <a:tc>
                  <a:txBody>
                    <a:bodyPr/>
                    <a:lstStyle/>
                    <a:p>
                      <a:pPr algn="ctr">
                        <a:defRPr sz="1200" b="1">
                          <a:solidFill>
                            <a:srgbClr val="FFFFFF"/>
                          </a:solidFill>
                          <a:latin typeface="Calibri"/>
                        </a:defRPr>
                      </a:pPr>
                      <a:r>
                        <a:t>Broken</a:t>
                      </a:r>
                    </a:p>
                  </a:txBody>
                  <a:tcPr>
                    <a:solidFill>
                      <a:srgbClr val="003366"/>
                    </a:solidFill>
                  </a:tcPr>
                </a:tc>
                <a:tc>
                  <a:txBody>
                    <a:bodyPr/>
                    <a:lstStyle/>
                    <a:p>
                      <a:pPr algn="ctr">
                        <a:defRPr sz="1200" b="1">
                          <a:solidFill>
                            <a:srgbClr val="FFFFFF"/>
                          </a:solidFill>
                          <a:latin typeface="Calibri"/>
                        </a:defRPr>
                      </a:pPr>
                      <a:r>
                        <a:t>Done</a:t>
                      </a:r>
                    </a:p>
                  </a:txBody>
                  <a:tcPr>
                    <a:solidFill>
                      <a:srgbClr val="003366"/>
                    </a:solidFill>
                  </a:tcPr>
                </a:tc>
              </a:tr>
              <a:tr h="378822">
                <a:tc>
                  <a:txBody>
                    <a:bodyPr/>
                    <a:lstStyle/>
                    <a:p>
                      <a:pPr algn="ctr">
                        <a:defRPr sz="1200">
                          <a:solidFill>
                            <a:srgbClr val="333333"/>
                          </a:solidFill>
                          <a:latin typeface="Calibri"/>
                        </a:defRPr>
                      </a:pPr>
                      <a:r>
                        <a:t>Controller has every advantage</a:t>
                      </a:r>
                    </a:p>
                  </a:txBody>
                  <a:tcPr/>
                </a:tc>
                <a:tc>
                  <a:txBody>
                    <a:bodyPr/>
                    <a:lstStyle/>
                    <a:p>
                      <a:pPr algn="ctr">
                        <a:defRPr sz="1200">
                          <a:solidFill>
                            <a:srgbClr val="333333"/>
                          </a:solidFill>
                          <a:latin typeface="Calibri"/>
                        </a:defRPr>
                      </a:pPr>
                      <a:r>
                        <a:t>Receding-horizon</a:t>
                      </a:r>
                    </a:p>
                  </a:txBody>
                  <a:tcPr/>
                </a:tc>
                <a:tc>
                  <a:txBody>
                    <a:bodyPr/>
                    <a:lstStyle/>
                    <a:p>
                      <a:pPr algn="ctr">
                        <a:defRPr sz="1200">
                          <a:solidFill>
                            <a:srgbClr val="333333"/>
                          </a:solidFill>
                          <a:latin typeface="Calibri"/>
                        </a:defRPr>
                      </a:pPr>
                      <a:r>
                        <a:t>248.9</a:t>
                      </a:r>
                    </a:p>
                  </a:txBody>
                  <a:tcPr/>
                </a:tc>
                <a:tc>
                  <a:txBody>
                    <a:bodyPr/>
                    <a:lstStyle/>
                    <a:p>
                      <a:pPr algn="ctr">
                        <a:defRPr sz="1200">
                          <a:solidFill>
                            <a:srgbClr val="333333"/>
                          </a:solidFill>
                          <a:latin typeface="Calibri"/>
                        </a:defRPr>
                      </a:pPr>
                      <a:r>
                        <a:t>79.5</a:t>
                      </a:r>
                    </a:p>
                  </a:txBody>
                  <a:tcPr/>
                </a:tc>
                <a:tc>
                  <a:txBody>
                    <a:bodyPr/>
                    <a:lstStyle/>
                    <a:p>
                      <a:pPr algn="ctr">
                        <a:defRPr sz="1200">
                          <a:solidFill>
                            <a:srgbClr val="333333"/>
                          </a:solidFill>
                          <a:latin typeface="Calibri"/>
                        </a:defRPr>
                      </a:pPr>
                      <a:r>
                        <a:t>1318.2</a:t>
                      </a:r>
                    </a:p>
                  </a:txBody>
                  <a:tcPr/>
                </a:tc>
                <a:tc>
                  <a:txBody>
                    <a:bodyPr/>
                    <a:lstStyle/>
                    <a:p>
                      <a:pPr algn="ctr">
                        <a:defRPr sz="1200">
                          <a:solidFill>
                            <a:srgbClr val="333333"/>
                          </a:solidFill>
                          <a:latin typeface="Calibri"/>
                        </a:defRPr>
                      </a:pPr>
                      <a:r>
                        <a:t>68.9</a:t>
                      </a:r>
                    </a:p>
                  </a:txBody>
                  <a:tcPr/>
                </a:tc>
                <a:tc>
                  <a:txBody>
                    <a:bodyPr/>
                    <a:lstStyle/>
                    <a:p>
                      <a:pPr algn="ctr">
                        <a:defRPr sz="1200">
                          <a:solidFill>
                            <a:srgbClr val="333333"/>
                          </a:solidFill>
                          <a:latin typeface="Calibri"/>
                        </a:defRPr>
                      </a:pPr>
                      <a:r>
                        <a:t>17.1</a:t>
                      </a:r>
                    </a:p>
                  </a:txBody>
                  <a:tcPr/>
                </a:tc>
                <a:tc>
                  <a:txBody>
                    <a:bodyPr/>
                    <a:lstStyle/>
                    <a:p>
                      <a:pPr algn="ctr">
                        <a:defRPr sz="1200">
                          <a:solidFill>
                            <a:srgbClr val="333333"/>
                          </a:solidFill>
                          <a:latin typeface="Calibri"/>
                        </a:defRPr>
                      </a:pPr>
                      <a:r>
                        <a:t>3%</a:t>
                      </a:r>
                    </a:p>
                  </a:txBody>
                  <a:tcPr/>
                </a:tc>
                <a:tc>
                  <a:txBody>
                    <a:bodyPr/>
                    <a:lstStyle/>
                    <a:p>
                      <a:pPr algn="ctr">
                        <a:defRPr sz="1200">
                          <a:solidFill>
                            <a:srgbClr val="333333"/>
                          </a:solidFill>
                          <a:latin typeface="Calibri"/>
                        </a:defRPr>
                      </a:pPr>
                      <a:r>
                        <a:t>96%</a:t>
                      </a:r>
                    </a:p>
                  </a:txBody>
                  <a:tcPr/>
                </a:tc>
              </a:tr>
              <a:tr h="378822">
                <a:tc>
                  <a:txBody>
                    <a:bodyPr/>
                    <a:lstStyle/>
                    <a:p>
                      <a:pPr algn="ctr">
                        <a:defRPr sz="1200">
                          <a:solidFill>
                            <a:srgbClr val="333333"/>
                          </a:solidFill>
                          <a:latin typeface="Calibri"/>
                        </a:defRPr>
                      </a:pPr>
                    </a:p>
                  </a:txBody>
                  <a:tcPr>
                    <a:solidFill>
                      <a:srgbClr val="FFF8DC"/>
                    </a:solidFill>
                  </a:tcPr>
                </a:tc>
                <a:tc>
                  <a:txBody>
                    <a:bodyPr/>
                    <a:lstStyle/>
                    <a:p>
                      <a:pPr algn="ctr">
                        <a:defRPr sz="1200">
                          <a:solidFill>
                            <a:srgbClr val="333333"/>
                          </a:solidFill>
                          <a:latin typeface="Calibri"/>
                        </a:defRPr>
                      </a:pPr>
                      <a:r>
                        <a:t>PPO</a:t>
                      </a:r>
                    </a:p>
                  </a:txBody>
                  <a:tcPr>
                    <a:solidFill>
                      <a:srgbClr val="FFF8DC"/>
                    </a:solidFill>
                  </a:tcPr>
                </a:tc>
                <a:tc>
                  <a:txBody>
                    <a:bodyPr/>
                    <a:lstStyle/>
                    <a:p>
                      <a:pPr algn="ctr">
                        <a:defRPr sz="1200">
                          <a:solidFill>
                            <a:srgbClr val="333333"/>
                          </a:solidFill>
                          <a:latin typeface="Calibri"/>
                        </a:defRPr>
                      </a:pPr>
                      <a:r>
                        <a:t>233.6</a:t>
                      </a:r>
                    </a:p>
                  </a:txBody>
                  <a:tcPr>
                    <a:solidFill>
                      <a:srgbClr val="FFF8DC"/>
                    </a:solidFill>
                  </a:tcPr>
                </a:tc>
                <a:tc>
                  <a:txBody>
                    <a:bodyPr/>
                    <a:lstStyle/>
                    <a:p>
                      <a:pPr algn="ctr">
                        <a:defRPr sz="1200">
                          <a:solidFill>
                            <a:srgbClr val="333333"/>
                          </a:solidFill>
                          <a:latin typeface="Calibri"/>
                        </a:defRPr>
                      </a:pPr>
                      <a:r>
                        <a:t>79.7</a:t>
                      </a:r>
                    </a:p>
                  </a:txBody>
                  <a:tcPr>
                    <a:solidFill>
                      <a:srgbClr val="FFF8DC"/>
                    </a:solidFill>
                  </a:tcPr>
                </a:tc>
                <a:tc>
                  <a:txBody>
                    <a:bodyPr/>
                    <a:lstStyle/>
                    <a:p>
                      <a:pPr algn="ctr">
                        <a:defRPr sz="1200">
                          <a:solidFill>
                            <a:srgbClr val="333333"/>
                          </a:solidFill>
                          <a:latin typeface="Calibri"/>
                        </a:defRPr>
                      </a:pPr>
                      <a:r>
                        <a:t>1608.5</a:t>
                      </a:r>
                    </a:p>
                  </a:txBody>
                  <a:tcPr>
                    <a:solidFill>
                      <a:srgbClr val="FFF8DC"/>
                    </a:solidFill>
                  </a:tcPr>
                </a:tc>
                <a:tc>
                  <a:txBody>
                    <a:bodyPr/>
                    <a:lstStyle/>
                    <a:p>
                      <a:pPr algn="ctr">
                        <a:defRPr sz="1200">
                          <a:solidFill>
                            <a:srgbClr val="333333"/>
                          </a:solidFill>
                          <a:latin typeface="Calibri"/>
                        </a:defRPr>
                      </a:pPr>
                      <a:r>
                        <a:t>66.4</a:t>
                      </a:r>
                    </a:p>
                  </a:txBody>
                  <a:tcPr>
                    <a:solidFill>
                      <a:srgbClr val="FFF8DC"/>
                    </a:solidFill>
                  </a:tcPr>
                </a:tc>
                <a:tc>
                  <a:txBody>
                    <a:bodyPr/>
                    <a:lstStyle/>
                    <a:p>
                      <a:pPr algn="ctr">
                        <a:defRPr sz="1200">
                          <a:solidFill>
                            <a:srgbClr val="333333"/>
                          </a:solidFill>
                          <a:latin typeface="Calibri"/>
                        </a:defRPr>
                      </a:pPr>
                      <a:r>
                        <a:t>11.4</a:t>
                      </a:r>
                    </a:p>
                  </a:txBody>
                  <a:tcPr>
                    <a:solidFill>
                      <a:srgbClr val="FFF8DC"/>
                    </a:solidFill>
                  </a:tcPr>
                </a:tc>
                <a:tc>
                  <a:txBody>
                    <a:bodyPr/>
                    <a:lstStyle/>
                    <a:p>
                      <a:pPr algn="ctr">
                        <a:defRPr sz="1200">
                          <a:solidFill>
                            <a:srgbClr val="333333"/>
                          </a:solidFill>
                          <a:latin typeface="Calibri"/>
                        </a:defRPr>
                      </a:pPr>
                      <a:r>
                        <a:t>6%</a:t>
                      </a:r>
                    </a:p>
                  </a:txBody>
                  <a:tcPr>
                    <a:solidFill>
                      <a:srgbClr val="FFF8DC"/>
                    </a:solidFill>
                  </a:tcPr>
                </a:tc>
                <a:tc>
                  <a:txBody>
                    <a:bodyPr/>
                    <a:lstStyle/>
                    <a:p>
                      <a:pPr algn="ctr">
                        <a:defRPr sz="1200">
                          <a:solidFill>
                            <a:srgbClr val="333333"/>
                          </a:solidFill>
                          <a:latin typeface="Calibri"/>
                        </a:defRPr>
                      </a:pPr>
                      <a:r>
                        <a:t>94%</a:t>
                      </a:r>
                    </a:p>
                  </a:txBody>
                  <a:tcPr>
                    <a:solidFill>
                      <a:srgbClr val="FFF8DC"/>
                    </a:solidFill>
                  </a:tcPr>
                </a:tc>
              </a:tr>
              <a:tr h="378822">
                <a:tc>
                  <a:txBody>
                    <a:bodyPr/>
                    <a:lstStyle/>
                    <a:p>
                      <a:pPr algn="ctr">
                        <a:defRPr sz="1200">
                          <a:solidFill>
                            <a:srgbClr val="333333"/>
                          </a:solidFill>
                          <a:latin typeface="Calibri"/>
                        </a:defRPr>
                      </a:pPr>
                      <a:r>
                        <a:t>Material model is wrong</a:t>
                      </a:r>
                    </a:p>
                  </a:txBody>
                  <a:tcPr/>
                </a:tc>
                <a:tc>
                  <a:txBody>
                    <a:bodyPr/>
                    <a:lstStyle/>
                    <a:p>
                      <a:pPr algn="ctr">
                        <a:defRPr sz="1200">
                          <a:solidFill>
                            <a:srgbClr val="333333"/>
                          </a:solidFill>
                          <a:latin typeface="Calibri"/>
                        </a:defRPr>
                      </a:pPr>
                      <a:r>
                        <a:t>Receding-horizon</a:t>
                      </a:r>
                    </a:p>
                  </a:txBody>
                  <a:tcPr/>
                </a:tc>
                <a:tc>
                  <a:txBody>
                    <a:bodyPr/>
                    <a:lstStyle/>
                    <a:p>
                      <a:pPr algn="ctr">
                        <a:defRPr sz="1200">
                          <a:solidFill>
                            <a:srgbClr val="333333"/>
                          </a:solidFill>
                          <a:latin typeface="Calibri"/>
                        </a:defRPr>
                      </a:pPr>
                      <a:r>
                        <a:t>63.5</a:t>
                      </a:r>
                    </a:p>
                  </a:txBody>
                  <a:tcPr/>
                </a:tc>
                <a:tc>
                  <a:txBody>
                    <a:bodyPr/>
                    <a:lstStyle/>
                    <a:p>
                      <a:pPr algn="ctr">
                        <a:defRPr sz="1200">
                          <a:solidFill>
                            <a:srgbClr val="333333"/>
                          </a:solidFill>
                          <a:latin typeface="Calibri"/>
                        </a:defRPr>
                      </a:pPr>
                      <a:r>
                        <a:t>117.1</a:t>
                      </a:r>
                    </a:p>
                  </a:txBody>
                  <a:tcPr/>
                </a:tc>
                <a:tc>
                  <a:txBody>
                    <a:bodyPr/>
                    <a:lstStyle/>
                    <a:p>
                      <a:pPr algn="ctr">
                        <a:defRPr sz="1200">
                          <a:solidFill>
                            <a:srgbClr val="333333"/>
                          </a:solidFill>
                          <a:latin typeface="Calibri"/>
                        </a:defRPr>
                      </a:pPr>
                      <a:r>
                        <a:t>1306.9</a:t>
                      </a:r>
                    </a:p>
                  </a:txBody>
                  <a:tcPr/>
                </a:tc>
                <a:tc>
                  <a:txBody>
                    <a:bodyPr/>
                    <a:lstStyle/>
                    <a:p>
                      <a:pPr algn="ctr">
                        <a:defRPr sz="1200">
                          <a:solidFill>
                            <a:srgbClr val="333333"/>
                          </a:solidFill>
                          <a:latin typeface="Calibri"/>
                        </a:defRPr>
                      </a:pPr>
                      <a:r>
                        <a:t>71.0</a:t>
                      </a:r>
                    </a:p>
                  </a:txBody>
                  <a:tcPr/>
                </a:tc>
                <a:tc>
                  <a:txBody>
                    <a:bodyPr/>
                    <a:lstStyle/>
                    <a:p>
                      <a:pPr algn="ctr">
                        <a:defRPr sz="1200">
                          <a:solidFill>
                            <a:srgbClr val="333333"/>
                          </a:solidFill>
                          <a:latin typeface="Calibri"/>
                        </a:defRPr>
                      </a:pPr>
                      <a:r>
                        <a:t>23.3</a:t>
                      </a:r>
                    </a:p>
                  </a:txBody>
                  <a:tcPr/>
                </a:tc>
                <a:tc>
                  <a:txBody>
                    <a:bodyPr/>
                    <a:lstStyle/>
                    <a:p>
                      <a:pPr algn="ctr">
                        <a:defRPr sz="1200">
                          <a:solidFill>
                            <a:srgbClr val="333333"/>
                          </a:solidFill>
                          <a:latin typeface="Calibri"/>
                        </a:defRPr>
                      </a:pPr>
                      <a:r>
                        <a:t>2%</a:t>
                      </a:r>
                    </a:p>
                  </a:txBody>
                  <a:tcPr/>
                </a:tc>
                <a:tc>
                  <a:txBody>
                    <a:bodyPr/>
                    <a:lstStyle/>
                    <a:p>
                      <a:pPr algn="ctr">
                        <a:defRPr sz="1200">
                          <a:solidFill>
                            <a:srgbClr val="333333"/>
                          </a:solidFill>
                          <a:latin typeface="Calibri"/>
                        </a:defRPr>
                      </a:pPr>
                      <a:r>
                        <a:t>95%</a:t>
                      </a:r>
                    </a:p>
                  </a:txBody>
                  <a:tcPr/>
                </a:tc>
              </a:tr>
              <a:tr h="378822">
                <a:tc>
                  <a:txBody>
                    <a:bodyPr/>
                    <a:lstStyle/>
                    <a:p>
                      <a:pPr algn="ctr">
                        <a:defRPr sz="1200">
                          <a:solidFill>
                            <a:srgbClr val="333333"/>
                          </a:solidFill>
                          <a:latin typeface="Calibri"/>
                        </a:defRPr>
                      </a:pPr>
                    </a:p>
                  </a:txBody>
                  <a:tcPr>
                    <a:solidFill>
                      <a:srgbClr val="FFF8DC"/>
                    </a:solidFill>
                  </a:tcPr>
                </a:tc>
                <a:tc>
                  <a:txBody>
                    <a:bodyPr/>
                    <a:lstStyle/>
                    <a:p>
                      <a:pPr algn="ctr">
                        <a:defRPr sz="1200">
                          <a:solidFill>
                            <a:srgbClr val="333333"/>
                          </a:solidFill>
                          <a:latin typeface="Calibri"/>
                        </a:defRPr>
                      </a:pPr>
                      <a:r>
                        <a:t>PPO</a:t>
                      </a:r>
                    </a:p>
                  </a:txBody>
                  <a:tcPr>
                    <a:solidFill>
                      <a:srgbClr val="FFF8DC"/>
                    </a:solidFill>
                  </a:tcPr>
                </a:tc>
                <a:tc>
                  <a:txBody>
                    <a:bodyPr/>
                    <a:lstStyle/>
                    <a:p>
                      <a:pPr algn="ctr">
                        <a:defRPr sz="1200">
                          <a:solidFill>
                            <a:srgbClr val="333333"/>
                          </a:solidFill>
                          <a:latin typeface="Calibri"/>
                        </a:defRPr>
                      </a:pPr>
                      <a:r>
                        <a:t>226.9</a:t>
                      </a:r>
                    </a:p>
                  </a:txBody>
                  <a:tcPr>
                    <a:solidFill>
                      <a:srgbClr val="FFF8DC"/>
                    </a:solidFill>
                  </a:tcPr>
                </a:tc>
                <a:tc>
                  <a:txBody>
                    <a:bodyPr/>
                    <a:lstStyle/>
                    <a:p>
                      <a:pPr algn="ctr">
                        <a:defRPr sz="1200">
                          <a:solidFill>
                            <a:srgbClr val="333333"/>
                          </a:solidFill>
                          <a:latin typeface="Calibri"/>
                        </a:defRPr>
                      </a:pPr>
                      <a:r>
                        <a:t>88.3</a:t>
                      </a:r>
                    </a:p>
                  </a:txBody>
                  <a:tcPr>
                    <a:solidFill>
                      <a:srgbClr val="FFF8DC"/>
                    </a:solidFill>
                  </a:tcPr>
                </a:tc>
                <a:tc>
                  <a:txBody>
                    <a:bodyPr/>
                    <a:lstStyle/>
                    <a:p>
                      <a:pPr algn="ctr">
                        <a:defRPr sz="1200">
                          <a:solidFill>
                            <a:srgbClr val="333333"/>
                          </a:solidFill>
                          <a:latin typeface="Calibri"/>
                        </a:defRPr>
                      </a:pPr>
                      <a:r>
                        <a:t>1604.2</a:t>
                      </a:r>
                    </a:p>
                  </a:txBody>
                  <a:tcPr>
                    <a:solidFill>
                      <a:srgbClr val="FFF8DC"/>
                    </a:solidFill>
                  </a:tcPr>
                </a:tc>
                <a:tc>
                  <a:txBody>
                    <a:bodyPr/>
                    <a:lstStyle/>
                    <a:p>
                      <a:pPr algn="ctr">
                        <a:defRPr sz="1200">
                          <a:solidFill>
                            <a:srgbClr val="333333"/>
                          </a:solidFill>
                          <a:latin typeface="Calibri"/>
                        </a:defRPr>
                      </a:pPr>
                      <a:r>
                        <a:t>66.3</a:t>
                      </a:r>
                    </a:p>
                  </a:txBody>
                  <a:tcPr>
                    <a:solidFill>
                      <a:srgbClr val="FFF8DC"/>
                    </a:solidFill>
                  </a:tcPr>
                </a:tc>
                <a:tc>
                  <a:txBody>
                    <a:bodyPr/>
                    <a:lstStyle/>
                    <a:p>
                      <a:pPr algn="ctr">
                        <a:defRPr sz="1200">
                          <a:solidFill>
                            <a:srgbClr val="333333"/>
                          </a:solidFill>
                          <a:latin typeface="Calibri"/>
                        </a:defRPr>
                      </a:pPr>
                      <a:r>
                        <a:t>11.5</a:t>
                      </a:r>
                    </a:p>
                  </a:txBody>
                  <a:tcPr>
                    <a:solidFill>
                      <a:srgbClr val="FFF8DC"/>
                    </a:solidFill>
                  </a:tcPr>
                </a:tc>
                <a:tc>
                  <a:txBody>
                    <a:bodyPr/>
                    <a:lstStyle/>
                    <a:p>
                      <a:pPr algn="ctr">
                        <a:defRPr sz="1200">
                          <a:solidFill>
                            <a:srgbClr val="333333"/>
                          </a:solidFill>
                          <a:latin typeface="Calibri"/>
                        </a:defRPr>
                      </a:pPr>
                      <a:r>
                        <a:t>6%</a:t>
                      </a:r>
                    </a:p>
                  </a:txBody>
                  <a:tcPr>
                    <a:solidFill>
                      <a:srgbClr val="FFF8DC"/>
                    </a:solidFill>
                  </a:tcPr>
                </a:tc>
                <a:tc>
                  <a:txBody>
                    <a:bodyPr/>
                    <a:lstStyle/>
                    <a:p>
                      <a:pPr algn="ctr">
                        <a:defRPr sz="1200">
                          <a:solidFill>
                            <a:srgbClr val="333333"/>
                          </a:solidFill>
                          <a:latin typeface="Calibri"/>
                        </a:defRPr>
                      </a:pPr>
                      <a:r>
                        <a:t>94%</a:t>
                      </a:r>
                    </a:p>
                  </a:txBody>
                  <a:tcPr>
                    <a:solidFill>
                      <a:srgbClr val="FFF8DC"/>
                    </a:solidFill>
                  </a:tcPr>
                </a:tc>
              </a:tr>
              <a:tr h="378822">
                <a:tc>
                  <a:txBody>
                    <a:bodyPr/>
                    <a:lstStyle/>
                    <a:p>
                      <a:pPr algn="ctr">
                        <a:defRPr sz="1200">
                          <a:solidFill>
                            <a:srgbClr val="333333"/>
                          </a:solidFill>
                          <a:latin typeface="Calibri"/>
                        </a:defRPr>
                      </a:pPr>
                      <a:r>
                        <a:t>Wear measurement is noisy</a:t>
                      </a:r>
                    </a:p>
                  </a:txBody>
                  <a:tcPr/>
                </a:tc>
                <a:tc>
                  <a:txBody>
                    <a:bodyPr/>
                    <a:lstStyle/>
                    <a:p>
                      <a:pPr algn="ctr">
                        <a:defRPr sz="1200">
                          <a:solidFill>
                            <a:srgbClr val="333333"/>
                          </a:solidFill>
                          <a:latin typeface="Calibri"/>
                        </a:defRPr>
                      </a:pPr>
                      <a:r>
                        <a:t>Receding-horizon</a:t>
                      </a:r>
                    </a:p>
                  </a:txBody>
                  <a:tcPr/>
                </a:tc>
                <a:tc>
                  <a:txBody>
                    <a:bodyPr/>
                    <a:lstStyle/>
                    <a:p>
                      <a:pPr algn="ctr">
                        <a:defRPr sz="1200">
                          <a:solidFill>
                            <a:srgbClr val="333333"/>
                          </a:solidFill>
                          <a:latin typeface="Calibri"/>
                        </a:defRPr>
                      </a:pPr>
                      <a:r>
                        <a:t>181.3</a:t>
                      </a:r>
                    </a:p>
                  </a:txBody>
                  <a:tcPr/>
                </a:tc>
                <a:tc>
                  <a:txBody>
                    <a:bodyPr/>
                    <a:lstStyle/>
                    <a:p>
                      <a:pPr algn="ctr">
                        <a:defRPr sz="1200">
                          <a:solidFill>
                            <a:srgbClr val="333333"/>
                          </a:solidFill>
                          <a:latin typeface="Calibri"/>
                        </a:defRPr>
                      </a:pPr>
                      <a:r>
                        <a:t>185.9</a:t>
                      </a:r>
                    </a:p>
                  </a:txBody>
                  <a:tcPr/>
                </a:tc>
                <a:tc>
                  <a:txBody>
                    <a:bodyPr/>
                    <a:lstStyle/>
                    <a:p>
                      <a:pPr algn="ctr">
                        <a:defRPr sz="1200">
                          <a:solidFill>
                            <a:srgbClr val="333333"/>
                          </a:solidFill>
                          <a:latin typeface="Calibri"/>
                        </a:defRPr>
                      </a:pPr>
                      <a:r>
                        <a:t>1300.4</a:t>
                      </a:r>
                    </a:p>
                  </a:txBody>
                  <a:tcPr/>
                </a:tc>
                <a:tc>
                  <a:txBody>
                    <a:bodyPr/>
                    <a:lstStyle/>
                    <a:p>
                      <a:pPr algn="ctr">
                        <a:defRPr sz="1200">
                          <a:solidFill>
                            <a:srgbClr val="333333"/>
                          </a:solidFill>
                          <a:latin typeface="Calibri"/>
                        </a:defRPr>
                      </a:pPr>
                      <a:r>
                        <a:t>74.2</a:t>
                      </a:r>
                    </a:p>
                  </a:txBody>
                  <a:tcPr/>
                </a:tc>
                <a:tc>
                  <a:txBody>
                    <a:bodyPr/>
                    <a:lstStyle/>
                    <a:p>
                      <a:pPr algn="ctr">
                        <a:defRPr sz="1200">
                          <a:solidFill>
                            <a:srgbClr val="333333"/>
                          </a:solidFill>
                          <a:latin typeface="Calibri"/>
                        </a:defRPr>
                      </a:pPr>
                      <a:r>
                        <a:t>31.1</a:t>
                      </a:r>
                    </a:p>
                  </a:txBody>
                  <a:tcPr/>
                </a:tc>
                <a:tc>
                  <a:txBody>
                    <a:bodyPr/>
                    <a:lstStyle/>
                    <a:p>
                      <a:pPr algn="ctr">
                        <a:defRPr sz="1200">
                          <a:solidFill>
                            <a:srgbClr val="333333"/>
                          </a:solidFill>
                          <a:latin typeface="Calibri"/>
                        </a:defRPr>
                      </a:pPr>
                      <a:r>
                        <a:t>4%</a:t>
                      </a:r>
                    </a:p>
                  </a:txBody>
                  <a:tcPr/>
                </a:tc>
                <a:tc>
                  <a:txBody>
                    <a:bodyPr/>
                    <a:lstStyle/>
                    <a:p>
                      <a:pPr algn="ctr">
                        <a:defRPr sz="1200">
                          <a:solidFill>
                            <a:srgbClr val="333333"/>
                          </a:solidFill>
                          <a:latin typeface="Calibri"/>
                        </a:defRPr>
                      </a:pPr>
                      <a:r>
                        <a:t>91%</a:t>
                      </a:r>
                    </a:p>
                  </a:txBody>
                  <a:tcPr/>
                </a:tc>
              </a:tr>
              <a:tr h="378828">
                <a:tc>
                  <a:txBody>
                    <a:bodyPr/>
                    <a:lstStyle/>
                    <a:p>
                      <a:pPr algn="ctr">
                        <a:defRPr sz="1200">
                          <a:solidFill>
                            <a:srgbClr val="333333"/>
                          </a:solidFill>
                          <a:latin typeface="Calibri"/>
                        </a:defRPr>
                      </a:pPr>
                    </a:p>
                  </a:txBody>
                  <a:tcPr/>
                </a:tc>
                <a:tc>
                  <a:txBody>
                    <a:bodyPr/>
                    <a:lstStyle/>
                    <a:p>
                      <a:pPr algn="ctr">
                        <a:defRPr sz="1200">
                          <a:solidFill>
                            <a:srgbClr val="333333"/>
                          </a:solidFill>
                          <a:latin typeface="Calibri"/>
                        </a:defRPr>
                      </a:pPr>
                      <a:r>
                        <a:t>PPO trained with noise</a:t>
                      </a:r>
                    </a:p>
                  </a:txBody>
                  <a:tcPr/>
                </a:tc>
                <a:tc>
                  <a:txBody>
                    <a:bodyPr/>
                    <a:lstStyle/>
                    <a:p>
                      <a:pPr algn="ctr">
                        <a:defRPr sz="1200">
                          <a:solidFill>
                            <a:srgbClr val="333333"/>
                          </a:solidFill>
                          <a:latin typeface="Calibri"/>
                        </a:defRPr>
                      </a:pPr>
                      <a:r>
                        <a:t>213.6</a:t>
                      </a:r>
                    </a:p>
                  </a:txBody>
                  <a:tcPr/>
                </a:tc>
                <a:tc>
                  <a:txBody>
                    <a:bodyPr/>
                    <a:lstStyle/>
                    <a:p>
                      <a:pPr algn="ctr">
                        <a:defRPr sz="1200">
                          <a:solidFill>
                            <a:srgbClr val="333333"/>
                          </a:solidFill>
                          <a:latin typeface="Calibri"/>
                        </a:defRPr>
                      </a:pPr>
                      <a:r>
                        <a:t>87.3</a:t>
                      </a:r>
                    </a:p>
                  </a:txBody>
                  <a:tcPr/>
                </a:tc>
                <a:tc>
                  <a:txBody>
                    <a:bodyPr/>
                    <a:lstStyle/>
                    <a:p>
                      <a:pPr algn="ctr">
                        <a:defRPr sz="1200">
                          <a:solidFill>
                            <a:srgbClr val="333333"/>
                          </a:solidFill>
                          <a:latin typeface="Calibri"/>
                        </a:defRPr>
                      </a:pPr>
                      <a:r>
                        <a:t>1554.2</a:t>
                      </a:r>
                    </a:p>
                  </a:txBody>
                  <a:tcPr/>
                </a:tc>
                <a:tc>
                  <a:txBody>
                    <a:bodyPr/>
                    <a:lstStyle/>
                    <a:p>
                      <a:pPr algn="ctr">
                        <a:defRPr sz="1200">
                          <a:solidFill>
                            <a:srgbClr val="333333"/>
                          </a:solidFill>
                          <a:latin typeface="Calibri"/>
                        </a:defRPr>
                      </a:pPr>
                      <a:r>
                        <a:t>66.9</a:t>
                      </a:r>
                    </a:p>
                  </a:txBody>
                  <a:tcPr/>
                </a:tc>
                <a:tc>
                  <a:txBody>
                    <a:bodyPr/>
                    <a:lstStyle/>
                    <a:p>
                      <a:pPr algn="ctr">
                        <a:defRPr sz="1200">
                          <a:solidFill>
                            <a:srgbClr val="333333"/>
                          </a:solidFill>
                          <a:latin typeface="Calibri"/>
                        </a:defRPr>
                      </a:pPr>
                      <a:r>
                        <a:t>12.0</a:t>
                      </a:r>
                    </a:p>
                  </a:txBody>
                  <a:tcPr/>
                </a:tc>
                <a:tc>
                  <a:txBody>
                    <a:bodyPr/>
                    <a:lstStyle/>
                    <a:p>
                      <a:pPr algn="ctr">
                        <a:defRPr sz="1200">
                          <a:solidFill>
                            <a:srgbClr val="333333"/>
                          </a:solidFill>
                          <a:latin typeface="Calibri"/>
                        </a:defRPr>
                      </a:pPr>
                      <a:r>
                        <a:t>6%</a:t>
                      </a:r>
                    </a:p>
                  </a:txBody>
                  <a:tcPr/>
                </a:tc>
                <a:tc>
                  <a:txBody>
                    <a:bodyPr/>
                    <a:lstStyle/>
                    <a:p>
                      <a:pPr algn="ctr">
                        <a:defRPr sz="1200">
                          <a:solidFill>
                            <a:srgbClr val="333333"/>
                          </a:solidFill>
                          <a:latin typeface="Calibri"/>
                        </a:defRPr>
                      </a:pPr>
                      <a:r>
                        <a:t>94%</a:t>
                      </a:r>
                    </a:p>
                  </a:txBody>
                  <a:tcPr/>
                </a:tc>
              </a:tr>
            </a:tbl>
          </a:graphicData>
        </a:graphic>
      </p:graphicFrame>
      <p:sp>
        <p:nvSpPr>
          <p:cNvPr id="5" name="TextBox 4"/>
          <p:cNvSpPr txBox="1"/>
          <p:nvPr/>
        </p:nvSpPr>
        <p:spPr>
          <a:xfrm>
            <a:off x="457200" y="3977639"/>
            <a:ext cx="11247120" cy="457200"/>
          </a:xfrm>
          <a:prstGeom prst="rect">
            <a:avLst/>
          </a:prstGeom>
          <a:noFill/>
        </p:spPr>
        <p:txBody>
          <a:bodyPr wrap="square">
            <a:spAutoFit/>
          </a:bodyPr>
          <a:lstStyle/>
          <a:p>
            <a:pPr algn="l">
              <a:defRPr sz="1500" b="1">
                <a:solidFill>
                  <a:srgbClr val="003366"/>
                </a:solidFill>
                <a:latin typeface="Calibri"/>
              </a:defRPr>
            </a:pPr>
            <a:r>
              <a:t>Same 100 randomized scenarios at w₂ = 0.4 in every row. The regime changes what the CONTROLLER is given, not what the policy is given.</a:t>
            </a:r>
          </a:p>
        </p:txBody>
      </p:sp>
      <p:sp>
        <p:nvSpPr>
          <p:cNvPr id="6" name="Rectangle 5"/>
          <p:cNvSpPr/>
          <p:nvPr/>
        </p:nvSpPr>
        <p:spPr>
          <a:xfrm>
            <a:off x="457200" y="4480560"/>
            <a:ext cx="11247120" cy="2331720"/>
          </a:xfrm>
          <a:prstGeom prst="rect">
            <a:avLst/>
          </a:prstGeom>
          <a:solidFill>
            <a:srgbClr val="FFF8DC"/>
          </a:solidFill>
          <a:ln w="25400">
            <a:solidFill>
              <a:srgbClr val="CC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53712"/>
            <a:ext cx="10698480" cy="365760"/>
          </a:xfrm>
          <a:prstGeom prst="rect">
            <a:avLst/>
          </a:prstGeom>
          <a:noFill/>
        </p:spPr>
        <p:txBody>
          <a:bodyPr wrap="square">
            <a:spAutoFit/>
          </a:bodyPr>
          <a:lstStyle/>
          <a:p>
            <a:pPr algn="l">
              <a:defRPr sz="2000" b="1">
                <a:solidFill>
                  <a:srgbClr val="CC9900"/>
                </a:solidFill>
                <a:latin typeface="Calibri"/>
              </a:defRPr>
            </a:pPr>
            <a:r>
              <a:t>🎯 The central result of the work</a:t>
            </a:r>
          </a:p>
        </p:txBody>
      </p:sp>
      <p:sp>
        <p:nvSpPr>
          <p:cNvPr id="8" name="TextBox 7"/>
          <p:cNvSpPr txBox="1"/>
          <p:nvPr/>
        </p:nvSpPr>
        <p:spPr>
          <a:xfrm>
            <a:off x="731520" y="4983480"/>
            <a:ext cx="10698480" cy="1737360"/>
          </a:xfrm>
          <a:prstGeom prst="rect">
            <a:avLst/>
          </a:prstGeom>
          <a:noFill/>
        </p:spPr>
        <p:txBody>
          <a:bodyPr wrap="square">
            <a:spAutoFit/>
          </a:bodyPr>
          <a:lstStyle/>
          <a:p>
            <a:pPr>
              <a:spcAft>
                <a:spcPts val="400"/>
              </a:spcAft>
              <a:defRPr sz="1200">
                <a:solidFill>
                  <a:srgbClr val="333333"/>
                </a:solidFill>
                <a:latin typeface="Calibri"/>
              </a:defRPr>
            </a:pPr>
            <a:r>
              <a:t>• Inside a perfect digital twin the two methods are comparable: 248.9 against 233.6, and the gap of 15 is inside the noise (the standard error of the mean is about 8 for both arms)</a:t>
            </a:r>
          </a:p>
          <a:p>
            <a:pPr>
              <a:spcAft>
                <a:spcPts val="400"/>
              </a:spcAft>
              <a:defRPr sz="1200">
                <a:solidFill>
                  <a:srgbClr val="333333"/>
                </a:solidFill>
                <a:latin typeface="Calibri"/>
              </a:defRPr>
            </a:pPr>
            <a:r>
              <a:t>• The learned policy is the better throughput operator: 22% more material per minute, a third less time, 3.7% less energy, at twice the tool breakage</a:t>
            </a:r>
          </a:p>
          <a:p>
            <a:pPr>
              <a:spcAft>
                <a:spcPts val="400"/>
              </a:spcAft>
              <a:defRPr sz="1200">
                <a:solidFill>
                  <a:srgbClr val="333333"/>
                </a:solidFill>
                <a:latin typeface="Calibri"/>
              </a:defRPr>
            </a:pPr>
            <a:r>
              <a:t>• The advantage appears where the controller's information advantage disappears: a wrong model of the material (63.5 against 226.9) and a noisy wear measurement (181.3 against 213.6). The regime map on the next slides puts a number on it</a:t>
            </a:r>
          </a:p>
          <a:p>
            <a:pPr>
              <a:spcAft>
                <a:spcPts val="400"/>
              </a:spcAft>
              <a:defRPr sz="1200">
                <a:solidFill>
                  <a:srgbClr val="333333"/>
                </a:solidFill>
                <a:latin typeface="Calibri"/>
              </a:defRPr>
            </a:pPr>
            <a:r>
              <a:t>• About nine of those fifteen points are the reward's artifact: the controller cuts the part in 5.85 passes against 4.00 and is paid for every pass</a:t>
            </a:r>
          </a:p>
          <a:p>
            <a:pPr>
              <a:spcAft>
                <a:spcPts val="400"/>
              </a:spcAft>
              <a:defRPr sz="1200">
                <a:solidFill>
                  <a:srgbClr val="333333"/>
                </a:solidFill>
                <a:latin typeface="Calibri"/>
              </a:defRPr>
            </a:pPr>
            <a:r>
              <a:t>• Fairness: both arms are the general ones, neither is trained for the noise, and the noise is tilted against the policy, which reads it on both measured quantities while the controller reads it on the wear alone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The Regime Map: How Noisy the Wear Measurement Has to Be</a:t>
            </a:r>
          </a:p>
        </p:txBody>
      </p:sp>
      <p:graphicFrame>
        <p:nvGraphicFramePr>
          <p:cNvPr id="4" name="Table 3"/>
          <p:cNvGraphicFramePr>
            <a:graphicFrameLocks noGrp="1"/>
          </p:cNvGraphicFramePr>
          <p:nvPr/>
        </p:nvGraphicFramePr>
        <p:xfrm>
          <a:off x="365760" y="1234440"/>
          <a:ext cx="5486400" cy="2468880"/>
        </p:xfrm>
        <a:graphic>
          <a:graphicData uri="http://schemas.openxmlformats.org/drawingml/2006/table">
            <a:tbl>
              <a:tblPr firstRow="1" bandRow="1">
                <a:tableStyleId>{5C22544A-7EE6-4342-B048-85BDC9FD1C3A}</a:tableStyleId>
              </a:tblPr>
              <a:tblGrid>
                <a:gridCol w="1371600"/>
                <a:gridCol w="1051560"/>
                <a:gridCol w="777240"/>
                <a:gridCol w="1325880"/>
                <a:gridCol w="960120"/>
              </a:tblGrid>
              <a:tr h="308610">
                <a:tc>
                  <a:txBody>
                    <a:bodyPr/>
                    <a:lstStyle/>
                    <a:p>
                      <a:pPr algn="ctr">
                        <a:defRPr sz="1200" b="1">
                          <a:solidFill>
                            <a:srgbClr val="FFFFFF"/>
                          </a:solidFill>
                          <a:latin typeface="Calibri"/>
                        </a:defRPr>
                      </a:pPr>
                      <a:r>
                        <a:t>Measurement</a:t>
                      </a:r>
                    </a:p>
                    <a:p>
                      <a:pPr algn="ctr">
                        <a:defRPr sz="1200" b="1">
                          <a:solidFill>
                            <a:srgbClr val="FFFFFF"/>
                          </a:solidFill>
                          <a:latin typeface="Calibri"/>
                        </a:defRPr>
                      </a:pPr>
                      <a:r>
                        <a:t>noise</a:t>
                      </a:r>
                    </a:p>
                  </a:txBody>
                  <a:tcPr>
                    <a:solidFill>
                      <a:srgbClr val="003366"/>
                    </a:solidFill>
                  </a:tcPr>
                </a:tc>
                <a:tc>
                  <a:txBody>
                    <a:bodyPr/>
                    <a:lstStyle/>
                    <a:p>
                      <a:pPr algn="ctr">
                        <a:defRPr sz="1200" b="1">
                          <a:solidFill>
                            <a:srgbClr val="FFFFFF"/>
                          </a:solidFill>
                          <a:latin typeface="Calibri"/>
                        </a:defRPr>
                      </a:pPr>
                      <a:r>
                        <a:t>Receding-</a:t>
                      </a:r>
                    </a:p>
                    <a:p>
                      <a:pPr algn="ctr">
                        <a:defRPr sz="1200" b="1">
                          <a:solidFill>
                            <a:srgbClr val="FFFFFF"/>
                          </a:solidFill>
                          <a:latin typeface="Calibri"/>
                        </a:defRPr>
                      </a:pPr>
                      <a:r>
                        <a:t>horizon</a:t>
                      </a:r>
                    </a:p>
                  </a:txBody>
                  <a:tcPr>
                    <a:solidFill>
                      <a:srgbClr val="003366"/>
                    </a:solidFill>
                  </a:tcPr>
                </a:tc>
                <a:tc>
                  <a:txBody>
                    <a:bodyPr/>
                    <a:lstStyle/>
                    <a:p>
                      <a:pPr algn="ctr">
                        <a:defRPr sz="1200" b="1">
                          <a:solidFill>
                            <a:srgbClr val="FFFFFF"/>
                          </a:solidFill>
                          <a:latin typeface="Calibri"/>
                        </a:defRPr>
                      </a:pPr>
                      <a:r>
                        <a:t>PPO</a:t>
                      </a:r>
                    </a:p>
                  </a:txBody>
                  <a:tcPr>
                    <a:solidFill>
                      <a:srgbClr val="003366"/>
                    </a:solidFill>
                  </a:tcPr>
                </a:tc>
                <a:tc>
                  <a:txBody>
                    <a:bodyPr/>
                    <a:lstStyle/>
                    <a:p>
                      <a:pPr algn="ctr">
                        <a:defRPr sz="1200" b="1">
                          <a:solidFill>
                            <a:srgbClr val="FFFFFF"/>
                          </a:solidFill>
                          <a:latin typeface="Calibri"/>
                        </a:defRPr>
                      </a:pPr>
                      <a:r>
                        <a:t>PPO trained</a:t>
                      </a:r>
                    </a:p>
                    <a:p>
                      <a:pPr algn="ctr">
                        <a:defRPr sz="1200" b="1">
                          <a:solidFill>
                            <a:srgbClr val="FFFFFF"/>
                          </a:solidFill>
                          <a:latin typeface="Calibri"/>
                        </a:defRPr>
                      </a:pPr>
                      <a:r>
                        <a:t>for the noise</a:t>
                      </a:r>
                    </a:p>
                  </a:txBody>
                  <a:tcPr>
                    <a:solidFill>
                      <a:srgbClr val="003366"/>
                    </a:solidFill>
                  </a:tcPr>
                </a:tc>
                <a:tc>
                  <a:txBody>
                    <a:bodyPr/>
                    <a:lstStyle/>
                    <a:p>
                      <a:pPr algn="ctr">
                        <a:defRPr sz="1200" b="1">
                          <a:solidFill>
                            <a:srgbClr val="FFFFFF"/>
                          </a:solidFill>
                          <a:latin typeface="Calibri"/>
                        </a:defRPr>
                      </a:pPr>
                      <a:r>
                        <a:t>PPO</a:t>
                      </a:r>
                    </a:p>
                    <a:p>
                      <a:pPr algn="ctr">
                        <a:defRPr sz="1200" b="1">
                          <a:solidFill>
                            <a:srgbClr val="FFFFFF"/>
                          </a:solidFill>
                          <a:latin typeface="Calibri"/>
                        </a:defRPr>
                      </a:pPr>
                      <a:r>
                        <a:t>ahead by</a:t>
                      </a:r>
                    </a:p>
                  </a:txBody>
                  <a:tcPr>
                    <a:solidFill>
                      <a:srgbClr val="003366"/>
                    </a:solidFill>
                  </a:tcPr>
                </a:tc>
              </a:tr>
              <a:tr h="308610">
                <a:tc>
                  <a:txBody>
                    <a:bodyPr/>
                    <a:lstStyle/>
                    <a:p>
                      <a:pPr algn="ctr">
                        <a:defRPr sz="1200">
                          <a:solidFill>
                            <a:srgbClr val="333333"/>
                          </a:solidFill>
                          <a:latin typeface="Calibri"/>
                        </a:defRPr>
                      </a:pPr>
                      <a:r>
                        <a:t>0.0%</a:t>
                      </a:r>
                    </a:p>
                  </a:txBody>
                  <a:tcPr/>
                </a:tc>
                <a:tc>
                  <a:txBody>
                    <a:bodyPr/>
                    <a:lstStyle/>
                    <a:p>
                      <a:pPr algn="ctr">
                        <a:defRPr sz="1200">
                          <a:solidFill>
                            <a:srgbClr val="333333"/>
                          </a:solidFill>
                          <a:latin typeface="Calibri"/>
                        </a:defRPr>
                      </a:pPr>
                      <a:r>
                        <a:t>248.9</a:t>
                      </a:r>
                    </a:p>
                  </a:txBody>
                  <a:tcPr/>
                </a:tc>
                <a:tc>
                  <a:txBody>
                    <a:bodyPr/>
                    <a:lstStyle/>
                    <a:p>
                      <a:pPr algn="ctr">
                        <a:defRPr sz="1200">
                          <a:solidFill>
                            <a:srgbClr val="333333"/>
                          </a:solidFill>
                          <a:latin typeface="Calibri"/>
                        </a:defRPr>
                      </a:pPr>
                      <a:r>
                        <a:t>233.6</a:t>
                      </a:r>
                    </a:p>
                  </a:txBody>
                  <a:tcPr/>
                </a:tc>
                <a:tc>
                  <a:txBody>
                    <a:bodyPr/>
                    <a:lstStyle/>
                    <a:p>
                      <a:pPr algn="ctr">
                        <a:defRPr sz="1200">
                          <a:solidFill>
                            <a:srgbClr val="333333"/>
                          </a:solidFill>
                          <a:latin typeface="Calibri"/>
                        </a:defRPr>
                      </a:pPr>
                      <a:r>
                        <a:t>219.6</a:t>
                      </a:r>
                    </a:p>
                  </a:txBody>
                  <a:tcPr/>
                </a:tc>
                <a:tc>
                  <a:txBody>
                    <a:bodyPr/>
                    <a:lstStyle/>
                    <a:p>
                      <a:pPr algn="ctr">
                        <a:defRPr sz="1200">
                          <a:solidFill>
                            <a:srgbClr val="333333"/>
                          </a:solidFill>
                          <a:latin typeface="Calibri"/>
                        </a:defRPr>
                      </a:pPr>
                      <a:r>
                        <a:t>−15.3</a:t>
                      </a:r>
                    </a:p>
                  </a:txBody>
                  <a:tcPr/>
                </a:tc>
              </a:tr>
              <a:tr h="308610">
                <a:tc>
                  <a:txBody>
                    <a:bodyPr/>
                    <a:lstStyle/>
                    <a:p>
                      <a:pPr algn="ctr">
                        <a:defRPr sz="1200">
                          <a:solidFill>
                            <a:srgbClr val="333333"/>
                          </a:solidFill>
                          <a:latin typeface="Calibri"/>
                        </a:defRPr>
                      </a:pPr>
                      <a:r>
                        <a:t>1.0%</a:t>
                      </a:r>
                    </a:p>
                  </a:txBody>
                  <a:tcPr/>
                </a:tc>
                <a:tc>
                  <a:txBody>
                    <a:bodyPr/>
                    <a:lstStyle/>
                    <a:p>
                      <a:pPr algn="ctr">
                        <a:defRPr sz="1200">
                          <a:solidFill>
                            <a:srgbClr val="333333"/>
                          </a:solidFill>
                          <a:latin typeface="Calibri"/>
                        </a:defRPr>
                      </a:pPr>
                      <a:r>
                        <a:t>242.3</a:t>
                      </a:r>
                    </a:p>
                  </a:txBody>
                  <a:tcPr/>
                </a:tc>
                <a:tc>
                  <a:txBody>
                    <a:bodyPr/>
                    <a:lstStyle/>
                    <a:p>
                      <a:pPr algn="ctr">
                        <a:defRPr sz="1200">
                          <a:solidFill>
                            <a:srgbClr val="333333"/>
                          </a:solidFill>
                          <a:latin typeface="Calibri"/>
                        </a:defRPr>
                      </a:pPr>
                      <a:r>
                        <a:t>233.4</a:t>
                      </a:r>
                    </a:p>
                  </a:txBody>
                  <a:tcPr/>
                </a:tc>
                <a:tc>
                  <a:txBody>
                    <a:bodyPr/>
                    <a:lstStyle/>
                    <a:p>
                      <a:pPr algn="ctr">
                        <a:defRPr sz="1200">
                          <a:solidFill>
                            <a:srgbClr val="333333"/>
                          </a:solidFill>
                          <a:latin typeface="Calibri"/>
                        </a:defRPr>
                      </a:pPr>
                      <a:r>
                        <a:t>216.9</a:t>
                      </a:r>
                    </a:p>
                  </a:txBody>
                  <a:tcPr/>
                </a:tc>
                <a:tc>
                  <a:txBody>
                    <a:bodyPr/>
                    <a:lstStyle/>
                    <a:p>
                      <a:pPr algn="ctr">
                        <a:defRPr sz="1200">
                          <a:solidFill>
                            <a:srgbClr val="333333"/>
                          </a:solidFill>
                          <a:latin typeface="Calibri"/>
                        </a:defRPr>
                      </a:pPr>
                      <a:r>
                        <a:t>−8.9</a:t>
                      </a:r>
                    </a:p>
                  </a:txBody>
                  <a:tcPr/>
                </a:tc>
              </a:tr>
              <a:tr h="308610">
                <a:tc>
                  <a:txBody>
                    <a:bodyPr/>
                    <a:lstStyle/>
                    <a:p>
                      <a:pPr algn="ctr">
                        <a:defRPr sz="1200">
                          <a:solidFill>
                            <a:srgbClr val="333333"/>
                          </a:solidFill>
                          <a:latin typeface="Calibri"/>
                        </a:defRPr>
                      </a:pPr>
                      <a:r>
                        <a:t>2.0%</a:t>
                      </a:r>
                    </a:p>
                  </a:txBody>
                  <a:tcPr>
                    <a:solidFill>
                      <a:srgbClr val="FFF8DC"/>
                    </a:solidFill>
                  </a:tcPr>
                </a:tc>
                <a:tc>
                  <a:txBody>
                    <a:bodyPr/>
                    <a:lstStyle/>
                    <a:p>
                      <a:pPr algn="ctr">
                        <a:defRPr sz="1200">
                          <a:solidFill>
                            <a:srgbClr val="333333"/>
                          </a:solidFill>
                          <a:latin typeface="Calibri"/>
                        </a:defRPr>
                      </a:pPr>
                      <a:r>
                        <a:t>231.5</a:t>
                      </a:r>
                    </a:p>
                  </a:txBody>
                  <a:tcPr>
                    <a:solidFill>
                      <a:srgbClr val="FFF8DC"/>
                    </a:solidFill>
                  </a:tcPr>
                </a:tc>
                <a:tc>
                  <a:txBody>
                    <a:bodyPr/>
                    <a:lstStyle/>
                    <a:p>
                      <a:pPr algn="ctr">
                        <a:defRPr sz="1200">
                          <a:solidFill>
                            <a:srgbClr val="333333"/>
                          </a:solidFill>
                          <a:latin typeface="Calibri"/>
                        </a:defRPr>
                      </a:pPr>
                      <a:r>
                        <a:t>233.1</a:t>
                      </a:r>
                    </a:p>
                  </a:txBody>
                  <a:tcPr>
                    <a:solidFill>
                      <a:srgbClr val="FFF8DC"/>
                    </a:solidFill>
                  </a:tcPr>
                </a:tc>
                <a:tc>
                  <a:txBody>
                    <a:bodyPr/>
                    <a:lstStyle/>
                    <a:p>
                      <a:pPr algn="ctr">
                        <a:defRPr sz="1200">
                          <a:solidFill>
                            <a:srgbClr val="333333"/>
                          </a:solidFill>
                          <a:latin typeface="Calibri"/>
                        </a:defRPr>
                      </a:pPr>
                      <a:r>
                        <a:t>214.3</a:t>
                      </a:r>
                    </a:p>
                  </a:txBody>
                  <a:tcPr>
                    <a:solidFill>
                      <a:srgbClr val="FFF8DC"/>
                    </a:solidFill>
                  </a:tcPr>
                </a:tc>
                <a:tc>
                  <a:txBody>
                    <a:bodyPr/>
                    <a:lstStyle/>
                    <a:p>
                      <a:pPr algn="ctr">
                        <a:defRPr sz="1200">
                          <a:solidFill>
                            <a:srgbClr val="333333"/>
                          </a:solidFill>
                          <a:latin typeface="Calibri"/>
                        </a:defRPr>
                      </a:pPr>
                      <a:r>
                        <a:t>+1.7</a:t>
                      </a:r>
                    </a:p>
                  </a:txBody>
                  <a:tcPr>
                    <a:solidFill>
                      <a:srgbClr val="FFF8DC"/>
                    </a:solidFill>
                  </a:tcPr>
                </a:tc>
              </a:tr>
              <a:tr h="308610">
                <a:tc>
                  <a:txBody>
                    <a:bodyPr/>
                    <a:lstStyle/>
                    <a:p>
                      <a:pPr algn="ctr">
                        <a:defRPr sz="1200">
                          <a:solidFill>
                            <a:srgbClr val="333333"/>
                          </a:solidFill>
                          <a:latin typeface="Calibri"/>
                        </a:defRPr>
                      </a:pPr>
                      <a:r>
                        <a:t>3.0%</a:t>
                      </a:r>
                    </a:p>
                  </a:txBody>
                  <a:tcPr/>
                </a:tc>
                <a:tc>
                  <a:txBody>
                    <a:bodyPr/>
                    <a:lstStyle/>
                    <a:p>
                      <a:pPr algn="ctr">
                        <a:defRPr sz="1200">
                          <a:solidFill>
                            <a:srgbClr val="333333"/>
                          </a:solidFill>
                          <a:latin typeface="Calibri"/>
                        </a:defRPr>
                      </a:pPr>
                      <a:r>
                        <a:t>211.5</a:t>
                      </a:r>
                    </a:p>
                  </a:txBody>
                  <a:tcPr/>
                </a:tc>
                <a:tc>
                  <a:txBody>
                    <a:bodyPr/>
                    <a:lstStyle/>
                    <a:p>
                      <a:pPr algn="ctr">
                        <a:defRPr sz="1200">
                          <a:solidFill>
                            <a:srgbClr val="333333"/>
                          </a:solidFill>
                          <a:latin typeface="Calibri"/>
                        </a:defRPr>
                      </a:pPr>
                      <a:r>
                        <a:t>230.0</a:t>
                      </a:r>
                    </a:p>
                  </a:txBody>
                  <a:tcPr/>
                </a:tc>
                <a:tc>
                  <a:txBody>
                    <a:bodyPr/>
                    <a:lstStyle/>
                    <a:p>
                      <a:pPr algn="ctr">
                        <a:defRPr sz="1200">
                          <a:solidFill>
                            <a:srgbClr val="333333"/>
                          </a:solidFill>
                          <a:latin typeface="Calibri"/>
                        </a:defRPr>
                      </a:pPr>
                      <a:r>
                        <a:t>214.1</a:t>
                      </a:r>
                    </a:p>
                  </a:txBody>
                  <a:tcPr/>
                </a:tc>
                <a:tc>
                  <a:txBody>
                    <a:bodyPr/>
                    <a:lstStyle/>
                    <a:p>
                      <a:pPr algn="ctr">
                        <a:defRPr sz="1200">
                          <a:solidFill>
                            <a:srgbClr val="333333"/>
                          </a:solidFill>
                          <a:latin typeface="Calibri"/>
                        </a:defRPr>
                      </a:pPr>
                      <a:r>
                        <a:t>+18.5</a:t>
                      </a:r>
                    </a:p>
                  </a:txBody>
                  <a:tcPr/>
                </a:tc>
              </a:tr>
              <a:tr h="308610">
                <a:tc>
                  <a:txBody>
                    <a:bodyPr/>
                    <a:lstStyle/>
                    <a:p>
                      <a:pPr algn="ctr">
                        <a:defRPr sz="1200">
                          <a:solidFill>
                            <a:srgbClr val="333333"/>
                          </a:solidFill>
                          <a:latin typeface="Calibri"/>
                        </a:defRPr>
                      </a:pPr>
                      <a:r>
                        <a:t>5.0%</a:t>
                      </a:r>
                    </a:p>
                  </a:txBody>
                  <a:tcPr/>
                </a:tc>
                <a:tc>
                  <a:txBody>
                    <a:bodyPr/>
                    <a:lstStyle/>
                    <a:p>
                      <a:pPr algn="ctr">
                        <a:defRPr sz="1200">
                          <a:solidFill>
                            <a:srgbClr val="333333"/>
                          </a:solidFill>
                          <a:latin typeface="Calibri"/>
                        </a:defRPr>
                      </a:pPr>
                      <a:r>
                        <a:t>181.3</a:t>
                      </a:r>
                    </a:p>
                  </a:txBody>
                  <a:tcPr/>
                </a:tc>
                <a:tc>
                  <a:txBody>
                    <a:bodyPr/>
                    <a:lstStyle/>
                    <a:p>
                      <a:pPr algn="ctr">
                        <a:defRPr sz="1200">
                          <a:solidFill>
                            <a:srgbClr val="333333"/>
                          </a:solidFill>
                          <a:latin typeface="Calibri"/>
                        </a:defRPr>
                      </a:pPr>
                      <a:r>
                        <a:t>226.8</a:t>
                      </a:r>
                    </a:p>
                  </a:txBody>
                  <a:tcPr/>
                </a:tc>
                <a:tc>
                  <a:txBody>
                    <a:bodyPr/>
                    <a:lstStyle/>
                    <a:p>
                      <a:pPr algn="ctr">
                        <a:defRPr sz="1200">
                          <a:solidFill>
                            <a:srgbClr val="333333"/>
                          </a:solidFill>
                          <a:latin typeface="Calibri"/>
                        </a:defRPr>
                      </a:pPr>
                      <a:r>
                        <a:t>213.6</a:t>
                      </a:r>
                    </a:p>
                  </a:txBody>
                  <a:tcPr/>
                </a:tc>
                <a:tc>
                  <a:txBody>
                    <a:bodyPr/>
                    <a:lstStyle/>
                    <a:p>
                      <a:pPr algn="ctr">
                        <a:defRPr sz="1200">
                          <a:solidFill>
                            <a:srgbClr val="333333"/>
                          </a:solidFill>
                          <a:latin typeface="Calibri"/>
                        </a:defRPr>
                      </a:pPr>
                      <a:r>
                        <a:t>+45.5</a:t>
                      </a:r>
                    </a:p>
                  </a:txBody>
                  <a:tcPr/>
                </a:tc>
              </a:tr>
              <a:tr h="308610">
                <a:tc>
                  <a:txBody>
                    <a:bodyPr/>
                    <a:lstStyle/>
                    <a:p>
                      <a:pPr algn="ctr">
                        <a:defRPr sz="1200">
                          <a:solidFill>
                            <a:srgbClr val="333333"/>
                          </a:solidFill>
                          <a:latin typeface="Calibri"/>
                        </a:defRPr>
                      </a:pPr>
                      <a:r>
                        <a:t>7.5%</a:t>
                      </a:r>
                    </a:p>
                  </a:txBody>
                  <a:tcPr/>
                </a:tc>
                <a:tc>
                  <a:txBody>
                    <a:bodyPr/>
                    <a:lstStyle/>
                    <a:p>
                      <a:pPr algn="ctr">
                        <a:defRPr sz="1200">
                          <a:solidFill>
                            <a:srgbClr val="333333"/>
                          </a:solidFill>
                          <a:latin typeface="Calibri"/>
                        </a:defRPr>
                      </a:pPr>
                      <a:r>
                        <a:t>179.1</a:t>
                      </a:r>
                    </a:p>
                  </a:txBody>
                  <a:tcPr/>
                </a:tc>
                <a:tc>
                  <a:txBody>
                    <a:bodyPr/>
                    <a:lstStyle/>
                    <a:p>
                      <a:pPr algn="ctr">
                        <a:defRPr sz="1200">
                          <a:solidFill>
                            <a:srgbClr val="333333"/>
                          </a:solidFill>
                          <a:latin typeface="Calibri"/>
                        </a:defRPr>
                      </a:pPr>
                      <a:r>
                        <a:t>223.2</a:t>
                      </a:r>
                    </a:p>
                  </a:txBody>
                  <a:tcPr/>
                </a:tc>
                <a:tc>
                  <a:txBody>
                    <a:bodyPr/>
                    <a:lstStyle/>
                    <a:p>
                      <a:pPr algn="ctr">
                        <a:defRPr sz="1200">
                          <a:solidFill>
                            <a:srgbClr val="333333"/>
                          </a:solidFill>
                          <a:latin typeface="Calibri"/>
                        </a:defRPr>
                      </a:pPr>
                      <a:r>
                        <a:t>207.9</a:t>
                      </a:r>
                    </a:p>
                  </a:txBody>
                  <a:tcPr/>
                </a:tc>
                <a:tc>
                  <a:txBody>
                    <a:bodyPr/>
                    <a:lstStyle/>
                    <a:p>
                      <a:pPr algn="ctr">
                        <a:defRPr sz="1200">
                          <a:solidFill>
                            <a:srgbClr val="333333"/>
                          </a:solidFill>
                          <a:latin typeface="Calibri"/>
                        </a:defRPr>
                      </a:pPr>
                      <a:r>
                        <a:t>+44.1</a:t>
                      </a:r>
                    </a:p>
                  </a:txBody>
                  <a:tcPr/>
                </a:tc>
              </a:tr>
              <a:tr h="308610">
                <a:tc>
                  <a:txBody>
                    <a:bodyPr/>
                    <a:lstStyle/>
                    <a:p>
                      <a:pPr algn="ctr">
                        <a:defRPr sz="1200">
                          <a:solidFill>
                            <a:srgbClr val="333333"/>
                          </a:solidFill>
                          <a:latin typeface="Calibri"/>
                        </a:defRPr>
                      </a:pPr>
                      <a:r>
                        <a:t>10.0%</a:t>
                      </a:r>
                    </a:p>
                  </a:txBody>
                  <a:tcPr/>
                </a:tc>
                <a:tc>
                  <a:txBody>
                    <a:bodyPr/>
                    <a:lstStyle/>
                    <a:p>
                      <a:pPr algn="ctr">
                        <a:defRPr sz="1200">
                          <a:solidFill>
                            <a:srgbClr val="333333"/>
                          </a:solidFill>
                          <a:latin typeface="Calibri"/>
                        </a:defRPr>
                      </a:pPr>
                      <a:r>
                        <a:t>171.5</a:t>
                      </a:r>
                    </a:p>
                  </a:txBody>
                  <a:tcPr/>
                </a:tc>
                <a:tc>
                  <a:txBody>
                    <a:bodyPr/>
                    <a:lstStyle/>
                    <a:p>
                      <a:pPr algn="ctr">
                        <a:defRPr sz="1200">
                          <a:solidFill>
                            <a:srgbClr val="333333"/>
                          </a:solidFill>
                          <a:latin typeface="Calibri"/>
                        </a:defRPr>
                      </a:pPr>
                      <a:r>
                        <a:t>222.0</a:t>
                      </a:r>
                    </a:p>
                  </a:txBody>
                  <a:tcPr/>
                </a:tc>
                <a:tc>
                  <a:txBody>
                    <a:bodyPr/>
                    <a:lstStyle/>
                    <a:p>
                      <a:pPr algn="ctr">
                        <a:defRPr sz="1200">
                          <a:solidFill>
                            <a:srgbClr val="333333"/>
                          </a:solidFill>
                          <a:latin typeface="Calibri"/>
                        </a:defRPr>
                      </a:pPr>
                      <a:r>
                        <a:t>206.5</a:t>
                      </a:r>
                    </a:p>
                  </a:txBody>
                  <a:tcPr/>
                </a:tc>
                <a:tc>
                  <a:txBody>
                    <a:bodyPr/>
                    <a:lstStyle/>
                    <a:p>
                      <a:pPr algn="ctr">
                        <a:defRPr sz="1200">
                          <a:solidFill>
                            <a:srgbClr val="333333"/>
                          </a:solidFill>
                          <a:latin typeface="Calibri"/>
                        </a:defRPr>
                      </a:pPr>
                      <a:r>
                        <a:t>+50.6</a:t>
                      </a:r>
                    </a:p>
                  </a:txBody>
                  <a:tcPr/>
                </a:tc>
              </a:tr>
            </a:tbl>
          </a:graphicData>
        </a:graphic>
      </p:graphicFrame>
      <p:sp>
        <p:nvSpPr>
          <p:cNvPr id="5" name="TextBox 4"/>
          <p:cNvSpPr txBox="1"/>
          <p:nvPr/>
        </p:nvSpPr>
        <p:spPr>
          <a:xfrm>
            <a:off x="365760" y="3840480"/>
            <a:ext cx="5486400" cy="1005840"/>
          </a:xfrm>
          <a:prstGeom prst="rect">
            <a:avLst/>
          </a:prstGeom>
          <a:noFill/>
        </p:spPr>
        <p:txBody>
          <a:bodyPr wrap="square">
            <a:spAutoFit/>
          </a:bodyPr>
          <a:lstStyle/>
          <a:p>
            <a:pPr algn="l">
              <a:defRPr sz="1200" b="0">
                <a:solidFill>
                  <a:srgbClr val="666666"/>
                </a:solidFill>
                <a:latin typeface="Calibri"/>
              </a:defRPr>
            </a:pPr>
            <a:r>
              <a:t>Mean episode reward over the same 100 randomized scenarios at w₂ = 0.4. The noise is a fraction of the range of the flank wear and of the remaining stock. The last column is the general policy's reward minus the controller's.</a:t>
            </a:r>
          </a:p>
        </p:txBody>
      </p:sp>
      <p:pic>
        <p:nvPicPr>
          <p:cNvPr id="6" name="Picture 5" descr="regime_map.png"/>
          <p:cNvPicPr>
            <a:picLocks noChangeAspect="1"/>
          </p:cNvPicPr>
          <p:nvPr/>
        </p:nvPicPr>
        <p:blipFill>
          <a:blip r:embed="rId2"/>
          <a:stretch>
            <a:fillRect/>
          </a:stretch>
        </p:blipFill>
        <p:spPr>
          <a:xfrm>
            <a:off x="6035040" y="1280903"/>
            <a:ext cx="5852160" cy="3473233"/>
          </a:xfrm>
          <a:prstGeom prst="rect">
            <a:avLst/>
          </a:prstGeom>
        </p:spPr>
      </p:pic>
      <p:sp>
        <p:nvSpPr>
          <p:cNvPr id="7" name="Rectangle 6"/>
          <p:cNvSpPr/>
          <p:nvPr/>
        </p:nvSpPr>
        <p:spPr>
          <a:xfrm>
            <a:off x="457200" y="4983480"/>
            <a:ext cx="11247120" cy="1600200"/>
          </a:xfrm>
          <a:prstGeom prst="rect">
            <a:avLst/>
          </a:prstGeom>
          <a:solidFill>
            <a:srgbClr val="FFF8DC"/>
          </a:solidFill>
          <a:ln w="25400">
            <a:solidFill>
              <a:srgbClr val="CC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074920"/>
            <a:ext cx="10698480" cy="365760"/>
          </a:xfrm>
          <a:prstGeom prst="rect">
            <a:avLst/>
          </a:prstGeom>
          <a:noFill/>
        </p:spPr>
        <p:txBody>
          <a:bodyPr wrap="square">
            <a:spAutoFit/>
          </a:bodyPr>
          <a:lstStyle/>
          <a:p>
            <a:pPr algn="l">
              <a:defRPr sz="2000" b="1">
                <a:solidFill>
                  <a:srgbClr val="CC9900"/>
                </a:solidFill>
                <a:latin typeface="Calibri"/>
              </a:defRPr>
            </a:pPr>
            <a:r>
              <a:t>The crossover is at about 2% of the range of the wear measurement</a:t>
            </a:r>
          </a:p>
        </p:txBody>
      </p:sp>
      <p:sp>
        <p:nvSpPr>
          <p:cNvPr id="9" name="TextBox 8"/>
          <p:cNvSpPr txBox="1"/>
          <p:nvPr/>
        </p:nvSpPr>
        <p:spPr>
          <a:xfrm>
            <a:off x="731520" y="5532120"/>
            <a:ext cx="10698480" cy="1005840"/>
          </a:xfrm>
          <a:prstGeom prst="rect">
            <a:avLst/>
          </a:prstGeom>
          <a:noFill/>
        </p:spPr>
        <p:txBody>
          <a:bodyPr wrap="square">
            <a:spAutoFit/>
          </a:bodyPr>
          <a:lstStyle/>
          <a:p>
            <a:pPr>
              <a:spcAft>
                <a:spcPts val="400"/>
              </a:spcAft>
              <a:defRPr sz="1400">
                <a:solidFill>
                  <a:srgbClr val="333333"/>
                </a:solidFill>
                <a:latin typeface="Calibri"/>
              </a:defRPr>
            </a:pPr>
            <a:r>
              <a:t>• Below it the classical controller is the better operator, above it the learned policy is: a plant that can measure the flank wear to better than 2% of its range has the better controller, one that cannot has the better policy</a:t>
            </a:r>
          </a:p>
          <a:p>
            <a:pPr>
              <a:spcAft>
                <a:spcPts val="400"/>
              </a:spcAft>
              <a:defRPr sz="1400">
                <a:solidFill>
                  <a:srgbClr val="333333"/>
                </a:solidFill>
                <a:latin typeface="Calibri"/>
              </a:defRPr>
            </a:pPr>
            <a:r>
              <a:t>• The controller's curve falls away and the policy's is nearly flat, and the gap reaches 50.6 reward points at 10% noise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The Regime Map: How to Read It</a:t>
            </a:r>
          </a:p>
        </p:txBody>
      </p:sp>
      <p:sp>
        <p:nvSpPr>
          <p:cNvPr id="4" name="Rectangle 3"/>
          <p:cNvSpPr/>
          <p:nvPr/>
        </p:nvSpPr>
        <p:spPr>
          <a:xfrm>
            <a:off x="457200" y="1234440"/>
            <a:ext cx="11247120" cy="2606040"/>
          </a:xfrm>
          <a:prstGeom prst="rect">
            <a:avLst/>
          </a:prstGeom>
          <a:solidFill>
            <a:srgbClr val="F0F0F0"/>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10698480" cy="365760"/>
          </a:xfrm>
          <a:prstGeom prst="rect">
            <a:avLst/>
          </a:prstGeom>
          <a:noFill/>
        </p:spPr>
        <p:txBody>
          <a:bodyPr wrap="square">
            <a:spAutoFit/>
          </a:bodyPr>
          <a:lstStyle/>
          <a:p>
            <a:pPr algn="l">
              <a:defRPr sz="2000" b="1">
                <a:solidFill>
                  <a:srgbClr val="003366"/>
                </a:solidFill>
                <a:latin typeface="Calibri"/>
              </a:defRPr>
            </a:pPr>
            <a:r>
              <a:t>Three readings</a:t>
            </a:r>
          </a:p>
        </p:txBody>
      </p:sp>
      <p:sp>
        <p:nvSpPr>
          <p:cNvPr id="6" name="TextBox 5"/>
          <p:cNvSpPr txBox="1"/>
          <p:nvPr/>
        </p:nvSpPr>
        <p:spPr>
          <a:xfrm>
            <a:off x="731520" y="1828800"/>
            <a:ext cx="10698480" cy="1920240"/>
          </a:xfrm>
          <a:prstGeom prst="rect">
            <a:avLst/>
          </a:prstGeom>
          <a:noFill/>
        </p:spPr>
        <p:txBody>
          <a:bodyPr wrap="square">
            <a:spAutoFit/>
          </a:bodyPr>
          <a:lstStyle/>
          <a:p>
            <a:pPr>
              <a:spcAft>
                <a:spcPts val="600"/>
              </a:spcAft>
              <a:defRPr sz="1400">
                <a:solidFill>
                  <a:srgbClr val="333333"/>
                </a:solidFill>
                <a:latin typeface="Calibri"/>
              </a:defRPr>
            </a:pPr>
            <a:r>
              <a:t>• The crossover is at about 2% of the range of the wear measurement. Below it the classical controller is the better operator, above it the learned policy is. That is the actionable form of the whole result.</a:t>
            </a:r>
          </a:p>
          <a:p>
            <a:pPr>
              <a:spcAft>
                <a:spcPts val="600"/>
              </a:spcAft>
              <a:defRPr sz="1400">
                <a:solidFill>
                  <a:srgbClr val="333333"/>
                </a:solidFill>
                <a:latin typeface="Calibri"/>
              </a:defRPr>
            </a:pPr>
            <a:r>
              <a:t>• The two degrade differently. The controller falls from 248.9 to 171.5, a 31% loss, because a noisy wear reading makes its plan violate the limits and break tools. The policy falls from 233.6 to 222.0, a 5% loss, because a perturbed observation perturbs its action slightly. A model-based controller has a cliff, a learned policy has a slope.</a:t>
            </a:r>
          </a:p>
          <a:p>
            <a:pPr>
              <a:spcAft>
                <a:spcPts val="600"/>
              </a:spcAft>
              <a:defRPr sz="1400">
                <a:solidFill>
                  <a:srgbClr val="333333"/>
                </a:solidFill>
                <a:latin typeface="Calibri"/>
              </a:defRPr>
            </a:pPr>
            <a:r>
              <a:t>• Training for the noise does not pay. The policy trained with the noise is below the general policy at every noise level, including the 5% it was trained for, where it scores 213.6 against 226.8. Its robustness comes from training across a distribution of scenarios.</a:t>
            </a:r>
          </a:p>
        </p:txBody>
      </p:sp>
      <p:sp>
        <p:nvSpPr>
          <p:cNvPr id="7" name="Rectangle 6"/>
          <p:cNvSpPr/>
          <p:nvPr/>
        </p:nvSpPr>
        <p:spPr>
          <a:xfrm>
            <a:off x="457200" y="3931920"/>
            <a:ext cx="11247120" cy="2377440"/>
          </a:xfrm>
          <a:prstGeom prst="rect">
            <a:avLst/>
          </a:prstGeom>
          <a:solidFill>
            <a:srgbClr val="FFF8DC"/>
          </a:solidFill>
          <a:ln w="25400">
            <a:solidFill>
              <a:srgbClr val="CC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023360"/>
            <a:ext cx="10698480" cy="365760"/>
          </a:xfrm>
          <a:prstGeom prst="rect">
            <a:avLst/>
          </a:prstGeom>
          <a:noFill/>
        </p:spPr>
        <p:txBody>
          <a:bodyPr wrap="square">
            <a:spAutoFit/>
          </a:bodyPr>
          <a:lstStyle/>
          <a:p>
            <a:pPr algn="l">
              <a:defRPr sz="2000" b="1">
                <a:solidFill>
                  <a:srgbClr val="CC9900"/>
                </a:solidFill>
                <a:latin typeface="Calibri"/>
              </a:defRPr>
            </a:pPr>
            <a:r>
              <a:t>The fairness decisions</a:t>
            </a:r>
          </a:p>
        </p:txBody>
      </p:sp>
      <p:sp>
        <p:nvSpPr>
          <p:cNvPr id="9" name="TextBox 8"/>
          <p:cNvSpPr txBox="1"/>
          <p:nvPr/>
        </p:nvSpPr>
        <p:spPr>
          <a:xfrm>
            <a:off x="731520" y="4480560"/>
            <a:ext cx="10698480" cy="1737360"/>
          </a:xfrm>
          <a:prstGeom prst="rect">
            <a:avLst/>
          </a:prstGeom>
          <a:noFill/>
        </p:spPr>
        <p:txBody>
          <a:bodyPr wrap="square">
            <a:spAutoFit/>
          </a:bodyPr>
          <a:lstStyle/>
          <a:p>
            <a:pPr>
              <a:spcAft>
                <a:spcPts val="600"/>
              </a:spcAft>
              <a:defRPr sz="1400">
                <a:solidFill>
                  <a:srgbClr val="333333"/>
                </a:solidFill>
                <a:latin typeface="Calibri"/>
              </a:defRPr>
            </a:pPr>
            <a:r>
              <a:t>• Both arms of the headline comparison are the general ones, neither is trained for the noise.</a:t>
            </a:r>
          </a:p>
          <a:p>
            <a:pPr>
              <a:spcAft>
                <a:spcPts val="600"/>
              </a:spcAft>
              <a:defRPr sz="1400">
                <a:solidFill>
                  <a:srgbClr val="333333"/>
                </a:solidFill>
                <a:latin typeface="Calibri"/>
              </a:defRPr>
            </a:pPr>
            <a:r>
              <a:t>• The noise is tilted against the policy: the controller is given a noisy reading of the flank wear, the measurement it depends on, while the policy receives the noise on the flank wear and on the remaining stock.</a:t>
            </a:r>
          </a:p>
          <a:p>
            <a:pPr>
              <a:spcAft>
                <a:spcPts val="600"/>
              </a:spcAft>
              <a:defRPr sz="1400">
                <a:solidFill>
                  <a:srgbClr val="333333"/>
                </a:solidFill>
                <a:latin typeface="Calibri"/>
              </a:defRPr>
            </a:pPr>
            <a:r>
              <a:t>• The noise-trained policy is a third, clearly labelled arm and not the headline, because a controller can also be prepared for a noisy instrument by widening its safety margin, and that is a design choice rather than a training one.</a:t>
            </a:r>
          </a:p>
          <a:p>
            <a:pPr>
              <a:spcAft>
                <a:spcPts val="600"/>
              </a:spcAft>
              <a:defRPr sz="1400">
                <a:solidFill>
                  <a:srgbClr val="333333"/>
                </a:solidFill>
                <a:latin typeface="Calibri"/>
              </a:defRPr>
            </a:pPr>
            <a:r>
              <a:t>• Of the two degraded regimes the noise test is the fairer one, because the noise is a property of the instrumentation and not of the method.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Reward Sensitivity: How the Reward Pays for a Rate</a:t>
            </a:r>
          </a:p>
        </p:txBody>
      </p:sp>
      <p:sp>
        <p:nvSpPr>
          <p:cNvPr id="4" name="TextBox 3"/>
          <p:cNvSpPr txBox="1"/>
          <p:nvPr/>
        </p:nvSpPr>
        <p:spPr>
          <a:xfrm>
            <a:off x="457200" y="1097280"/>
            <a:ext cx="11247120" cy="777240"/>
          </a:xfrm>
          <a:prstGeom prst="rect">
            <a:avLst/>
          </a:prstGeom>
          <a:noFill/>
        </p:spPr>
        <p:txBody>
          <a:bodyPr wrap="square">
            <a:spAutoFit/>
          </a:bodyPr>
          <a:lstStyle/>
          <a:p>
            <a:pPr algn="l">
              <a:defRPr sz="1400" b="0">
                <a:solidFill>
                  <a:srgbClr val="333333"/>
                </a:solidFill>
                <a:latin typeface="Calibri"/>
              </a:defRPr>
            </a:pPr>
            <a:r>
              <a:t>The reward pays the removal rate of every pass, so the total credit grows with the number of passes a plan takes: a plan that cuts the same part in more, shallower passes is paid more for it. On the same 100 scenarios at w₂ = 0.4, measured by experiments/reward_sensitivity.py, the controller takes 5.85 passes against the policy's 4.00 and collects 27% more objective credit (+0.413 against +0.326) for the same material.</a:t>
            </a:r>
          </a:p>
        </p:txBody>
      </p:sp>
      <p:graphicFrame>
        <p:nvGraphicFramePr>
          <p:cNvPr id="5" name="Table 4"/>
          <p:cNvGraphicFramePr>
            <a:graphicFrameLocks noGrp="1"/>
          </p:cNvGraphicFramePr>
          <p:nvPr/>
        </p:nvGraphicFramePr>
        <p:xfrm>
          <a:off x="548640" y="1874519"/>
          <a:ext cx="10058400" cy="2560320"/>
        </p:xfrm>
        <a:graphic>
          <a:graphicData uri="http://schemas.openxmlformats.org/drawingml/2006/table">
            <a:tbl>
              <a:tblPr firstRow="1" bandRow="1">
                <a:tableStyleId>{5C22544A-7EE6-4342-B048-85BDC9FD1C3A}</a:tableStyleId>
              </a:tblPr>
              <a:tblGrid>
                <a:gridCol w="1828800"/>
                <a:gridCol w="1554480"/>
                <a:gridCol w="1371600"/>
                <a:gridCol w="1188720"/>
                <a:gridCol w="1554480"/>
                <a:gridCol w="1371600"/>
                <a:gridCol w="1188720"/>
              </a:tblGrid>
              <a:tr h="256032">
                <a:tc>
                  <a:txBody>
                    <a:bodyPr/>
                    <a:lstStyle/>
                    <a:p>
                      <a:pPr algn="ctr">
                        <a:defRPr sz="1100" b="1">
                          <a:solidFill>
                            <a:srgbClr val="FFFFFF"/>
                          </a:solidFill>
                          <a:latin typeface="Calibri"/>
                        </a:defRPr>
                      </a:pPr>
                      <a:r>
                        <a:t>Objective scale</a:t>
                      </a:r>
                    </a:p>
                  </a:txBody>
                  <a:tcPr>
                    <a:solidFill>
                      <a:srgbClr val="003366"/>
                    </a:solidFill>
                  </a:tcPr>
                </a:tc>
                <a:tc gridSpan="3">
                  <a:txBody>
                    <a:bodyPr/>
                    <a:lstStyle/>
                    <a:p>
                      <a:pPr algn="ctr">
                        <a:defRPr sz="1100" b="1">
                          <a:solidFill>
                            <a:srgbClr val="FFFFFF"/>
                          </a:solidFill>
                          <a:latin typeface="Calibri"/>
                        </a:defRPr>
                      </a:pPr>
                      <a:r>
                        <a:t>Shipped form (sum of the per-pass rates)</a:t>
                      </a:r>
                    </a:p>
                  </a:txBody>
                  <a:tcPr>
                    <a:solidFill>
                      <a:srgbClr val="003366"/>
                    </a:solidFill>
                  </a:tcPr>
                </a:tc>
                <a:tc hMerge="1">
                  <a:txBody>
                    <a:bodyPr/>
                    <a:lstStyle/>
                    <a:p>
                      <a:pPr algn="ctr">
                        <a:defRPr sz="1100">
                          <a:solidFill>
                            <a:srgbClr val="333333"/>
                          </a:solidFill>
                          <a:latin typeface="Calibri"/>
                        </a:defRPr>
                      </a:pPr>
                    </a:p>
                  </a:txBody>
                  <a:tcPr/>
                </a:tc>
                <a:tc hMerge="1">
                  <a:txBody>
                    <a:bodyPr/>
                    <a:lstStyle/>
                    <a:p>
                      <a:pPr algn="ctr">
                        <a:defRPr sz="1100">
                          <a:solidFill>
                            <a:srgbClr val="333333"/>
                          </a:solidFill>
                          <a:latin typeface="Calibri"/>
                        </a:defRPr>
                      </a:pPr>
                    </a:p>
                  </a:txBody>
                  <a:tcPr/>
                </a:tc>
                <a:tc gridSpan="3">
                  <a:txBody>
                    <a:bodyPr/>
                    <a:lstStyle/>
                    <a:p>
                      <a:pPr algn="ctr">
                        <a:defRPr sz="1100" b="1">
                          <a:solidFill>
                            <a:srgbClr val="FFFFFF"/>
                          </a:solidFill>
                          <a:latin typeface="Calibri"/>
                        </a:defRPr>
                      </a:pPr>
                      <a:r>
                        <a:t>Alternative form (material against energy)</a:t>
                      </a:r>
                    </a:p>
                  </a:txBody>
                  <a:tcPr>
                    <a:solidFill>
                      <a:srgbClr val="003366"/>
                    </a:solidFill>
                  </a:tcPr>
                </a:tc>
                <a:tc hMerge="1">
                  <a:txBody>
                    <a:bodyPr/>
                    <a:lstStyle/>
                    <a:p>
                      <a:pPr algn="ctr">
                        <a:defRPr sz="1100">
                          <a:solidFill>
                            <a:srgbClr val="333333"/>
                          </a:solidFill>
                          <a:latin typeface="Calibri"/>
                        </a:defRPr>
                      </a:pPr>
                    </a:p>
                  </a:txBody>
                  <a:tcPr/>
                </a:tc>
                <a:tc hMerge="1">
                  <a:txBody>
                    <a:bodyPr/>
                    <a:lstStyle/>
                    <a:p>
                      <a:pPr algn="ctr">
                        <a:defRPr sz="1100">
                          <a:solidFill>
                            <a:srgbClr val="333333"/>
                          </a:solidFill>
                          <a:latin typeface="Calibri"/>
                        </a:defRPr>
                      </a:pPr>
                    </a:p>
                  </a:txBody>
                  <a:tcPr/>
                </a:tc>
              </a:tr>
              <a:tr h="256032">
                <a:tc>
                  <a:txBody>
                    <a:bodyPr/>
                    <a:lstStyle/>
                    <a:p>
                      <a:pPr algn="ctr">
                        <a:defRPr sz="1100" b="1">
                          <a:solidFill>
                            <a:srgbClr val="FFFFFF"/>
                          </a:solidFill>
                          <a:latin typeface="Calibri"/>
                        </a:defRPr>
                      </a:pPr>
                    </a:p>
                  </a:txBody>
                  <a:tcPr>
                    <a:solidFill>
                      <a:srgbClr val="003366"/>
                    </a:solidFill>
                  </a:tcPr>
                </a:tc>
                <a:tc>
                  <a:txBody>
                    <a:bodyPr/>
                    <a:lstStyle/>
                    <a:p>
                      <a:pPr algn="ctr">
                        <a:defRPr sz="1100" b="1">
                          <a:solidFill>
                            <a:srgbClr val="FFFFFF"/>
                          </a:solidFill>
                          <a:latin typeface="Calibri"/>
                        </a:defRPr>
                      </a:pPr>
                      <a:r>
                        <a:t>Controller</a:t>
                      </a:r>
                    </a:p>
                  </a:txBody>
                  <a:tcPr>
                    <a:solidFill>
                      <a:srgbClr val="003366"/>
                    </a:solidFill>
                  </a:tcPr>
                </a:tc>
                <a:tc>
                  <a:txBody>
                    <a:bodyPr/>
                    <a:lstStyle/>
                    <a:p>
                      <a:pPr algn="ctr">
                        <a:defRPr sz="1100" b="1">
                          <a:solidFill>
                            <a:srgbClr val="FFFFFF"/>
                          </a:solidFill>
                          <a:latin typeface="Calibri"/>
                        </a:defRPr>
                      </a:pPr>
                      <a:r>
                        <a:t>Policy</a:t>
                      </a:r>
                    </a:p>
                  </a:txBody>
                  <a:tcPr>
                    <a:solidFill>
                      <a:srgbClr val="003366"/>
                    </a:solidFill>
                  </a:tcPr>
                </a:tc>
                <a:tc>
                  <a:txBody>
                    <a:bodyPr/>
                    <a:lstStyle/>
                    <a:p>
                      <a:pPr algn="ctr">
                        <a:defRPr sz="1100" b="1">
                          <a:solidFill>
                            <a:srgbClr val="FFFFFF"/>
                          </a:solidFill>
                          <a:latin typeface="Calibri"/>
                        </a:defRPr>
                      </a:pPr>
                      <a:r>
                        <a:t>Gap</a:t>
                      </a:r>
                    </a:p>
                  </a:txBody>
                  <a:tcPr>
                    <a:solidFill>
                      <a:srgbClr val="003366"/>
                    </a:solidFill>
                  </a:tcPr>
                </a:tc>
                <a:tc>
                  <a:txBody>
                    <a:bodyPr/>
                    <a:lstStyle/>
                    <a:p>
                      <a:pPr algn="ctr">
                        <a:defRPr sz="1100" b="1">
                          <a:solidFill>
                            <a:srgbClr val="FFFFFF"/>
                          </a:solidFill>
                          <a:latin typeface="Calibri"/>
                        </a:defRPr>
                      </a:pPr>
                      <a:r>
                        <a:t>Controller</a:t>
                      </a:r>
                    </a:p>
                  </a:txBody>
                  <a:tcPr>
                    <a:solidFill>
                      <a:srgbClr val="003366"/>
                    </a:solidFill>
                  </a:tcPr>
                </a:tc>
                <a:tc>
                  <a:txBody>
                    <a:bodyPr/>
                    <a:lstStyle/>
                    <a:p>
                      <a:pPr algn="ctr">
                        <a:defRPr sz="1100" b="1">
                          <a:solidFill>
                            <a:srgbClr val="FFFFFF"/>
                          </a:solidFill>
                          <a:latin typeface="Calibri"/>
                        </a:defRPr>
                      </a:pPr>
                      <a:r>
                        <a:t>Policy</a:t>
                      </a:r>
                    </a:p>
                  </a:txBody>
                  <a:tcPr>
                    <a:solidFill>
                      <a:srgbClr val="003366"/>
                    </a:solidFill>
                  </a:tcPr>
                </a:tc>
                <a:tc>
                  <a:txBody>
                    <a:bodyPr/>
                    <a:lstStyle/>
                    <a:p>
                      <a:pPr algn="ctr">
                        <a:defRPr sz="1100" b="1">
                          <a:solidFill>
                            <a:srgbClr val="FFFFFF"/>
                          </a:solidFill>
                          <a:latin typeface="Calibri"/>
                        </a:defRPr>
                      </a:pPr>
                      <a:r>
                        <a:t>Gap</a:t>
                      </a:r>
                    </a:p>
                  </a:txBody>
                  <a:tcPr>
                    <a:solidFill>
                      <a:srgbClr val="003366"/>
                    </a:solidFill>
                  </a:tcPr>
                </a:tc>
              </a:tr>
              <a:tr h="256032">
                <a:tc>
                  <a:txBody>
                    <a:bodyPr/>
                    <a:lstStyle/>
                    <a:p>
                      <a:pPr algn="ctr">
                        <a:defRPr sz="1100">
                          <a:solidFill>
                            <a:srgbClr val="333333"/>
                          </a:solidFill>
                          <a:latin typeface="Calibri"/>
                        </a:defRPr>
                      </a:pPr>
                      <a:r>
                        <a:t>5</a:t>
                      </a:r>
                    </a:p>
                  </a:txBody>
                  <a:tcPr/>
                </a:tc>
                <a:tc>
                  <a:txBody>
                    <a:bodyPr/>
                    <a:lstStyle/>
                    <a:p>
                      <a:pPr algn="ctr">
                        <a:defRPr sz="1100">
                          <a:solidFill>
                            <a:srgbClr val="333333"/>
                          </a:solidFill>
                          <a:latin typeface="Calibri"/>
                        </a:defRPr>
                      </a:pPr>
                      <a:r>
                        <a:t>209.7</a:t>
                      </a:r>
                    </a:p>
                  </a:txBody>
                  <a:tcPr/>
                </a:tc>
                <a:tc>
                  <a:txBody>
                    <a:bodyPr/>
                    <a:lstStyle/>
                    <a:p>
                      <a:pPr algn="ctr">
                        <a:defRPr sz="1100">
                          <a:solidFill>
                            <a:srgbClr val="333333"/>
                          </a:solidFill>
                          <a:latin typeface="Calibri"/>
                        </a:defRPr>
                      </a:pPr>
                      <a:r>
                        <a:t>202.6</a:t>
                      </a:r>
                    </a:p>
                  </a:txBody>
                  <a:tcPr/>
                </a:tc>
                <a:tc>
                  <a:txBody>
                    <a:bodyPr/>
                    <a:lstStyle/>
                    <a:p>
                      <a:pPr algn="ctr">
                        <a:defRPr sz="1100">
                          <a:solidFill>
                            <a:srgbClr val="333333"/>
                          </a:solidFill>
                          <a:latin typeface="Calibri"/>
                        </a:defRPr>
                      </a:pPr>
                      <a:r>
                        <a:t>+7.1</a:t>
                      </a:r>
                    </a:p>
                  </a:txBody>
                  <a:tcPr/>
                </a:tc>
                <a:tc>
                  <a:txBody>
                    <a:bodyPr/>
                    <a:lstStyle/>
                    <a:p>
                      <a:pPr algn="ctr">
                        <a:defRPr sz="1100">
                          <a:solidFill>
                            <a:srgbClr val="333333"/>
                          </a:solidFill>
                          <a:latin typeface="Calibri"/>
                        </a:defRPr>
                      </a:pPr>
                      <a:r>
                        <a:t>208.2</a:t>
                      </a:r>
                    </a:p>
                  </a:txBody>
                  <a:tcPr/>
                </a:tc>
                <a:tc>
                  <a:txBody>
                    <a:bodyPr/>
                    <a:lstStyle/>
                    <a:p>
                      <a:pPr algn="ctr">
                        <a:defRPr sz="1100">
                          <a:solidFill>
                            <a:srgbClr val="333333"/>
                          </a:solidFill>
                          <a:latin typeface="Calibri"/>
                        </a:defRPr>
                      </a:pPr>
                      <a:r>
                        <a:t>201.6</a:t>
                      </a:r>
                    </a:p>
                  </a:txBody>
                  <a:tcPr/>
                </a:tc>
                <a:tc>
                  <a:txBody>
                    <a:bodyPr/>
                    <a:lstStyle/>
                    <a:p>
                      <a:pPr algn="ctr">
                        <a:defRPr sz="1100">
                          <a:solidFill>
                            <a:srgbClr val="333333"/>
                          </a:solidFill>
                          <a:latin typeface="Calibri"/>
                        </a:defRPr>
                      </a:pPr>
                      <a:r>
                        <a:t>+6.5</a:t>
                      </a:r>
                    </a:p>
                  </a:txBody>
                  <a:tcPr/>
                </a:tc>
              </a:tr>
              <a:tr h="256032">
                <a:tc>
                  <a:txBody>
                    <a:bodyPr/>
                    <a:lstStyle/>
                    <a:p>
                      <a:pPr algn="ctr">
                        <a:defRPr sz="1100">
                          <a:solidFill>
                            <a:srgbClr val="333333"/>
                          </a:solidFill>
                          <a:latin typeface="Calibri"/>
                        </a:defRPr>
                      </a:pPr>
                      <a:r>
                        <a:t>20</a:t>
                      </a:r>
                    </a:p>
                  </a:txBody>
                  <a:tcPr/>
                </a:tc>
                <a:tc>
                  <a:txBody>
                    <a:bodyPr/>
                    <a:lstStyle/>
                    <a:p>
                      <a:pPr algn="ctr">
                        <a:defRPr sz="1100">
                          <a:solidFill>
                            <a:srgbClr val="333333"/>
                          </a:solidFill>
                          <a:latin typeface="Calibri"/>
                        </a:defRPr>
                      </a:pPr>
                      <a:r>
                        <a:t>215.9</a:t>
                      </a:r>
                    </a:p>
                  </a:txBody>
                  <a:tcPr/>
                </a:tc>
                <a:tc>
                  <a:txBody>
                    <a:bodyPr/>
                    <a:lstStyle/>
                    <a:p>
                      <a:pPr algn="ctr">
                        <a:defRPr sz="1100">
                          <a:solidFill>
                            <a:srgbClr val="333333"/>
                          </a:solidFill>
                          <a:latin typeface="Calibri"/>
                        </a:defRPr>
                      </a:pPr>
                      <a:r>
                        <a:t>207.5</a:t>
                      </a:r>
                    </a:p>
                  </a:txBody>
                  <a:tcPr/>
                </a:tc>
                <a:tc>
                  <a:txBody>
                    <a:bodyPr/>
                    <a:lstStyle/>
                    <a:p>
                      <a:pPr algn="ctr">
                        <a:defRPr sz="1100">
                          <a:solidFill>
                            <a:srgbClr val="333333"/>
                          </a:solidFill>
                          <a:latin typeface="Calibri"/>
                        </a:defRPr>
                      </a:pPr>
                      <a:r>
                        <a:t>+8.3</a:t>
                      </a:r>
                    </a:p>
                  </a:txBody>
                  <a:tcPr/>
                </a:tc>
                <a:tc>
                  <a:txBody>
                    <a:bodyPr/>
                    <a:lstStyle/>
                    <a:p>
                      <a:pPr algn="ctr">
                        <a:defRPr sz="1100">
                          <a:solidFill>
                            <a:srgbClr val="333333"/>
                          </a:solidFill>
                          <a:latin typeface="Calibri"/>
                        </a:defRPr>
                      </a:pPr>
                      <a:r>
                        <a:t>209.7</a:t>
                      </a:r>
                    </a:p>
                  </a:txBody>
                  <a:tcPr/>
                </a:tc>
                <a:tc>
                  <a:txBody>
                    <a:bodyPr/>
                    <a:lstStyle/>
                    <a:p>
                      <a:pPr algn="ctr">
                        <a:defRPr sz="1100">
                          <a:solidFill>
                            <a:srgbClr val="333333"/>
                          </a:solidFill>
                          <a:latin typeface="Calibri"/>
                        </a:defRPr>
                      </a:pPr>
                      <a:r>
                        <a:t>203.4</a:t>
                      </a:r>
                    </a:p>
                  </a:txBody>
                  <a:tcPr/>
                </a:tc>
                <a:tc>
                  <a:txBody>
                    <a:bodyPr/>
                    <a:lstStyle/>
                    <a:p>
                      <a:pPr algn="ctr">
                        <a:defRPr sz="1100">
                          <a:solidFill>
                            <a:srgbClr val="333333"/>
                          </a:solidFill>
                          <a:latin typeface="Calibri"/>
                        </a:defRPr>
                      </a:pPr>
                      <a:r>
                        <a:t>+6.3</a:t>
                      </a:r>
                    </a:p>
                  </a:txBody>
                  <a:tcPr/>
                </a:tc>
              </a:tr>
              <a:tr h="256032">
                <a:tc>
                  <a:txBody>
                    <a:bodyPr/>
                    <a:lstStyle/>
                    <a:p>
                      <a:pPr algn="ctr">
                        <a:defRPr sz="1100">
                          <a:solidFill>
                            <a:srgbClr val="333333"/>
                          </a:solidFill>
                          <a:latin typeface="Calibri"/>
                        </a:defRPr>
                      </a:pPr>
                      <a:r>
                        <a:t>50</a:t>
                      </a:r>
                    </a:p>
                  </a:txBody>
                  <a:tcPr/>
                </a:tc>
                <a:tc>
                  <a:txBody>
                    <a:bodyPr/>
                    <a:lstStyle/>
                    <a:p>
                      <a:pPr algn="ctr">
                        <a:defRPr sz="1100">
                          <a:solidFill>
                            <a:srgbClr val="333333"/>
                          </a:solidFill>
                          <a:latin typeface="Calibri"/>
                        </a:defRPr>
                      </a:pPr>
                      <a:r>
                        <a:t>228.3</a:t>
                      </a:r>
                    </a:p>
                  </a:txBody>
                  <a:tcPr/>
                </a:tc>
                <a:tc>
                  <a:txBody>
                    <a:bodyPr/>
                    <a:lstStyle/>
                    <a:p>
                      <a:pPr algn="ctr">
                        <a:defRPr sz="1100">
                          <a:solidFill>
                            <a:srgbClr val="333333"/>
                          </a:solidFill>
                          <a:latin typeface="Calibri"/>
                        </a:defRPr>
                      </a:pPr>
                      <a:r>
                        <a:t>217.3</a:t>
                      </a:r>
                    </a:p>
                  </a:txBody>
                  <a:tcPr/>
                </a:tc>
                <a:tc>
                  <a:txBody>
                    <a:bodyPr/>
                    <a:lstStyle/>
                    <a:p>
                      <a:pPr algn="ctr">
                        <a:defRPr sz="1100">
                          <a:solidFill>
                            <a:srgbClr val="333333"/>
                          </a:solidFill>
                          <a:latin typeface="Calibri"/>
                        </a:defRPr>
                      </a:pPr>
                      <a:r>
                        <a:t>+10.9</a:t>
                      </a:r>
                    </a:p>
                  </a:txBody>
                  <a:tcPr/>
                </a:tc>
                <a:tc>
                  <a:txBody>
                    <a:bodyPr/>
                    <a:lstStyle/>
                    <a:p>
                      <a:pPr algn="ctr">
                        <a:defRPr sz="1100">
                          <a:solidFill>
                            <a:srgbClr val="333333"/>
                          </a:solidFill>
                          <a:latin typeface="Calibri"/>
                        </a:defRPr>
                      </a:pPr>
                      <a:r>
                        <a:t>212.9</a:t>
                      </a:r>
                    </a:p>
                  </a:txBody>
                  <a:tcPr/>
                </a:tc>
                <a:tc>
                  <a:txBody>
                    <a:bodyPr/>
                    <a:lstStyle/>
                    <a:p>
                      <a:pPr algn="ctr">
                        <a:defRPr sz="1100">
                          <a:solidFill>
                            <a:srgbClr val="333333"/>
                          </a:solidFill>
                          <a:latin typeface="Calibri"/>
                        </a:defRPr>
                      </a:pPr>
                      <a:r>
                        <a:t>207.1</a:t>
                      </a:r>
                    </a:p>
                  </a:txBody>
                  <a:tcPr/>
                </a:tc>
                <a:tc>
                  <a:txBody>
                    <a:bodyPr/>
                    <a:lstStyle/>
                    <a:p>
                      <a:pPr algn="ctr">
                        <a:defRPr sz="1100">
                          <a:solidFill>
                            <a:srgbClr val="333333"/>
                          </a:solidFill>
                          <a:latin typeface="Calibri"/>
                        </a:defRPr>
                      </a:pPr>
                      <a:r>
                        <a:t>+5.8</a:t>
                      </a:r>
                    </a:p>
                  </a:txBody>
                  <a:tcPr/>
                </a:tc>
              </a:tr>
              <a:tr h="256032">
                <a:tc>
                  <a:txBody>
                    <a:bodyPr/>
                    <a:lstStyle/>
                    <a:p>
                      <a:pPr algn="ctr">
                        <a:defRPr sz="1100" b="1">
                          <a:solidFill>
                            <a:srgbClr val="003366"/>
                          </a:solidFill>
                          <a:latin typeface="Calibri"/>
                        </a:defRPr>
                      </a:pPr>
                      <a:r>
                        <a:t>100</a:t>
                      </a:r>
                    </a:p>
                  </a:txBody>
                  <a:tcPr>
                    <a:solidFill>
                      <a:srgbClr val="FFF8DC"/>
                    </a:solidFill>
                  </a:tcPr>
                </a:tc>
                <a:tc>
                  <a:txBody>
                    <a:bodyPr/>
                    <a:lstStyle/>
                    <a:p>
                      <a:pPr algn="ctr">
                        <a:defRPr sz="1100" b="1">
                          <a:solidFill>
                            <a:srgbClr val="003366"/>
                          </a:solidFill>
                          <a:latin typeface="Calibri"/>
                        </a:defRPr>
                      </a:pPr>
                      <a:r>
                        <a:t>248.9</a:t>
                      </a:r>
                    </a:p>
                  </a:txBody>
                  <a:tcPr>
                    <a:solidFill>
                      <a:srgbClr val="FFF8DC"/>
                    </a:solidFill>
                  </a:tcPr>
                </a:tc>
                <a:tc>
                  <a:txBody>
                    <a:bodyPr/>
                    <a:lstStyle/>
                    <a:p>
                      <a:pPr algn="ctr">
                        <a:defRPr sz="1100" b="1">
                          <a:solidFill>
                            <a:srgbClr val="003366"/>
                          </a:solidFill>
                          <a:latin typeface="Calibri"/>
                        </a:defRPr>
                      </a:pPr>
                      <a:r>
                        <a:t>233.6</a:t>
                      </a:r>
                    </a:p>
                  </a:txBody>
                  <a:tcPr>
                    <a:solidFill>
                      <a:srgbClr val="FFF8DC"/>
                    </a:solidFill>
                  </a:tcPr>
                </a:tc>
                <a:tc>
                  <a:txBody>
                    <a:bodyPr/>
                    <a:lstStyle/>
                    <a:p>
                      <a:pPr algn="ctr">
                        <a:defRPr sz="1100" b="1">
                          <a:solidFill>
                            <a:srgbClr val="003366"/>
                          </a:solidFill>
                          <a:latin typeface="Calibri"/>
                        </a:defRPr>
                      </a:pPr>
                      <a:r>
                        <a:t>+15.3</a:t>
                      </a:r>
                    </a:p>
                  </a:txBody>
                  <a:tcPr>
                    <a:solidFill>
                      <a:srgbClr val="FFF8DC"/>
                    </a:solidFill>
                  </a:tcPr>
                </a:tc>
                <a:tc>
                  <a:txBody>
                    <a:bodyPr/>
                    <a:lstStyle/>
                    <a:p>
                      <a:pPr algn="ctr">
                        <a:defRPr sz="1100" b="1">
                          <a:solidFill>
                            <a:srgbClr val="003366"/>
                          </a:solidFill>
                          <a:latin typeface="Calibri"/>
                        </a:defRPr>
                      </a:pPr>
                      <a:r>
                        <a:t>218.2</a:t>
                      </a:r>
                    </a:p>
                  </a:txBody>
                  <a:tcPr>
                    <a:solidFill>
                      <a:srgbClr val="FFF8DC"/>
                    </a:solidFill>
                  </a:tcPr>
                </a:tc>
                <a:tc>
                  <a:txBody>
                    <a:bodyPr/>
                    <a:lstStyle/>
                    <a:p>
                      <a:pPr algn="ctr">
                        <a:defRPr sz="1100" b="1">
                          <a:solidFill>
                            <a:srgbClr val="003366"/>
                          </a:solidFill>
                          <a:latin typeface="Calibri"/>
                        </a:defRPr>
                      </a:pPr>
                      <a:r>
                        <a:t>213.2</a:t>
                      </a:r>
                    </a:p>
                  </a:txBody>
                  <a:tcPr>
                    <a:solidFill>
                      <a:srgbClr val="FFF8DC"/>
                    </a:solidFill>
                  </a:tcPr>
                </a:tc>
                <a:tc>
                  <a:txBody>
                    <a:bodyPr/>
                    <a:lstStyle/>
                    <a:p>
                      <a:pPr algn="ctr">
                        <a:defRPr sz="1100" b="1">
                          <a:solidFill>
                            <a:srgbClr val="003366"/>
                          </a:solidFill>
                          <a:latin typeface="Calibri"/>
                        </a:defRPr>
                      </a:pPr>
                      <a:r>
                        <a:t>+5.0</a:t>
                      </a:r>
                    </a:p>
                  </a:txBody>
                  <a:tcPr>
                    <a:solidFill>
                      <a:srgbClr val="FFF8DC"/>
                    </a:solidFill>
                  </a:tcPr>
                </a:tc>
              </a:tr>
              <a:tr h="256032">
                <a:tc>
                  <a:txBody>
                    <a:bodyPr/>
                    <a:lstStyle/>
                    <a:p>
                      <a:pPr algn="ctr">
                        <a:defRPr sz="1100">
                          <a:solidFill>
                            <a:srgbClr val="333333"/>
                          </a:solidFill>
                          <a:latin typeface="Calibri"/>
                        </a:defRPr>
                      </a:pPr>
                      <a:r>
                        <a:t>200</a:t>
                      </a:r>
                    </a:p>
                  </a:txBody>
                  <a:tcPr/>
                </a:tc>
                <a:tc>
                  <a:txBody>
                    <a:bodyPr/>
                    <a:lstStyle/>
                    <a:p>
                      <a:pPr algn="ctr">
                        <a:defRPr sz="1100">
                          <a:solidFill>
                            <a:srgbClr val="333333"/>
                          </a:solidFill>
                          <a:latin typeface="Calibri"/>
                        </a:defRPr>
                      </a:pPr>
                      <a:r>
                        <a:t>290.1</a:t>
                      </a:r>
                    </a:p>
                  </a:txBody>
                  <a:tcPr/>
                </a:tc>
                <a:tc>
                  <a:txBody>
                    <a:bodyPr/>
                    <a:lstStyle/>
                    <a:p>
                      <a:pPr algn="ctr">
                        <a:defRPr sz="1100">
                          <a:solidFill>
                            <a:srgbClr val="333333"/>
                          </a:solidFill>
                          <a:latin typeface="Calibri"/>
                        </a:defRPr>
                      </a:pPr>
                      <a:r>
                        <a:t>266.2</a:t>
                      </a:r>
                    </a:p>
                  </a:txBody>
                  <a:tcPr/>
                </a:tc>
                <a:tc>
                  <a:txBody>
                    <a:bodyPr/>
                    <a:lstStyle/>
                    <a:p>
                      <a:pPr algn="ctr">
                        <a:defRPr sz="1100">
                          <a:solidFill>
                            <a:srgbClr val="333333"/>
                          </a:solidFill>
                          <a:latin typeface="Calibri"/>
                        </a:defRPr>
                      </a:pPr>
                      <a:r>
                        <a:t>+23.9</a:t>
                      </a:r>
                    </a:p>
                  </a:txBody>
                  <a:tcPr/>
                </a:tc>
                <a:tc>
                  <a:txBody>
                    <a:bodyPr/>
                    <a:lstStyle/>
                    <a:p>
                      <a:pPr algn="ctr">
                        <a:defRPr sz="1100">
                          <a:solidFill>
                            <a:srgbClr val="333333"/>
                          </a:solidFill>
                          <a:latin typeface="Calibri"/>
                        </a:defRPr>
                      </a:pPr>
                      <a:r>
                        <a:t>228.7</a:t>
                      </a:r>
                    </a:p>
                  </a:txBody>
                  <a:tcPr/>
                </a:tc>
                <a:tc>
                  <a:txBody>
                    <a:bodyPr/>
                    <a:lstStyle/>
                    <a:p>
                      <a:pPr algn="ctr">
                        <a:defRPr sz="1100">
                          <a:solidFill>
                            <a:srgbClr val="333333"/>
                          </a:solidFill>
                          <a:latin typeface="Calibri"/>
                        </a:defRPr>
                      </a:pPr>
                      <a:r>
                        <a:t>225.3</a:t>
                      </a:r>
                    </a:p>
                  </a:txBody>
                  <a:tcPr/>
                </a:tc>
                <a:tc>
                  <a:txBody>
                    <a:bodyPr/>
                    <a:lstStyle/>
                    <a:p>
                      <a:pPr algn="ctr">
                        <a:defRPr sz="1100">
                          <a:solidFill>
                            <a:srgbClr val="333333"/>
                          </a:solidFill>
                          <a:latin typeface="Calibri"/>
                        </a:defRPr>
                      </a:pPr>
                      <a:r>
                        <a:t>+3.4</a:t>
                      </a:r>
                    </a:p>
                  </a:txBody>
                  <a:tcPr/>
                </a:tc>
              </a:tr>
              <a:tr h="256032">
                <a:tc>
                  <a:txBody>
                    <a:bodyPr/>
                    <a:lstStyle/>
                    <a:p>
                      <a:pPr algn="ctr">
                        <a:defRPr sz="1100">
                          <a:solidFill>
                            <a:srgbClr val="333333"/>
                          </a:solidFill>
                          <a:latin typeface="Calibri"/>
                        </a:defRPr>
                      </a:pPr>
                      <a:r>
                        <a:t>400</a:t>
                      </a:r>
                    </a:p>
                  </a:txBody>
                  <a:tcPr/>
                </a:tc>
                <a:tc>
                  <a:txBody>
                    <a:bodyPr/>
                    <a:lstStyle/>
                    <a:p>
                      <a:pPr algn="ctr">
                        <a:defRPr sz="1100">
                          <a:solidFill>
                            <a:srgbClr val="333333"/>
                          </a:solidFill>
                          <a:latin typeface="Calibri"/>
                        </a:defRPr>
                      </a:pPr>
                      <a:r>
                        <a:t>372.7</a:t>
                      </a:r>
                    </a:p>
                  </a:txBody>
                  <a:tcPr/>
                </a:tc>
                <a:tc>
                  <a:txBody>
                    <a:bodyPr/>
                    <a:lstStyle/>
                    <a:p>
                      <a:pPr algn="ctr">
                        <a:defRPr sz="1100">
                          <a:solidFill>
                            <a:srgbClr val="333333"/>
                          </a:solidFill>
                          <a:latin typeface="Calibri"/>
                        </a:defRPr>
                      </a:pPr>
                      <a:r>
                        <a:t>331.5</a:t>
                      </a:r>
                    </a:p>
                  </a:txBody>
                  <a:tcPr/>
                </a:tc>
                <a:tc>
                  <a:txBody>
                    <a:bodyPr/>
                    <a:lstStyle/>
                    <a:p>
                      <a:pPr algn="ctr">
                        <a:defRPr sz="1100">
                          <a:solidFill>
                            <a:srgbClr val="333333"/>
                          </a:solidFill>
                          <a:latin typeface="Calibri"/>
                        </a:defRPr>
                      </a:pPr>
                      <a:r>
                        <a:t>+41.2</a:t>
                      </a:r>
                    </a:p>
                  </a:txBody>
                  <a:tcPr/>
                </a:tc>
                <a:tc>
                  <a:txBody>
                    <a:bodyPr/>
                    <a:lstStyle/>
                    <a:p>
                      <a:pPr algn="ctr">
                        <a:defRPr sz="1100">
                          <a:solidFill>
                            <a:srgbClr val="333333"/>
                          </a:solidFill>
                          <a:latin typeface="Calibri"/>
                        </a:defRPr>
                      </a:pPr>
                      <a:r>
                        <a:t>249.9</a:t>
                      </a:r>
                    </a:p>
                  </a:txBody>
                  <a:tcPr/>
                </a:tc>
                <a:tc>
                  <a:txBody>
                    <a:bodyPr/>
                    <a:lstStyle/>
                    <a:p>
                      <a:pPr algn="ctr">
                        <a:defRPr sz="1100">
                          <a:solidFill>
                            <a:srgbClr val="333333"/>
                          </a:solidFill>
                          <a:latin typeface="Calibri"/>
                        </a:defRPr>
                      </a:pPr>
                      <a:r>
                        <a:t>249.6</a:t>
                      </a:r>
                    </a:p>
                  </a:txBody>
                  <a:tcPr/>
                </a:tc>
                <a:tc>
                  <a:txBody>
                    <a:bodyPr/>
                    <a:lstStyle/>
                    <a:p>
                      <a:pPr algn="ctr">
                        <a:defRPr sz="1100">
                          <a:solidFill>
                            <a:srgbClr val="333333"/>
                          </a:solidFill>
                          <a:latin typeface="Calibri"/>
                        </a:defRPr>
                      </a:pPr>
                      <a:r>
                        <a:t>+0.2</a:t>
                      </a:r>
                    </a:p>
                  </a:txBody>
                  <a:tcPr/>
                </a:tc>
              </a:tr>
              <a:tr h="256032">
                <a:tc>
                  <a:txBody>
                    <a:bodyPr/>
                    <a:lstStyle/>
                    <a:p>
                      <a:pPr algn="ctr">
                        <a:defRPr sz="1100">
                          <a:solidFill>
                            <a:srgbClr val="333333"/>
                          </a:solidFill>
                          <a:latin typeface="Calibri"/>
                        </a:defRPr>
                      </a:pPr>
                      <a:r>
                        <a:t>1000</a:t>
                      </a:r>
                    </a:p>
                  </a:txBody>
                  <a:tcPr/>
                </a:tc>
                <a:tc>
                  <a:txBody>
                    <a:bodyPr/>
                    <a:lstStyle/>
                    <a:p>
                      <a:pPr algn="ctr">
                        <a:defRPr sz="1100">
                          <a:solidFill>
                            <a:srgbClr val="333333"/>
                          </a:solidFill>
                          <a:latin typeface="Calibri"/>
                        </a:defRPr>
                      </a:pPr>
                      <a:r>
                        <a:t>620.2</a:t>
                      </a:r>
                    </a:p>
                  </a:txBody>
                  <a:tcPr/>
                </a:tc>
                <a:tc>
                  <a:txBody>
                    <a:bodyPr/>
                    <a:lstStyle/>
                    <a:p>
                      <a:pPr algn="ctr">
                        <a:defRPr sz="1100">
                          <a:solidFill>
                            <a:srgbClr val="333333"/>
                          </a:solidFill>
                          <a:latin typeface="Calibri"/>
                        </a:defRPr>
                      </a:pPr>
                      <a:r>
                        <a:t>527.2</a:t>
                      </a:r>
                    </a:p>
                  </a:txBody>
                  <a:tcPr/>
                </a:tc>
                <a:tc>
                  <a:txBody>
                    <a:bodyPr/>
                    <a:lstStyle/>
                    <a:p>
                      <a:pPr algn="ctr">
                        <a:defRPr sz="1100">
                          <a:solidFill>
                            <a:srgbClr val="333333"/>
                          </a:solidFill>
                          <a:latin typeface="Calibri"/>
                        </a:defRPr>
                      </a:pPr>
                      <a:r>
                        <a:t>+93.0</a:t>
                      </a:r>
                    </a:p>
                  </a:txBody>
                  <a:tcPr/>
                </a:tc>
                <a:tc>
                  <a:txBody>
                    <a:bodyPr/>
                    <a:lstStyle/>
                    <a:p>
                      <a:pPr algn="ctr">
                        <a:defRPr sz="1100">
                          <a:solidFill>
                            <a:srgbClr val="333333"/>
                          </a:solidFill>
                          <a:latin typeface="Calibri"/>
                        </a:defRPr>
                      </a:pPr>
                      <a:r>
                        <a:t>313.2</a:t>
                      </a:r>
                    </a:p>
                  </a:txBody>
                  <a:tcPr/>
                </a:tc>
                <a:tc>
                  <a:txBody>
                    <a:bodyPr/>
                    <a:lstStyle/>
                    <a:p>
                      <a:pPr algn="ctr">
                        <a:defRPr sz="1100">
                          <a:solidFill>
                            <a:srgbClr val="333333"/>
                          </a:solidFill>
                          <a:latin typeface="Calibri"/>
                        </a:defRPr>
                      </a:pPr>
                      <a:r>
                        <a:t>322.6</a:t>
                      </a:r>
                    </a:p>
                  </a:txBody>
                  <a:tcPr/>
                </a:tc>
                <a:tc>
                  <a:txBody>
                    <a:bodyPr/>
                    <a:lstStyle/>
                    <a:p>
                      <a:pPr algn="ctr">
                        <a:defRPr sz="1100">
                          <a:solidFill>
                            <a:srgbClr val="333333"/>
                          </a:solidFill>
                          <a:latin typeface="Calibri"/>
                        </a:defRPr>
                      </a:pPr>
                      <a:r>
                        <a:t>-9.4</a:t>
                      </a:r>
                    </a:p>
                  </a:txBody>
                  <a:tcPr/>
                </a:tc>
              </a:tr>
              <a:tr h="256032">
                <a:tc>
                  <a:txBody>
                    <a:bodyPr/>
                    <a:lstStyle/>
                    <a:p>
                      <a:pPr algn="ctr">
                        <a:defRPr sz="1100">
                          <a:solidFill>
                            <a:srgbClr val="333333"/>
                          </a:solidFill>
                          <a:latin typeface="Calibri"/>
                        </a:defRPr>
                      </a:pPr>
                      <a:r>
                        <a:t>4000</a:t>
                      </a:r>
                    </a:p>
                  </a:txBody>
                  <a:tcPr/>
                </a:tc>
                <a:tc>
                  <a:txBody>
                    <a:bodyPr/>
                    <a:lstStyle/>
                    <a:p>
                      <a:pPr algn="ctr">
                        <a:defRPr sz="1100">
                          <a:solidFill>
                            <a:srgbClr val="333333"/>
                          </a:solidFill>
                          <a:latin typeface="Calibri"/>
                        </a:defRPr>
                      </a:pPr>
                      <a:r>
                        <a:t>1857.9</a:t>
                      </a:r>
                    </a:p>
                  </a:txBody>
                  <a:tcPr/>
                </a:tc>
                <a:tc>
                  <a:txBody>
                    <a:bodyPr/>
                    <a:lstStyle/>
                    <a:p>
                      <a:pPr algn="ctr">
                        <a:defRPr sz="1100">
                          <a:solidFill>
                            <a:srgbClr val="333333"/>
                          </a:solidFill>
                          <a:latin typeface="Calibri"/>
                        </a:defRPr>
                      </a:pPr>
                      <a:r>
                        <a:t>1506.0</a:t>
                      </a:r>
                    </a:p>
                  </a:txBody>
                  <a:tcPr/>
                </a:tc>
                <a:tc>
                  <a:txBody>
                    <a:bodyPr/>
                    <a:lstStyle/>
                    <a:p>
                      <a:pPr algn="ctr">
                        <a:defRPr sz="1100">
                          <a:solidFill>
                            <a:srgbClr val="333333"/>
                          </a:solidFill>
                          <a:latin typeface="Calibri"/>
                        </a:defRPr>
                      </a:pPr>
                      <a:r>
                        <a:t>+352.0</a:t>
                      </a:r>
                    </a:p>
                  </a:txBody>
                  <a:tcPr/>
                </a:tc>
                <a:tc>
                  <a:txBody>
                    <a:bodyPr/>
                    <a:lstStyle/>
                    <a:p>
                      <a:pPr algn="ctr">
                        <a:defRPr sz="1100">
                          <a:solidFill>
                            <a:srgbClr val="333333"/>
                          </a:solidFill>
                          <a:latin typeface="Calibri"/>
                        </a:defRPr>
                      </a:pPr>
                      <a:r>
                        <a:t>630.1</a:t>
                      </a:r>
                    </a:p>
                  </a:txBody>
                  <a:tcPr/>
                </a:tc>
                <a:tc>
                  <a:txBody>
                    <a:bodyPr/>
                    <a:lstStyle/>
                    <a:p>
                      <a:pPr algn="ctr">
                        <a:defRPr sz="1100">
                          <a:solidFill>
                            <a:srgbClr val="333333"/>
                          </a:solidFill>
                          <a:latin typeface="Calibri"/>
                        </a:defRPr>
                      </a:pPr>
                      <a:r>
                        <a:t>687.4</a:t>
                      </a:r>
                    </a:p>
                  </a:txBody>
                  <a:tcPr/>
                </a:tc>
                <a:tc>
                  <a:txBody>
                    <a:bodyPr/>
                    <a:lstStyle/>
                    <a:p>
                      <a:pPr algn="ctr">
                        <a:defRPr sz="1100">
                          <a:solidFill>
                            <a:srgbClr val="333333"/>
                          </a:solidFill>
                          <a:latin typeface="Calibri"/>
                        </a:defRPr>
                      </a:pPr>
                      <a:r>
                        <a:t>-57.4</a:t>
                      </a:r>
                    </a:p>
                  </a:txBody>
                  <a:tcPr/>
                </a:tc>
              </a:tr>
            </a:tbl>
          </a:graphicData>
        </a:graphic>
      </p:graphicFrame>
      <p:sp>
        <p:nvSpPr>
          <p:cNvPr id="6" name="Rectangle 5"/>
          <p:cNvSpPr/>
          <p:nvPr/>
        </p:nvSpPr>
        <p:spPr>
          <a:xfrm>
            <a:off x="457200" y="4617720"/>
            <a:ext cx="11247120" cy="1965960"/>
          </a:xfrm>
          <a:prstGeom prst="rect">
            <a:avLst/>
          </a:prstGeom>
          <a:solidFill>
            <a:srgbClr val="FFF8DC"/>
          </a:solidFill>
          <a:ln w="25400">
            <a:solidFill>
              <a:srgbClr val="CC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681728"/>
            <a:ext cx="10698480" cy="365760"/>
          </a:xfrm>
          <a:prstGeom prst="rect">
            <a:avLst/>
          </a:prstGeom>
          <a:noFill/>
        </p:spPr>
        <p:txBody>
          <a:bodyPr wrap="square">
            <a:spAutoFit/>
          </a:bodyPr>
          <a:lstStyle/>
          <a:p>
            <a:pPr algn="l">
              <a:defRPr sz="1900" b="1">
                <a:solidFill>
                  <a:srgbClr val="CC9900"/>
                </a:solidFill>
                <a:latin typeface="Calibri"/>
              </a:defRPr>
            </a:pPr>
            <a:r>
              <a:t>Three checks and the consequence</a:t>
            </a:r>
          </a:p>
        </p:txBody>
      </p:sp>
      <p:sp>
        <p:nvSpPr>
          <p:cNvPr id="8" name="TextBox 7"/>
          <p:cNvSpPr txBox="1"/>
          <p:nvPr/>
        </p:nvSpPr>
        <p:spPr>
          <a:xfrm>
            <a:off x="731520" y="5102352"/>
            <a:ext cx="10698480" cy="1417320"/>
          </a:xfrm>
          <a:prstGeom prst="rect">
            <a:avLst/>
          </a:prstGeom>
          <a:noFill/>
        </p:spPr>
        <p:txBody>
          <a:bodyPr wrap="square">
            <a:spAutoFit/>
          </a:bodyPr>
          <a:lstStyle/>
          <a:p>
            <a:pPr>
              <a:spcAft>
                <a:spcPts val="300"/>
              </a:spcAft>
              <a:defRPr sz="1200">
                <a:solidFill>
                  <a:srgbClr val="333333"/>
                </a:solidFill>
                <a:latin typeface="Calibri"/>
              </a:defRPr>
            </a:pPr>
            <a:r>
              <a:t>• The objective scale is not the lever: the controller leads at every scale from 5 to 4000 and the gap grows from 7.1 to 352.0 points, so the sign never flips</a:t>
            </a:r>
          </a:p>
          <a:p>
            <a:pPr>
              <a:spcAft>
                <a:spcPts val="300"/>
              </a:spcAft>
              <a:defRPr sz="1200">
                <a:solidFill>
                  <a:srgbClr val="333333"/>
                </a:solidFill>
                <a:latin typeface="Calibri"/>
              </a:defRPr>
            </a:pPr>
            <a:r>
              <a:t>• The part level alternative was implemented and rejected: it removes the pass count from the accounting (5.0 points at the scale of 100 against 15.3, and the policy ahead by 9.4 at 1000 and 57.4 at 4000), but the material a part gives up is fixed by its stock, so the throughput weight would be inert</a:t>
            </a:r>
          </a:p>
          <a:p>
            <a:pPr>
              <a:spcAft>
                <a:spcPts val="300"/>
              </a:spcAft>
              <a:defRPr sz="1200">
                <a:solidFill>
                  <a:srgbClr val="333333"/>
                </a:solidFill>
                <a:latin typeface="Calibri"/>
              </a:defRPr>
            </a:pPr>
            <a:r>
              <a:t>• A correct form is not obvious: a rate cannot be accumulated over a part without becoming a volume, so a reward has to price the cycle time directly or compare the part's average rate to a reference at the end of the part</a:t>
            </a:r>
          </a:p>
          <a:p>
            <a:pPr>
              <a:spcAft>
                <a:spcPts val="300"/>
              </a:spcAft>
              <a:defRPr sz="1200">
                <a:solidFill>
                  <a:srgbClr val="333333"/>
                </a:solidFill>
                <a:latin typeface="Calibri"/>
              </a:defRPr>
            </a:pPr>
            <a:r>
              <a:t>• Consequence: the ideal case reads as a tie, not a win. The policy is ahead on the physical metrics and behind on the breakage, and the reward as shipped carries the artifact, documented rather than hidden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Batch Against the Part: One Tool, Ten Parts</a:t>
            </a:r>
          </a:p>
        </p:txBody>
      </p:sp>
      <p:graphicFrame>
        <p:nvGraphicFramePr>
          <p:cNvPr id="4" name="Table 3"/>
          <p:cNvGraphicFramePr>
            <a:graphicFrameLocks noGrp="1"/>
          </p:cNvGraphicFramePr>
          <p:nvPr/>
        </p:nvGraphicFramePr>
        <p:xfrm>
          <a:off x="457200" y="1280160"/>
          <a:ext cx="11247120" cy="1554480"/>
        </p:xfrm>
        <a:graphic>
          <a:graphicData uri="http://schemas.openxmlformats.org/drawingml/2006/table">
            <a:tbl>
              <a:tblPr firstRow="1" bandRow="1">
                <a:tableStyleId>{5C22544A-7EE6-4342-B048-85BDC9FD1C3A}</a:tableStyleId>
              </a:tblPr>
              <a:tblGrid>
                <a:gridCol w="2651760"/>
                <a:gridCol w="1463040"/>
                <a:gridCol w="1005840"/>
                <a:gridCol w="1463040"/>
                <a:gridCol w="1463040"/>
                <a:gridCol w="1463040"/>
                <a:gridCol w="1737360"/>
              </a:tblGrid>
              <a:tr h="388620">
                <a:tc>
                  <a:txBody>
                    <a:bodyPr/>
                    <a:lstStyle/>
                    <a:p>
                      <a:pPr algn="ctr">
                        <a:defRPr sz="1300" b="1">
                          <a:solidFill>
                            <a:srgbClr val="FFFFFF"/>
                          </a:solidFill>
                          <a:latin typeface="Calibri"/>
                        </a:defRPr>
                      </a:pPr>
                      <a:r>
                        <a:t>Arm</a:t>
                      </a:r>
                    </a:p>
                  </a:txBody>
                  <a:tcPr>
                    <a:solidFill>
                      <a:srgbClr val="003366"/>
                    </a:solidFill>
                  </a:tcPr>
                </a:tc>
                <a:tc>
                  <a:txBody>
                    <a:bodyPr/>
                    <a:lstStyle/>
                    <a:p>
                      <a:pPr algn="ctr">
                        <a:defRPr sz="1300" b="1">
                          <a:solidFill>
                            <a:srgbClr val="FFFFFF"/>
                          </a:solidFill>
                          <a:latin typeface="Calibri"/>
                        </a:defRPr>
                      </a:pPr>
                      <a:r>
                        <a:t>Batch reward</a:t>
                      </a:r>
                    </a:p>
                  </a:txBody>
                  <a:tcPr>
                    <a:solidFill>
                      <a:srgbClr val="003366"/>
                    </a:solidFill>
                  </a:tcPr>
                </a:tc>
                <a:tc>
                  <a:txBody>
                    <a:bodyPr/>
                    <a:lstStyle/>
                    <a:p>
                      <a:pPr algn="ctr">
                        <a:defRPr sz="1300" b="1">
                          <a:solidFill>
                            <a:srgbClr val="FFFFFF"/>
                          </a:solidFill>
                          <a:latin typeface="Calibri"/>
                        </a:defRPr>
                      </a:pPr>
                      <a:r>
                        <a:t>Std</a:t>
                      </a:r>
                    </a:p>
                  </a:txBody>
                  <a:tcPr>
                    <a:solidFill>
                      <a:srgbClr val="003366"/>
                    </a:solidFill>
                  </a:tcPr>
                </a:tc>
                <a:tc>
                  <a:txBody>
                    <a:bodyPr/>
                    <a:lstStyle/>
                    <a:p>
                      <a:pPr algn="ctr">
                        <a:defRPr sz="1300" b="1">
                          <a:solidFill>
                            <a:srgbClr val="FFFFFF"/>
                          </a:solidFill>
                          <a:latin typeface="Calibri"/>
                        </a:defRPr>
                      </a:pPr>
                      <a:r>
                        <a:t>Reward/part</a:t>
                      </a:r>
                    </a:p>
                  </a:txBody>
                  <a:tcPr>
                    <a:solidFill>
                      <a:srgbClr val="003366"/>
                    </a:solidFill>
                  </a:tcPr>
                </a:tc>
                <a:tc>
                  <a:txBody>
                    <a:bodyPr/>
                    <a:lstStyle/>
                    <a:p>
                      <a:pPr algn="ctr">
                        <a:defRPr sz="1300" b="1">
                          <a:solidFill>
                            <a:srgbClr val="FFFFFF"/>
                          </a:solidFill>
                          <a:latin typeface="Calibri"/>
                        </a:defRPr>
                      </a:pPr>
                      <a:r>
                        <a:t>Tool changes</a:t>
                      </a:r>
                    </a:p>
                  </a:txBody>
                  <a:tcPr>
                    <a:solidFill>
                      <a:srgbClr val="003366"/>
                    </a:solidFill>
                  </a:tcPr>
                </a:tc>
                <a:tc>
                  <a:txBody>
                    <a:bodyPr/>
                    <a:lstStyle/>
                    <a:p>
                      <a:pPr algn="ctr">
                        <a:defRPr sz="1300" b="1">
                          <a:solidFill>
                            <a:srgbClr val="FFFFFF"/>
                          </a:solidFill>
                          <a:latin typeface="Calibri"/>
                        </a:defRPr>
                      </a:pPr>
                      <a:r>
                        <a:t>Batch time (s)</a:t>
                      </a:r>
                    </a:p>
                  </a:txBody>
                  <a:tcPr>
                    <a:solidFill>
                      <a:srgbClr val="003366"/>
                    </a:solidFill>
                  </a:tcPr>
                </a:tc>
                <a:tc>
                  <a:txBody>
                    <a:bodyPr/>
                    <a:lstStyle/>
                    <a:p>
                      <a:pPr algn="ctr">
                        <a:defRPr sz="1300" b="1">
                          <a:solidFill>
                            <a:srgbClr val="FFFFFF"/>
                          </a:solidFill>
                          <a:latin typeface="Calibri"/>
                        </a:defRPr>
                      </a:pPr>
                      <a:r>
                        <a:t>Batch energy (kJ)</a:t>
                      </a:r>
                    </a:p>
                  </a:txBody>
                  <a:tcPr>
                    <a:solidFill>
                      <a:srgbClr val="003366"/>
                    </a:solidFill>
                  </a:tcPr>
                </a:tc>
              </a:tr>
              <a:tr h="388620">
                <a:tc>
                  <a:txBody>
                    <a:bodyPr/>
                    <a:lstStyle/>
                    <a:p>
                      <a:pPr algn="ctr">
                        <a:defRPr sz="1300">
                          <a:solidFill>
                            <a:srgbClr val="333333"/>
                          </a:solidFill>
                          <a:latin typeface="Calibri"/>
                        </a:defRPr>
                      </a:pPr>
                      <a:r>
                        <a:t>PPO, batch aware</a:t>
                      </a:r>
                    </a:p>
                  </a:txBody>
                  <a:tcPr/>
                </a:tc>
                <a:tc>
                  <a:txBody>
                    <a:bodyPr/>
                    <a:lstStyle/>
                    <a:p>
                      <a:pPr algn="ctr">
                        <a:defRPr sz="1300">
                          <a:solidFill>
                            <a:srgbClr val="333333"/>
                          </a:solidFill>
                          <a:latin typeface="Calibri"/>
                        </a:defRPr>
                      </a:pPr>
                      <a:r>
                        <a:t>1817.0</a:t>
                      </a:r>
                    </a:p>
                  </a:txBody>
                  <a:tcPr/>
                </a:tc>
                <a:tc>
                  <a:txBody>
                    <a:bodyPr/>
                    <a:lstStyle/>
                    <a:p>
                      <a:pPr algn="ctr">
                        <a:defRPr sz="1300">
                          <a:solidFill>
                            <a:srgbClr val="333333"/>
                          </a:solidFill>
                          <a:latin typeface="Calibri"/>
                        </a:defRPr>
                      </a:pPr>
                      <a:r>
                        <a:t>477.8</a:t>
                      </a:r>
                    </a:p>
                  </a:txBody>
                  <a:tcPr/>
                </a:tc>
                <a:tc>
                  <a:txBody>
                    <a:bodyPr/>
                    <a:lstStyle/>
                    <a:p>
                      <a:pPr algn="ctr">
                        <a:defRPr sz="1300">
                          <a:solidFill>
                            <a:srgbClr val="333333"/>
                          </a:solidFill>
                          <a:latin typeface="Calibri"/>
                        </a:defRPr>
                      </a:pPr>
                      <a:r>
                        <a:t>166.8</a:t>
                      </a:r>
                    </a:p>
                  </a:txBody>
                  <a:tcPr/>
                </a:tc>
                <a:tc>
                  <a:txBody>
                    <a:bodyPr/>
                    <a:lstStyle/>
                    <a:p>
                      <a:pPr algn="ctr">
                        <a:defRPr sz="1300">
                          <a:solidFill>
                            <a:srgbClr val="333333"/>
                          </a:solidFill>
                          <a:latin typeface="Calibri"/>
                        </a:defRPr>
                      </a:pPr>
                      <a:r>
                        <a:t>0.63</a:t>
                      </a:r>
                    </a:p>
                  </a:txBody>
                  <a:tcPr/>
                </a:tc>
                <a:tc>
                  <a:txBody>
                    <a:bodyPr/>
                    <a:lstStyle/>
                    <a:p>
                      <a:pPr algn="ctr">
                        <a:defRPr sz="1300">
                          <a:solidFill>
                            <a:srgbClr val="333333"/>
                          </a:solidFill>
                          <a:latin typeface="Calibri"/>
                        </a:defRPr>
                      </a:pPr>
                      <a:r>
                        <a:t>113.1</a:t>
                      </a:r>
                    </a:p>
                  </a:txBody>
                  <a:tcPr/>
                </a:tc>
                <a:tc>
                  <a:txBody>
                    <a:bodyPr/>
                    <a:lstStyle/>
                    <a:p>
                      <a:pPr algn="ctr">
                        <a:defRPr sz="1300">
                          <a:solidFill>
                            <a:srgbClr val="333333"/>
                          </a:solidFill>
                          <a:latin typeface="Calibri"/>
                        </a:defRPr>
                      </a:pPr>
                      <a:r>
                        <a:t>610.4</a:t>
                      </a:r>
                    </a:p>
                  </a:txBody>
                  <a:tcPr/>
                </a:tc>
              </a:tr>
              <a:tr h="388620">
                <a:tc>
                  <a:txBody>
                    <a:bodyPr/>
                    <a:lstStyle/>
                    <a:p>
                      <a:pPr algn="ctr">
                        <a:defRPr sz="1300">
                          <a:solidFill>
                            <a:srgbClr val="333333"/>
                          </a:solidFill>
                          <a:latin typeface="Calibri"/>
                        </a:defRPr>
                      </a:pPr>
                      <a:r>
                        <a:t>PPO, per part</a:t>
                      </a:r>
                    </a:p>
                  </a:txBody>
                  <a:tcPr/>
                </a:tc>
                <a:tc>
                  <a:txBody>
                    <a:bodyPr/>
                    <a:lstStyle/>
                    <a:p>
                      <a:pPr algn="ctr">
                        <a:defRPr sz="1300">
                          <a:solidFill>
                            <a:srgbClr val="333333"/>
                          </a:solidFill>
                          <a:latin typeface="Calibri"/>
                        </a:defRPr>
                      </a:pPr>
                      <a:r>
                        <a:t>1709.9</a:t>
                      </a:r>
                    </a:p>
                  </a:txBody>
                  <a:tcPr/>
                </a:tc>
                <a:tc>
                  <a:txBody>
                    <a:bodyPr/>
                    <a:lstStyle/>
                    <a:p>
                      <a:pPr algn="ctr">
                        <a:defRPr sz="1300">
                          <a:solidFill>
                            <a:srgbClr val="333333"/>
                          </a:solidFill>
                          <a:latin typeface="Calibri"/>
                        </a:defRPr>
                      </a:pPr>
                      <a:r>
                        <a:t>366.1</a:t>
                      </a:r>
                    </a:p>
                  </a:txBody>
                  <a:tcPr/>
                </a:tc>
                <a:tc>
                  <a:txBody>
                    <a:bodyPr/>
                    <a:lstStyle/>
                    <a:p>
                      <a:pPr algn="ctr">
                        <a:defRPr sz="1300">
                          <a:solidFill>
                            <a:srgbClr val="333333"/>
                          </a:solidFill>
                          <a:latin typeface="Calibri"/>
                        </a:defRPr>
                      </a:pPr>
                      <a:r>
                        <a:t>169.4</a:t>
                      </a:r>
                    </a:p>
                  </a:txBody>
                  <a:tcPr/>
                </a:tc>
                <a:tc>
                  <a:txBody>
                    <a:bodyPr/>
                    <a:lstStyle/>
                    <a:p>
                      <a:pPr algn="ctr">
                        <a:defRPr sz="1300">
                          <a:solidFill>
                            <a:srgbClr val="333333"/>
                          </a:solidFill>
                          <a:latin typeface="Calibri"/>
                        </a:defRPr>
                      </a:pPr>
                      <a:r>
                        <a:t>0.83</a:t>
                      </a:r>
                    </a:p>
                  </a:txBody>
                  <a:tcPr/>
                </a:tc>
                <a:tc>
                  <a:txBody>
                    <a:bodyPr/>
                    <a:lstStyle/>
                    <a:p>
                      <a:pPr algn="ctr">
                        <a:defRPr sz="1300">
                          <a:solidFill>
                            <a:srgbClr val="333333"/>
                          </a:solidFill>
                          <a:latin typeface="Calibri"/>
                        </a:defRPr>
                      </a:pPr>
                      <a:r>
                        <a:t>114.7</a:t>
                      </a:r>
                    </a:p>
                  </a:txBody>
                  <a:tcPr/>
                </a:tc>
                <a:tc>
                  <a:txBody>
                    <a:bodyPr/>
                    <a:lstStyle/>
                    <a:p>
                      <a:pPr algn="ctr">
                        <a:defRPr sz="1300">
                          <a:solidFill>
                            <a:srgbClr val="333333"/>
                          </a:solidFill>
                          <a:latin typeface="Calibri"/>
                        </a:defRPr>
                      </a:pPr>
                      <a:r>
                        <a:t>674.3</a:t>
                      </a:r>
                    </a:p>
                  </a:txBody>
                  <a:tcPr/>
                </a:tc>
              </a:tr>
              <a:tr h="388620">
                <a:tc>
                  <a:txBody>
                    <a:bodyPr/>
                    <a:lstStyle/>
                    <a:p>
                      <a:pPr algn="ctr">
                        <a:defRPr sz="1300">
                          <a:solidFill>
                            <a:srgbClr val="333333"/>
                          </a:solidFill>
                          <a:latin typeface="Calibri"/>
                        </a:defRPr>
                      </a:pPr>
                      <a:r>
                        <a:t>Receding-horizon, per part</a:t>
                      </a:r>
                    </a:p>
                  </a:txBody>
                  <a:tcPr/>
                </a:tc>
                <a:tc>
                  <a:txBody>
                    <a:bodyPr/>
                    <a:lstStyle/>
                    <a:p>
                      <a:pPr algn="ctr">
                        <a:defRPr sz="1300">
                          <a:solidFill>
                            <a:srgbClr val="333333"/>
                          </a:solidFill>
                          <a:latin typeface="Calibri"/>
                        </a:defRPr>
                      </a:pPr>
                      <a:r>
                        <a:t>1859.9</a:t>
                      </a:r>
                    </a:p>
                  </a:txBody>
                  <a:tcPr/>
                </a:tc>
                <a:tc>
                  <a:txBody>
                    <a:bodyPr/>
                    <a:lstStyle/>
                    <a:p>
                      <a:pPr algn="ctr">
                        <a:defRPr sz="1300">
                          <a:solidFill>
                            <a:srgbClr val="333333"/>
                          </a:solidFill>
                          <a:latin typeface="Calibri"/>
                        </a:defRPr>
                      </a:pPr>
                      <a:r>
                        <a:t>328.8</a:t>
                      </a:r>
                    </a:p>
                  </a:txBody>
                  <a:tcPr/>
                </a:tc>
                <a:tc>
                  <a:txBody>
                    <a:bodyPr/>
                    <a:lstStyle/>
                    <a:p>
                      <a:pPr algn="ctr">
                        <a:defRPr sz="1300">
                          <a:solidFill>
                            <a:srgbClr val="333333"/>
                          </a:solidFill>
                          <a:latin typeface="Calibri"/>
                        </a:defRPr>
                      </a:pPr>
                      <a:r>
                        <a:t>173.7</a:t>
                      </a:r>
                    </a:p>
                  </a:txBody>
                  <a:tcPr/>
                </a:tc>
                <a:tc>
                  <a:txBody>
                    <a:bodyPr/>
                    <a:lstStyle/>
                    <a:p>
                      <a:pPr algn="ctr">
                        <a:defRPr sz="1300">
                          <a:solidFill>
                            <a:srgbClr val="333333"/>
                          </a:solidFill>
                          <a:latin typeface="Calibri"/>
                        </a:defRPr>
                      </a:pPr>
                      <a:r>
                        <a:t>0.83</a:t>
                      </a:r>
                    </a:p>
                  </a:txBody>
                  <a:tcPr/>
                </a:tc>
                <a:tc>
                  <a:txBody>
                    <a:bodyPr/>
                    <a:lstStyle/>
                    <a:p>
                      <a:pPr algn="ctr">
                        <a:defRPr sz="1300">
                          <a:solidFill>
                            <a:srgbClr val="333333"/>
                          </a:solidFill>
                          <a:latin typeface="Calibri"/>
                        </a:defRPr>
                      </a:pPr>
                      <a:r>
                        <a:t>207.5</a:t>
                      </a:r>
                    </a:p>
                  </a:txBody>
                  <a:tcPr/>
                </a:tc>
                <a:tc>
                  <a:txBody>
                    <a:bodyPr/>
                    <a:lstStyle/>
                    <a:p>
                      <a:pPr algn="ctr">
                        <a:defRPr sz="1300">
                          <a:solidFill>
                            <a:srgbClr val="333333"/>
                          </a:solidFill>
                          <a:latin typeface="Calibri"/>
                        </a:defRPr>
                      </a:pPr>
                      <a:r>
                        <a:t>692.0</a:t>
                      </a:r>
                    </a:p>
                  </a:txBody>
                  <a:tcPr/>
                </a:tc>
              </a:tr>
            </a:tbl>
          </a:graphicData>
        </a:graphic>
      </p:graphicFrame>
      <p:sp>
        <p:nvSpPr>
          <p:cNvPr id="5" name="Rectangle 4"/>
          <p:cNvSpPr/>
          <p:nvPr/>
        </p:nvSpPr>
        <p:spPr>
          <a:xfrm>
            <a:off x="457200" y="3108960"/>
            <a:ext cx="11247120" cy="3200400"/>
          </a:xfrm>
          <a:prstGeom prst="rect">
            <a:avLst/>
          </a:prstGeom>
          <a:solidFill>
            <a:srgbClr val="F0F0F0"/>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46120"/>
            <a:ext cx="10698480" cy="365760"/>
          </a:xfrm>
          <a:prstGeom prst="rect">
            <a:avLst/>
          </a:prstGeom>
          <a:noFill/>
        </p:spPr>
        <p:txBody>
          <a:bodyPr wrap="square">
            <a:spAutoFit/>
          </a:bodyPr>
          <a:lstStyle/>
          <a:p>
            <a:pPr algn="l">
              <a:defRPr sz="2000" b="1">
                <a:solidFill>
                  <a:srgbClr val="003366"/>
                </a:solidFill>
                <a:latin typeface="Calibri"/>
              </a:defRPr>
            </a:pPr>
            <a:r>
              <a:t>How to read this</a:t>
            </a:r>
          </a:p>
        </p:txBody>
      </p:sp>
      <p:sp>
        <p:nvSpPr>
          <p:cNvPr id="7" name="TextBox 6"/>
          <p:cNvSpPr txBox="1"/>
          <p:nvPr/>
        </p:nvSpPr>
        <p:spPr>
          <a:xfrm>
            <a:off x="731520" y="3749039"/>
            <a:ext cx="10698480" cy="2377440"/>
          </a:xfrm>
          <a:prstGeom prst="rect">
            <a:avLst/>
          </a:prstGeom>
          <a:noFill/>
        </p:spPr>
        <p:txBody>
          <a:bodyPr wrap="square">
            <a:spAutoFit/>
          </a:bodyPr>
          <a:lstStyle/>
          <a:p>
            <a:pPr>
              <a:spcAft>
                <a:spcPts val="600"/>
              </a:spcAft>
              <a:defRPr sz="1500">
                <a:solidFill>
                  <a:srgbClr val="333333"/>
                </a:solidFill>
                <a:latin typeface="Calibri"/>
              </a:defRPr>
            </a:pPr>
            <a:r>
              <a:t>• A batch is ten parts cut with one tool. The tool is replaced when it breaks or reaches its wear limit, and the replacement costs 500 reward units against the 200 a finished part is worth</a:t>
            </a:r>
          </a:p>
          <a:p>
            <a:pPr>
              <a:spcAft>
                <a:spcPts val="600"/>
              </a:spcAft>
              <a:defRPr sz="1500">
                <a:solidFill>
                  <a:srgbClr val="333333"/>
                </a:solidFill>
                <a:latin typeface="Calibri"/>
              </a:defRPr>
            </a:pPr>
            <a:r>
              <a:t>• The observation is the eleven features of the part plus the tool life left and the fraction of the batch still to cut (MillingDTBatchEnv-v1, 13-D)</a:t>
            </a:r>
          </a:p>
          <a:p>
            <a:pPr>
              <a:spcAft>
                <a:spcPts val="600"/>
              </a:spcAft>
              <a:defRPr sz="1500">
                <a:solidFill>
                  <a:srgbClr val="333333"/>
                </a:solidFill>
                <a:latin typeface="Calibri"/>
              </a:defRPr>
            </a:pPr>
            <a:r>
              <a:t>• The batch context is worth 24% fewer tool changes and 9.5% less energy at the same completion: 0.63 tool changes against 0.83, and 610.4 kJ against 674.3 kJ. It also collects more batch reward, 1817.0 against 1709.9</a:t>
            </a:r>
          </a:p>
          <a:p>
            <a:pPr>
              <a:spcAft>
                <a:spcPts val="600"/>
              </a:spcAft>
              <a:defRPr sz="1500">
                <a:solidFill>
                  <a:srgbClr val="333333"/>
                </a:solidFill>
                <a:latin typeface="Calibri"/>
              </a:defRPr>
            </a:pPr>
            <a:r>
              <a:t>• The per-part controller gets the highest batch reward, 1859.9, and buys it with the machine time: 207.5 s for the batch against the batch-aware policy's 113.1 s, about 1.8 times the machine time for a reward that is 2.4% higher</a:t>
            </a:r>
          </a:p>
          <a:p>
            <a:pPr>
              <a:spcAft>
                <a:spcPts val="600"/>
              </a:spcAft>
              <a:defRPr sz="1500">
                <a:solidFill>
                  <a:srgbClr val="333333"/>
                </a:solidFill>
                <a:latin typeface="Calibri"/>
              </a:defRPr>
            </a:pPr>
            <a:r>
              <a:t>• It solves one part at a time, so it cannot price a tool change against the parts that follow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Controller Initialization: Method and Result</a:t>
            </a:r>
          </a:p>
        </p:txBody>
      </p:sp>
      <p:sp>
        <p:nvSpPr>
          <p:cNvPr id="4" name="TextBox 3"/>
          <p:cNvSpPr txBox="1"/>
          <p:nvPr/>
        </p:nvSpPr>
        <p:spPr>
          <a:xfrm>
            <a:off x="457200" y="1143000"/>
            <a:ext cx="11247120" cy="457200"/>
          </a:xfrm>
          <a:prstGeom prst="rect">
            <a:avLst/>
          </a:prstGeom>
          <a:noFill/>
        </p:spPr>
        <p:txBody>
          <a:bodyPr wrap="square">
            <a:spAutoFit/>
          </a:bodyPr>
          <a:lstStyle/>
          <a:p>
            <a:pPr algn="l">
              <a:defRPr sz="1600" b="1">
                <a:solidFill>
                  <a:srgbClr val="C80000"/>
                </a:solidFill>
                <a:latin typeface="Calibri"/>
              </a:defRPr>
            </a:pPr>
            <a:r>
              <a:t>Question: does a policy that starts from the controller end up better than the expert it started from?</a:t>
            </a:r>
          </a:p>
        </p:txBody>
      </p:sp>
      <p:sp>
        <p:nvSpPr>
          <p:cNvPr id="5" name="Rectangle 4"/>
          <p:cNvSpPr/>
          <p:nvPr/>
        </p:nvSpPr>
        <p:spPr>
          <a:xfrm>
            <a:off x="457200" y="1737360"/>
            <a:ext cx="5029200" cy="4480560"/>
          </a:xfrm>
          <a:prstGeom prst="rect">
            <a:avLst/>
          </a:prstGeom>
          <a:solidFill>
            <a:srgbClr val="F0F0F0"/>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74519"/>
            <a:ext cx="4572000" cy="457200"/>
          </a:xfrm>
          <a:prstGeom prst="rect">
            <a:avLst/>
          </a:prstGeom>
          <a:noFill/>
        </p:spPr>
        <p:txBody>
          <a:bodyPr wrap="square">
            <a:spAutoFit/>
          </a:bodyPr>
          <a:lstStyle/>
          <a:p>
            <a:pPr algn="l">
              <a:defRPr sz="2200" b="1">
                <a:solidFill>
                  <a:srgbClr val="003366"/>
                </a:solidFill>
                <a:latin typeface="Calibri"/>
              </a:defRPr>
            </a:pPr>
            <a:r>
              <a:t>Method</a:t>
            </a:r>
          </a:p>
        </p:txBody>
      </p:sp>
      <p:sp>
        <p:nvSpPr>
          <p:cNvPr id="7" name="TextBox 6"/>
          <p:cNvSpPr txBox="1"/>
          <p:nvPr/>
        </p:nvSpPr>
        <p:spPr>
          <a:xfrm>
            <a:off x="731520" y="2423160"/>
            <a:ext cx="4572000" cy="3657600"/>
          </a:xfrm>
          <a:prstGeom prst="rect">
            <a:avLst/>
          </a:prstGeom>
          <a:noFill/>
        </p:spPr>
        <p:txBody>
          <a:bodyPr wrap="square">
            <a:spAutoFit/>
          </a:bodyPr>
          <a:lstStyle/>
          <a:p>
            <a:pPr>
              <a:spcAft>
                <a:spcPts val="300"/>
              </a:spcAft>
              <a:defRPr sz="1400">
                <a:solidFill>
                  <a:srgbClr val="333333"/>
                </a:solidFill>
                <a:latin typeface="Calibri"/>
              </a:defRPr>
            </a:pPr>
            <a:r>
              <a:t>1. Record the controller on 2000 episodes</a:t>
            </a:r>
          </a:p>
          <a:p>
            <a:pPr>
              <a:spcAft>
                <a:spcPts val="300"/>
              </a:spcAft>
              <a:defRPr sz="1400">
                <a:solidFill>
                  <a:srgbClr val="333333"/>
                </a:solidFill>
                <a:latin typeface="Calibri"/>
              </a:defRPr>
            </a:pPr>
          </a:p>
          <a:p>
            <a:pPr>
              <a:spcAft>
                <a:spcPts val="300"/>
              </a:spcAft>
              <a:defRPr sz="1400">
                <a:solidFill>
                  <a:srgbClr val="333333"/>
                </a:solidFill>
                <a:latin typeface="Calibri"/>
              </a:defRPr>
            </a:pPr>
            <a:r>
              <a:t>2. Fit a supervised actor (2x256, Tanh) by</a:t>
            </a:r>
          </a:p>
          <a:p>
            <a:pPr>
              <a:spcAft>
                <a:spcPts val="300"/>
              </a:spcAft>
              <a:defRPr sz="1400">
                <a:solidFill>
                  <a:srgbClr val="333333"/>
                </a:solidFill>
                <a:latin typeface="Calibri"/>
              </a:defRPr>
            </a:pPr>
            <a:r>
              <a:t>   regression on those trajectories</a:t>
            </a:r>
          </a:p>
          <a:p>
            <a:pPr>
              <a:spcAft>
                <a:spcPts val="300"/>
              </a:spcAft>
              <a:defRPr sz="1400">
                <a:solidFill>
                  <a:srgbClr val="333333"/>
                </a:solidFill>
                <a:latin typeface="Calibri"/>
              </a:defRPr>
            </a:pPr>
          </a:p>
          <a:p>
            <a:pPr>
              <a:spcAft>
                <a:spcPts val="300"/>
              </a:spcAft>
              <a:defRPr sz="1400">
                <a:solidFill>
                  <a:srgbClr val="333333"/>
                </a:solidFill>
                <a:latin typeface="Calibri"/>
              </a:defRPr>
            </a:pPr>
            <a:r>
              <a:t>3. Copy the fitted weights into a fresh PPO policy</a:t>
            </a:r>
          </a:p>
          <a:p>
            <a:pPr>
              <a:spcAft>
                <a:spcPts val="300"/>
              </a:spcAft>
              <a:defRPr sz="1400">
                <a:solidFill>
                  <a:srgbClr val="333333"/>
                </a:solidFill>
                <a:latin typeface="Calibri"/>
              </a:defRPr>
            </a:pPr>
          </a:p>
          <a:p>
            <a:pPr>
              <a:spcAft>
                <a:spcPts val="300"/>
              </a:spcAft>
              <a:defRPr sz="1400">
                <a:solidFill>
                  <a:srgbClr val="333333"/>
                </a:solidFill>
                <a:latin typeface="Calibri"/>
              </a:defRPr>
            </a:pPr>
            <a:r>
              <a:t>4. Train with the production budget (1M steps),</a:t>
            </a:r>
          </a:p>
          <a:p>
            <a:pPr>
              <a:spcAft>
                <a:spcPts val="300"/>
              </a:spcAft>
              <a:defRPr sz="1400">
                <a:solidFill>
                  <a:srgbClr val="333333"/>
                </a:solidFill>
                <a:latin typeface="Calibri"/>
              </a:defRPr>
            </a:pPr>
            <a:r>
              <a:t>   evaluate on 100 scenarios at w₂ = 0.4</a:t>
            </a:r>
          </a:p>
          <a:p>
            <a:pPr>
              <a:spcAft>
                <a:spcPts val="300"/>
              </a:spcAft>
              <a:defRPr sz="1400">
                <a:solidFill>
                  <a:srgbClr val="333333"/>
                </a:solidFill>
                <a:latin typeface="Calibri"/>
              </a:defRPr>
            </a:pPr>
          </a:p>
          <a:p>
            <a:pPr>
              <a:spcAft>
                <a:spcPts val="300"/>
              </a:spcAft>
              <a:defRPr sz="1400">
                <a:solidFill>
                  <a:srgbClr val="333333"/>
                </a:solidFill>
                <a:latin typeface="Calibri"/>
              </a:defRPr>
            </a:pPr>
            <a:r>
              <a:t>MillingDT/agent/controller_init.py</a:t>
            </a:r>
          </a:p>
          <a:p>
            <a:pPr>
              <a:spcAft>
                <a:spcPts val="300"/>
              </a:spcAft>
              <a:defRPr sz="1400">
                <a:solidFill>
                  <a:srgbClr val="333333"/>
                </a:solidFill>
                <a:latin typeface="Calibri"/>
              </a:defRPr>
            </a:pPr>
            <a:r>
              <a:t>experiments/controller_experiment.py</a:t>
            </a:r>
          </a:p>
        </p:txBody>
      </p:sp>
      <p:graphicFrame>
        <p:nvGraphicFramePr>
          <p:cNvPr id="8" name="Table 7"/>
          <p:cNvGraphicFramePr>
            <a:graphicFrameLocks noGrp="1"/>
          </p:cNvGraphicFramePr>
          <p:nvPr/>
        </p:nvGraphicFramePr>
        <p:xfrm>
          <a:off x="5760720" y="1737360"/>
          <a:ext cx="5943600" cy="3291840"/>
        </p:xfrm>
        <a:graphic>
          <a:graphicData uri="http://schemas.openxmlformats.org/drawingml/2006/table">
            <a:tbl>
              <a:tblPr firstRow="1" bandRow="1">
                <a:tableStyleId>{5C22544A-7EE6-4342-B048-85BDC9FD1C3A}</a:tableStyleId>
              </a:tblPr>
              <a:tblGrid>
                <a:gridCol w="1920240"/>
                <a:gridCol w="1371600"/>
                <a:gridCol w="1280160"/>
                <a:gridCol w="1371600"/>
              </a:tblGrid>
              <a:tr h="329184">
                <a:tc>
                  <a:txBody>
                    <a:bodyPr/>
                    <a:lstStyle/>
                    <a:p>
                      <a:pPr algn="ctr">
                        <a:defRPr sz="1100" b="1">
                          <a:solidFill>
                            <a:srgbClr val="FFFFFF"/>
                          </a:solidFill>
                          <a:latin typeface="Calibri"/>
                        </a:defRPr>
                      </a:pPr>
                      <a:r>
                        <a:t>Metric</a:t>
                      </a:r>
                    </a:p>
                  </a:txBody>
                  <a:tcPr>
                    <a:solidFill>
                      <a:srgbClr val="003366"/>
                    </a:solidFill>
                  </a:tcPr>
                </a:tc>
                <a:tc>
                  <a:txBody>
                    <a:bodyPr/>
                    <a:lstStyle/>
                    <a:p>
                      <a:pPr algn="ctr">
                        <a:defRPr sz="1100" b="1">
                          <a:solidFill>
                            <a:srgbClr val="FFFFFF"/>
                          </a:solidFill>
                          <a:latin typeface="Calibri"/>
                        </a:defRPr>
                      </a:pPr>
                      <a:r>
                        <a:t>Receding-horizon</a:t>
                      </a:r>
                    </a:p>
                    <a:p>
                      <a:pPr algn="ctr">
                        <a:defRPr sz="1100" b="1">
                          <a:solidFill>
                            <a:srgbClr val="FFFFFF"/>
                          </a:solidFill>
                          <a:latin typeface="Calibri"/>
                        </a:defRPr>
                      </a:pPr>
                      <a:r>
                        <a:t>controller</a:t>
                      </a:r>
                    </a:p>
                  </a:txBody>
                  <a:tcPr>
                    <a:solidFill>
                      <a:srgbClr val="003366"/>
                    </a:solidFill>
                  </a:tcPr>
                </a:tc>
                <a:tc>
                  <a:txBody>
                    <a:bodyPr/>
                    <a:lstStyle/>
                    <a:p>
                      <a:pPr algn="ctr">
                        <a:defRPr sz="1100" b="1">
                          <a:solidFill>
                            <a:srgbClr val="FFFFFF"/>
                          </a:solidFill>
                          <a:latin typeface="Calibri"/>
                        </a:defRPr>
                      </a:pPr>
                      <a:r>
                        <a:t>PPO</a:t>
                      </a:r>
                    </a:p>
                    <a:p>
                      <a:pPr algn="ctr">
                        <a:defRPr sz="1100" b="1">
                          <a:solidFill>
                            <a:srgbClr val="FFFFFF"/>
                          </a:solidFill>
                          <a:latin typeface="Calibri"/>
                        </a:defRPr>
                      </a:pPr>
                      <a:r>
                        <a:t>from scratch</a:t>
                      </a:r>
                    </a:p>
                  </a:txBody>
                  <a:tcPr>
                    <a:solidFill>
                      <a:srgbClr val="003366"/>
                    </a:solidFill>
                  </a:tcPr>
                </a:tc>
                <a:tc>
                  <a:txBody>
                    <a:bodyPr/>
                    <a:lstStyle/>
                    <a:p>
                      <a:pPr algn="ctr">
                        <a:defRPr sz="1100" b="1">
                          <a:solidFill>
                            <a:srgbClr val="FFFFFF"/>
                          </a:solidFill>
                          <a:latin typeface="Calibri"/>
                        </a:defRPr>
                      </a:pPr>
                      <a:r>
                        <a:t>PPO initialized</a:t>
                      </a:r>
                    </a:p>
                    <a:p>
                      <a:pPr algn="ctr">
                        <a:defRPr sz="1100" b="1">
                          <a:solidFill>
                            <a:srgbClr val="FFFFFF"/>
                          </a:solidFill>
                          <a:latin typeface="Calibri"/>
                        </a:defRPr>
                      </a:pPr>
                      <a:r>
                        <a:t>from controller</a:t>
                      </a:r>
                    </a:p>
                  </a:txBody>
                  <a:tcPr>
                    <a:solidFill>
                      <a:srgbClr val="003366"/>
                    </a:solidFill>
                  </a:tcPr>
                </a:tc>
              </a:tr>
              <a:tr h="329184">
                <a:tc>
                  <a:txBody>
                    <a:bodyPr/>
                    <a:lstStyle/>
                    <a:p>
                      <a:pPr algn="ctr">
                        <a:defRPr sz="1100">
                          <a:solidFill>
                            <a:srgbClr val="333333"/>
                          </a:solidFill>
                          <a:latin typeface="Calibri"/>
                        </a:defRPr>
                      </a:pPr>
                      <a:r>
                        <a:t>Mean episode reward</a:t>
                      </a:r>
                    </a:p>
                  </a:txBody>
                  <a:tcPr/>
                </a:tc>
                <a:tc>
                  <a:txBody>
                    <a:bodyPr/>
                    <a:lstStyle/>
                    <a:p>
                      <a:pPr algn="ctr">
                        <a:defRPr sz="1100">
                          <a:solidFill>
                            <a:srgbClr val="333333"/>
                          </a:solidFill>
                          <a:latin typeface="Calibri"/>
                        </a:defRPr>
                      </a:pPr>
                      <a:r>
                        <a:t>248.9</a:t>
                      </a:r>
                    </a:p>
                  </a:txBody>
                  <a:tcPr/>
                </a:tc>
                <a:tc>
                  <a:txBody>
                    <a:bodyPr/>
                    <a:lstStyle/>
                    <a:p>
                      <a:pPr algn="ctr">
                        <a:defRPr sz="1100">
                          <a:solidFill>
                            <a:srgbClr val="333333"/>
                          </a:solidFill>
                          <a:latin typeface="Calibri"/>
                        </a:defRPr>
                      </a:pPr>
                      <a:r>
                        <a:t>233.6</a:t>
                      </a:r>
                    </a:p>
                  </a:txBody>
                  <a:tcPr/>
                </a:tc>
                <a:tc>
                  <a:txBody>
                    <a:bodyPr/>
                    <a:lstStyle/>
                    <a:p>
                      <a:pPr algn="ctr">
                        <a:defRPr sz="1100">
                          <a:solidFill>
                            <a:srgbClr val="333333"/>
                          </a:solidFill>
                          <a:latin typeface="Calibri"/>
                        </a:defRPr>
                      </a:pPr>
                      <a:r>
                        <a:t>119.8</a:t>
                      </a:r>
                    </a:p>
                  </a:txBody>
                  <a:tcPr/>
                </a:tc>
              </a:tr>
              <a:tr h="329184">
                <a:tc>
                  <a:txBody>
                    <a:bodyPr/>
                    <a:lstStyle/>
                    <a:p>
                      <a:pPr algn="ctr">
                        <a:defRPr sz="1100">
                          <a:solidFill>
                            <a:srgbClr val="333333"/>
                          </a:solidFill>
                          <a:latin typeface="Calibri"/>
                        </a:defRPr>
                      </a:pPr>
                      <a:r>
                        <a:t>Reward std</a:t>
                      </a:r>
                    </a:p>
                  </a:txBody>
                  <a:tcPr/>
                </a:tc>
                <a:tc>
                  <a:txBody>
                    <a:bodyPr/>
                    <a:lstStyle/>
                    <a:p>
                      <a:pPr algn="ctr">
                        <a:defRPr sz="1100">
                          <a:solidFill>
                            <a:srgbClr val="333333"/>
                          </a:solidFill>
                          <a:latin typeface="Calibri"/>
                        </a:defRPr>
                      </a:pPr>
                      <a:r>
                        <a:t>79.5</a:t>
                      </a:r>
                    </a:p>
                  </a:txBody>
                  <a:tcPr/>
                </a:tc>
                <a:tc>
                  <a:txBody>
                    <a:bodyPr/>
                    <a:lstStyle/>
                    <a:p>
                      <a:pPr algn="ctr">
                        <a:defRPr sz="1100">
                          <a:solidFill>
                            <a:srgbClr val="333333"/>
                          </a:solidFill>
                          <a:latin typeface="Calibri"/>
                        </a:defRPr>
                      </a:pPr>
                      <a:r>
                        <a:t>79.7</a:t>
                      </a:r>
                    </a:p>
                  </a:txBody>
                  <a:tcPr/>
                </a:tc>
                <a:tc>
                  <a:txBody>
                    <a:bodyPr/>
                    <a:lstStyle/>
                    <a:p>
                      <a:pPr algn="ctr">
                        <a:defRPr sz="1100">
                          <a:solidFill>
                            <a:srgbClr val="333333"/>
                          </a:solidFill>
                          <a:latin typeface="Calibri"/>
                        </a:defRPr>
                      </a:pPr>
                      <a:r>
                        <a:t>178.7</a:t>
                      </a:r>
                    </a:p>
                  </a:txBody>
                  <a:tcPr/>
                </a:tc>
              </a:tr>
              <a:tr h="329184">
                <a:tc>
                  <a:txBody>
                    <a:bodyPr/>
                    <a:lstStyle/>
                    <a:p>
                      <a:pPr algn="ctr">
                        <a:defRPr sz="1100">
                          <a:solidFill>
                            <a:srgbClr val="333333"/>
                          </a:solidFill>
                          <a:latin typeface="Calibri"/>
                        </a:defRPr>
                      </a:pPr>
                      <a:r>
                        <a:t>MRR (mm³/min)</a:t>
                      </a:r>
                    </a:p>
                  </a:txBody>
                  <a:tcPr/>
                </a:tc>
                <a:tc>
                  <a:txBody>
                    <a:bodyPr/>
                    <a:lstStyle/>
                    <a:p>
                      <a:pPr algn="ctr">
                        <a:defRPr sz="1100">
                          <a:solidFill>
                            <a:srgbClr val="333333"/>
                          </a:solidFill>
                          <a:latin typeface="Calibri"/>
                        </a:defRPr>
                      </a:pPr>
                      <a:r>
                        <a:t>1318.2</a:t>
                      </a:r>
                    </a:p>
                  </a:txBody>
                  <a:tcPr/>
                </a:tc>
                <a:tc>
                  <a:txBody>
                    <a:bodyPr/>
                    <a:lstStyle/>
                    <a:p>
                      <a:pPr algn="ctr">
                        <a:defRPr sz="1100">
                          <a:solidFill>
                            <a:srgbClr val="333333"/>
                          </a:solidFill>
                          <a:latin typeface="Calibri"/>
                        </a:defRPr>
                      </a:pPr>
                      <a:r>
                        <a:t>1608.5</a:t>
                      </a:r>
                    </a:p>
                  </a:txBody>
                  <a:tcPr/>
                </a:tc>
                <a:tc>
                  <a:txBody>
                    <a:bodyPr/>
                    <a:lstStyle/>
                    <a:p>
                      <a:pPr algn="ctr">
                        <a:defRPr sz="1100">
                          <a:solidFill>
                            <a:srgbClr val="333333"/>
                          </a:solidFill>
                          <a:latin typeface="Calibri"/>
                        </a:defRPr>
                      </a:pPr>
                      <a:r>
                        <a:t>1274.9</a:t>
                      </a:r>
                    </a:p>
                  </a:txBody>
                  <a:tcPr/>
                </a:tc>
              </a:tr>
              <a:tr h="329184">
                <a:tc>
                  <a:txBody>
                    <a:bodyPr/>
                    <a:lstStyle/>
                    <a:p>
                      <a:pPr algn="ctr">
                        <a:defRPr sz="1100">
                          <a:solidFill>
                            <a:srgbClr val="333333"/>
                          </a:solidFill>
                          <a:latin typeface="Calibri"/>
                        </a:defRPr>
                      </a:pPr>
                      <a:r>
                        <a:t>Energy per part (kJ)</a:t>
                      </a:r>
                    </a:p>
                  </a:txBody>
                  <a:tcPr/>
                </a:tc>
                <a:tc>
                  <a:txBody>
                    <a:bodyPr/>
                    <a:lstStyle/>
                    <a:p>
                      <a:pPr algn="ctr">
                        <a:defRPr sz="1100">
                          <a:solidFill>
                            <a:srgbClr val="333333"/>
                          </a:solidFill>
                          <a:latin typeface="Calibri"/>
                        </a:defRPr>
                      </a:pPr>
                      <a:r>
                        <a:t>68.9</a:t>
                      </a:r>
                    </a:p>
                  </a:txBody>
                  <a:tcPr/>
                </a:tc>
                <a:tc>
                  <a:txBody>
                    <a:bodyPr/>
                    <a:lstStyle/>
                    <a:p>
                      <a:pPr algn="ctr">
                        <a:defRPr sz="1100">
                          <a:solidFill>
                            <a:srgbClr val="333333"/>
                          </a:solidFill>
                          <a:latin typeface="Calibri"/>
                        </a:defRPr>
                      </a:pPr>
                      <a:r>
                        <a:t>66.4</a:t>
                      </a:r>
                    </a:p>
                  </a:txBody>
                  <a:tcPr/>
                </a:tc>
                <a:tc>
                  <a:txBody>
                    <a:bodyPr/>
                    <a:lstStyle/>
                    <a:p>
                      <a:pPr algn="ctr">
                        <a:defRPr sz="1100">
                          <a:solidFill>
                            <a:srgbClr val="333333"/>
                          </a:solidFill>
                          <a:latin typeface="Calibri"/>
                        </a:defRPr>
                      </a:pPr>
                      <a:r>
                        <a:t>81.5</a:t>
                      </a:r>
                    </a:p>
                  </a:txBody>
                  <a:tcPr/>
                </a:tc>
              </a:tr>
              <a:tr h="329184">
                <a:tc>
                  <a:txBody>
                    <a:bodyPr/>
                    <a:lstStyle/>
                    <a:p>
                      <a:pPr algn="ctr">
                        <a:defRPr sz="1100">
                          <a:solidFill>
                            <a:srgbClr val="333333"/>
                          </a:solidFill>
                          <a:latin typeface="Calibri"/>
                        </a:defRPr>
                      </a:pPr>
                      <a:r>
                        <a:t>Cycle time (s)</a:t>
                      </a:r>
                    </a:p>
                  </a:txBody>
                  <a:tcPr/>
                </a:tc>
                <a:tc>
                  <a:txBody>
                    <a:bodyPr/>
                    <a:lstStyle/>
                    <a:p>
                      <a:pPr algn="ctr">
                        <a:defRPr sz="1100">
                          <a:solidFill>
                            <a:srgbClr val="333333"/>
                          </a:solidFill>
                          <a:latin typeface="Calibri"/>
                        </a:defRPr>
                      </a:pPr>
                      <a:r>
                        <a:t>17.1</a:t>
                      </a:r>
                    </a:p>
                  </a:txBody>
                  <a:tcPr/>
                </a:tc>
                <a:tc>
                  <a:txBody>
                    <a:bodyPr/>
                    <a:lstStyle/>
                    <a:p>
                      <a:pPr algn="ctr">
                        <a:defRPr sz="1100">
                          <a:solidFill>
                            <a:srgbClr val="333333"/>
                          </a:solidFill>
                          <a:latin typeface="Calibri"/>
                        </a:defRPr>
                      </a:pPr>
                      <a:r>
                        <a:t>11.4</a:t>
                      </a:r>
                    </a:p>
                  </a:txBody>
                  <a:tcPr/>
                </a:tc>
                <a:tc>
                  <a:txBody>
                    <a:bodyPr/>
                    <a:lstStyle/>
                    <a:p>
                      <a:pPr algn="ctr">
                        <a:defRPr sz="1100">
                          <a:solidFill>
                            <a:srgbClr val="333333"/>
                          </a:solidFill>
                          <a:latin typeface="Calibri"/>
                        </a:defRPr>
                      </a:pPr>
                      <a:r>
                        <a:t>42.6</a:t>
                      </a:r>
                    </a:p>
                  </a:txBody>
                  <a:tcPr/>
                </a:tc>
              </a:tr>
              <a:tr h="329184">
                <a:tc>
                  <a:txBody>
                    <a:bodyPr/>
                    <a:lstStyle/>
                    <a:p>
                      <a:pPr algn="ctr">
                        <a:defRPr sz="1100">
                          <a:solidFill>
                            <a:srgbClr val="333333"/>
                          </a:solidFill>
                          <a:latin typeface="Calibri"/>
                        </a:defRPr>
                      </a:pPr>
                      <a:r>
                        <a:t>Ra viol., finished</a:t>
                      </a:r>
                    </a:p>
                  </a:txBody>
                  <a:tcPr/>
                </a:tc>
                <a:tc>
                  <a:txBody>
                    <a:bodyPr/>
                    <a:lstStyle/>
                    <a:p>
                      <a:pPr algn="ctr">
                        <a:defRPr sz="1100">
                          <a:solidFill>
                            <a:srgbClr val="333333"/>
                          </a:solidFill>
                          <a:latin typeface="Calibri"/>
                        </a:defRPr>
                      </a:pPr>
                      <a:r>
                        <a:t>2%</a:t>
                      </a:r>
                    </a:p>
                  </a:txBody>
                  <a:tcPr/>
                </a:tc>
                <a:tc>
                  <a:txBody>
                    <a:bodyPr/>
                    <a:lstStyle/>
                    <a:p>
                      <a:pPr algn="ctr">
                        <a:defRPr sz="1100">
                          <a:solidFill>
                            <a:srgbClr val="333333"/>
                          </a:solidFill>
                          <a:latin typeface="Calibri"/>
                        </a:defRPr>
                      </a:pPr>
                      <a:r>
                        <a:t>4%</a:t>
                      </a:r>
                    </a:p>
                  </a:txBody>
                  <a:tcPr/>
                </a:tc>
                <a:tc>
                  <a:txBody>
                    <a:bodyPr/>
                    <a:lstStyle/>
                    <a:p>
                      <a:pPr algn="ctr">
                        <a:defRPr sz="1100">
                          <a:solidFill>
                            <a:srgbClr val="333333"/>
                          </a:solidFill>
                          <a:latin typeface="Calibri"/>
                        </a:defRPr>
                      </a:pPr>
                      <a:r>
                        <a:t>4%</a:t>
                      </a:r>
                    </a:p>
                  </a:txBody>
                  <a:tcPr/>
                </a:tc>
              </a:tr>
              <a:tr h="329184">
                <a:tc>
                  <a:txBody>
                    <a:bodyPr/>
                    <a:lstStyle/>
                    <a:p>
                      <a:pPr algn="ctr">
                        <a:defRPr sz="1100">
                          <a:solidFill>
                            <a:srgbClr val="333333"/>
                          </a:solidFill>
                          <a:latin typeface="Calibri"/>
                        </a:defRPr>
                      </a:pPr>
                      <a:r>
                        <a:t>Flank wear violations</a:t>
                      </a:r>
                    </a:p>
                  </a:txBody>
                  <a:tcPr/>
                </a:tc>
                <a:tc>
                  <a:txBody>
                    <a:bodyPr/>
                    <a:lstStyle/>
                    <a:p>
                      <a:pPr algn="ctr">
                        <a:defRPr sz="1100">
                          <a:solidFill>
                            <a:srgbClr val="333333"/>
                          </a:solidFill>
                          <a:latin typeface="Calibri"/>
                        </a:defRPr>
                      </a:pPr>
                      <a:r>
                        <a:t>1%</a:t>
                      </a:r>
                    </a:p>
                  </a:txBody>
                  <a:tcPr/>
                </a:tc>
                <a:tc>
                  <a:txBody>
                    <a:bodyPr/>
                    <a:lstStyle/>
                    <a:p>
                      <a:pPr algn="ctr">
                        <a:defRPr sz="1100">
                          <a:solidFill>
                            <a:srgbClr val="333333"/>
                          </a:solidFill>
                          <a:latin typeface="Calibri"/>
                        </a:defRPr>
                      </a:pPr>
                      <a:r>
                        <a:t>0%</a:t>
                      </a:r>
                    </a:p>
                  </a:txBody>
                  <a:tcPr/>
                </a:tc>
                <a:tc>
                  <a:txBody>
                    <a:bodyPr/>
                    <a:lstStyle/>
                    <a:p>
                      <a:pPr algn="ctr">
                        <a:defRPr sz="1100">
                          <a:solidFill>
                            <a:srgbClr val="333333"/>
                          </a:solidFill>
                          <a:latin typeface="Calibri"/>
                        </a:defRPr>
                      </a:pPr>
                      <a:r>
                        <a:t>9%</a:t>
                      </a:r>
                    </a:p>
                  </a:txBody>
                  <a:tcPr/>
                </a:tc>
              </a:tr>
              <a:tr h="329184">
                <a:tc>
                  <a:txBody>
                    <a:bodyPr/>
                    <a:lstStyle/>
                    <a:p>
                      <a:pPr algn="ctr">
                        <a:defRPr sz="1100">
                          <a:solidFill>
                            <a:srgbClr val="333333"/>
                          </a:solidFill>
                          <a:latin typeface="Calibri"/>
                        </a:defRPr>
                      </a:pPr>
                      <a:r>
                        <a:t>Tool breakage</a:t>
                      </a:r>
                    </a:p>
                  </a:txBody>
                  <a:tcPr/>
                </a:tc>
                <a:tc>
                  <a:txBody>
                    <a:bodyPr/>
                    <a:lstStyle/>
                    <a:p>
                      <a:pPr algn="ctr">
                        <a:defRPr sz="1100">
                          <a:solidFill>
                            <a:srgbClr val="333333"/>
                          </a:solidFill>
                          <a:latin typeface="Calibri"/>
                        </a:defRPr>
                      </a:pPr>
                      <a:r>
                        <a:t>3%</a:t>
                      </a:r>
                    </a:p>
                  </a:txBody>
                  <a:tcPr/>
                </a:tc>
                <a:tc>
                  <a:txBody>
                    <a:bodyPr/>
                    <a:lstStyle/>
                    <a:p>
                      <a:pPr algn="ctr">
                        <a:defRPr sz="1100">
                          <a:solidFill>
                            <a:srgbClr val="333333"/>
                          </a:solidFill>
                          <a:latin typeface="Calibri"/>
                        </a:defRPr>
                      </a:pPr>
                      <a:r>
                        <a:t>6%</a:t>
                      </a:r>
                    </a:p>
                  </a:txBody>
                  <a:tcPr/>
                </a:tc>
                <a:tc>
                  <a:txBody>
                    <a:bodyPr/>
                    <a:lstStyle/>
                    <a:p>
                      <a:pPr algn="ctr">
                        <a:defRPr sz="1100">
                          <a:solidFill>
                            <a:srgbClr val="333333"/>
                          </a:solidFill>
                          <a:latin typeface="Calibri"/>
                        </a:defRPr>
                      </a:pPr>
                      <a:r>
                        <a:t>4%</a:t>
                      </a:r>
                    </a:p>
                  </a:txBody>
                  <a:tcPr/>
                </a:tc>
              </a:tr>
              <a:tr h="329184">
                <a:tc>
                  <a:txBody>
                    <a:bodyPr/>
                    <a:lstStyle/>
                    <a:p>
                      <a:pPr algn="ctr">
                        <a:defRPr sz="1100">
                          <a:solidFill>
                            <a:srgbClr val="333333"/>
                          </a:solidFill>
                          <a:latin typeface="Calibri"/>
                        </a:defRPr>
                      </a:pPr>
                      <a:r>
                        <a:t>Parts completed</a:t>
                      </a:r>
                    </a:p>
                  </a:txBody>
                  <a:tcPr/>
                </a:tc>
                <a:tc>
                  <a:txBody>
                    <a:bodyPr/>
                    <a:lstStyle/>
                    <a:p>
                      <a:pPr algn="ctr">
                        <a:defRPr sz="1100">
                          <a:solidFill>
                            <a:srgbClr val="333333"/>
                          </a:solidFill>
                          <a:latin typeface="Calibri"/>
                        </a:defRPr>
                      </a:pPr>
                      <a:r>
                        <a:t>96%</a:t>
                      </a:r>
                    </a:p>
                  </a:txBody>
                  <a:tcPr/>
                </a:tc>
                <a:tc>
                  <a:txBody>
                    <a:bodyPr/>
                    <a:lstStyle/>
                    <a:p>
                      <a:pPr algn="ctr">
                        <a:defRPr sz="1100">
                          <a:solidFill>
                            <a:srgbClr val="333333"/>
                          </a:solidFill>
                          <a:latin typeface="Calibri"/>
                        </a:defRPr>
                      </a:pPr>
                      <a:r>
                        <a:t>94%</a:t>
                      </a:r>
                    </a:p>
                  </a:txBody>
                  <a:tcPr/>
                </a:tc>
                <a:tc>
                  <a:txBody>
                    <a:bodyPr/>
                    <a:lstStyle/>
                    <a:p>
                      <a:pPr algn="ctr">
                        <a:defRPr sz="1100">
                          <a:solidFill>
                            <a:srgbClr val="333333"/>
                          </a:solidFill>
                          <a:latin typeface="Calibri"/>
                        </a:defRPr>
                      </a:pPr>
                      <a:r>
                        <a:t>87%</a:t>
                      </a:r>
                    </a:p>
                  </a:txBody>
                  <a:tcPr/>
                </a:tc>
              </a:tr>
            </a:tbl>
          </a:graphicData>
        </a:graphic>
      </p:graphicFrame>
      <p:sp>
        <p:nvSpPr>
          <p:cNvPr id="9" name="Rectangle 8"/>
          <p:cNvSpPr/>
          <p:nvPr/>
        </p:nvSpPr>
        <p:spPr>
          <a:xfrm>
            <a:off x="5760720" y="5166360"/>
            <a:ext cx="5943600" cy="1051560"/>
          </a:xfrm>
          <a:prstGeom prst="rect">
            <a:avLst/>
          </a:prstGeom>
          <a:solidFill>
            <a:srgbClr val="FFF8DC"/>
          </a:solidFill>
          <a:ln w="25400">
            <a:solidFill>
              <a:srgbClr val="CC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89320" y="5257800"/>
            <a:ext cx="5486400" cy="365760"/>
          </a:xfrm>
          <a:prstGeom prst="rect">
            <a:avLst/>
          </a:prstGeom>
          <a:noFill/>
        </p:spPr>
        <p:txBody>
          <a:bodyPr wrap="square">
            <a:spAutoFit/>
          </a:bodyPr>
          <a:lstStyle/>
          <a:p>
            <a:pPr algn="l">
              <a:defRPr sz="1500" b="1">
                <a:solidFill>
                  <a:srgbClr val="CC9900"/>
                </a:solidFill>
                <a:latin typeface="Calibri"/>
              </a:defRPr>
            </a:pPr>
            <a:r>
              <a:t>Same 100 scenarios, same energy weight w₂ = 0.4</a:t>
            </a:r>
          </a:p>
        </p:txBody>
      </p:sp>
      <p:sp>
        <p:nvSpPr>
          <p:cNvPr id="11" name="TextBox 10"/>
          <p:cNvSpPr txBox="1"/>
          <p:nvPr/>
        </p:nvSpPr>
        <p:spPr>
          <a:xfrm>
            <a:off x="5989320" y="5623560"/>
            <a:ext cx="5486400" cy="548640"/>
          </a:xfrm>
          <a:prstGeom prst="rect">
            <a:avLst/>
          </a:prstGeom>
          <a:noFill/>
        </p:spPr>
        <p:txBody>
          <a:bodyPr wrap="square">
            <a:spAutoFit/>
          </a:bodyPr>
          <a:lstStyle/>
          <a:p>
            <a:pPr>
              <a:spcAft>
                <a:spcPts val="200"/>
              </a:spcAft>
              <a:defRPr sz="1300">
                <a:solidFill>
                  <a:srgbClr val="333333"/>
                </a:solidFill>
                <a:latin typeface="Calibri"/>
              </a:defRPr>
            </a:pPr>
            <a:r>
              <a:t>The initialized arm is the only one that exceeds the flank wear limit (9%)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Controller Initialization: What It Shows</a:t>
            </a:r>
          </a:p>
        </p:txBody>
      </p:sp>
      <p:sp>
        <p:nvSpPr>
          <p:cNvPr id="4" name="Rectangle 3"/>
          <p:cNvSpPr/>
          <p:nvPr/>
        </p:nvSpPr>
        <p:spPr>
          <a:xfrm>
            <a:off x="457200" y="1234440"/>
            <a:ext cx="5532120" cy="3291840"/>
          </a:xfrm>
          <a:prstGeom prst="rect">
            <a:avLst/>
          </a:prstGeom>
          <a:solidFill>
            <a:srgbClr val="FFF8DC"/>
          </a:solidFill>
          <a:ln w="25400">
            <a:solidFill>
              <a:srgbClr val="CC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5029200" cy="457200"/>
          </a:xfrm>
          <a:prstGeom prst="rect">
            <a:avLst/>
          </a:prstGeom>
          <a:noFill/>
        </p:spPr>
        <p:txBody>
          <a:bodyPr wrap="square">
            <a:spAutoFit/>
          </a:bodyPr>
          <a:lstStyle/>
          <a:p>
            <a:pPr algn="l">
              <a:defRPr sz="2000" b="1">
                <a:solidFill>
                  <a:srgbClr val="CC9900"/>
                </a:solidFill>
                <a:latin typeface="Calibri"/>
              </a:defRPr>
            </a:pPr>
            <a:r>
              <a:t>The initialization is now harmful</a:t>
            </a:r>
          </a:p>
        </p:txBody>
      </p:sp>
      <p:sp>
        <p:nvSpPr>
          <p:cNvPr id="6" name="TextBox 5"/>
          <p:cNvSpPr txBox="1"/>
          <p:nvPr/>
        </p:nvSpPr>
        <p:spPr>
          <a:xfrm>
            <a:off x="731520" y="1920240"/>
            <a:ext cx="5029200" cy="2468880"/>
          </a:xfrm>
          <a:prstGeom prst="rect">
            <a:avLst/>
          </a:prstGeom>
          <a:noFill/>
        </p:spPr>
        <p:txBody>
          <a:bodyPr wrap="square">
            <a:spAutoFit/>
          </a:bodyPr>
          <a:lstStyle/>
          <a:p>
            <a:pPr>
              <a:spcAft>
                <a:spcPts val="600"/>
              </a:spcAft>
              <a:defRPr sz="1500">
                <a:solidFill>
                  <a:srgbClr val="333333"/>
                </a:solidFill>
                <a:latin typeface="Calibri"/>
              </a:defRPr>
            </a:pPr>
            <a:r>
              <a:t>• The initialized policy scores 119.8 against the from-scratch policy's 233.6, a gap of 113.8, more than fourteen times the standard error of the mean</a:t>
            </a:r>
          </a:p>
          <a:p>
            <a:pPr>
              <a:spcAft>
                <a:spcPts val="600"/>
              </a:spcAft>
              <a:defRPr sz="1500">
                <a:solidFill>
                  <a:srgbClr val="333333"/>
                </a:solidFill>
                <a:latin typeface="Calibri"/>
              </a:defRPr>
            </a:pPr>
            <a:r>
              <a:t>• The clone starts the policy at the controller's conservative operating point, and with the wear constraint binding that conservatism is expensive</a:t>
            </a:r>
          </a:p>
          <a:p>
            <a:pPr>
              <a:spcAft>
                <a:spcPts val="600"/>
              </a:spcAft>
              <a:defRPr sz="1500">
                <a:solidFill>
                  <a:srgbClr val="333333"/>
                </a:solidFill>
                <a:latin typeface="Calibri"/>
              </a:defRPr>
            </a:pPr>
            <a:r>
              <a:t>• It cuts a part in 42.6 s against 17.1 s and 11.4 s, and spends 81.5 kJ against 66.4 kJ</a:t>
            </a:r>
          </a:p>
          <a:p>
            <a:pPr>
              <a:spcAft>
                <a:spcPts val="600"/>
              </a:spcAft>
              <a:defRPr sz="1500">
                <a:solidFill>
                  <a:srgbClr val="333333"/>
                </a:solidFill>
                <a:latin typeface="Calibri"/>
              </a:defRPr>
            </a:pPr>
            <a:r>
              <a:t>• It is the only arm that exceeds the flank wear limit (9%)</a:t>
            </a:r>
          </a:p>
        </p:txBody>
      </p:sp>
      <p:sp>
        <p:nvSpPr>
          <p:cNvPr id="7" name="Rectangle 6"/>
          <p:cNvSpPr/>
          <p:nvPr/>
        </p:nvSpPr>
        <p:spPr>
          <a:xfrm>
            <a:off x="6217920" y="1234440"/>
            <a:ext cx="5532120" cy="3291840"/>
          </a:xfrm>
          <a:prstGeom prst="rect">
            <a:avLst/>
          </a:prstGeom>
          <a:solidFill>
            <a:srgbClr val="F0F0F0"/>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371600"/>
            <a:ext cx="5029200" cy="731520"/>
          </a:xfrm>
          <a:prstGeom prst="rect">
            <a:avLst/>
          </a:prstGeom>
          <a:noFill/>
        </p:spPr>
        <p:txBody>
          <a:bodyPr wrap="square">
            <a:spAutoFit/>
          </a:bodyPr>
          <a:lstStyle/>
          <a:p>
            <a:pPr algn="l">
              <a:defRPr sz="2000" b="1">
                <a:solidFill>
                  <a:srgbClr val="003366"/>
                </a:solidFill>
                <a:latin typeface="Calibri"/>
              </a:defRPr>
            </a:pPr>
            <a:r>
              <a:t>The result reversed</a:t>
            </a:r>
          </a:p>
        </p:txBody>
      </p:sp>
      <p:sp>
        <p:nvSpPr>
          <p:cNvPr id="9" name="TextBox 8"/>
          <p:cNvSpPr txBox="1"/>
          <p:nvPr/>
        </p:nvSpPr>
        <p:spPr>
          <a:xfrm>
            <a:off x="6492240" y="1920240"/>
            <a:ext cx="5029200" cy="2468880"/>
          </a:xfrm>
          <a:prstGeom prst="rect">
            <a:avLst/>
          </a:prstGeom>
          <a:noFill/>
        </p:spPr>
        <p:txBody>
          <a:bodyPr wrap="square">
            <a:spAutoFit/>
          </a:bodyPr>
          <a:lstStyle/>
          <a:p>
            <a:pPr>
              <a:spcAft>
                <a:spcPts val="600"/>
              </a:spcAft>
              <a:defRPr sz="1500">
                <a:solidFill>
                  <a:srgbClr val="333333"/>
                </a:solidFill>
                <a:latin typeface="Calibri"/>
              </a:defRPr>
            </a:pPr>
            <a:r>
              <a:t>• The earlier revision found the initialization harmless: it made the policy more consistent and did not change the reward</a:t>
            </a:r>
          </a:p>
          <a:p>
            <a:pPr>
              <a:spcAft>
                <a:spcPts val="600"/>
              </a:spcAft>
              <a:defRPr sz="1500">
                <a:solidFill>
                  <a:srgbClr val="333333"/>
                </a:solidFill>
                <a:latin typeface="Calibri"/>
              </a:defRPr>
            </a:pPr>
            <a:r>
              <a:t>• That was the reward not counting the cost of the slow operating point</a:t>
            </a:r>
          </a:p>
          <a:p>
            <a:pPr>
              <a:spcAft>
                <a:spcPts val="600"/>
              </a:spcAft>
              <a:defRPr sz="1500">
                <a:solidFill>
                  <a:srgbClr val="333333"/>
                </a:solidFill>
                <a:latin typeface="Calibri"/>
              </a:defRPr>
            </a:pPr>
            <a:r>
              <a:t>• With the throughput counted, the initialization is what the measurement says it is</a:t>
            </a:r>
          </a:p>
          <a:p>
            <a:pPr>
              <a:spcAft>
                <a:spcPts val="600"/>
              </a:spcAft>
              <a:defRPr sz="1500">
                <a:solidFill>
                  <a:srgbClr val="333333"/>
                </a:solidFill>
                <a:latin typeface="Calibri"/>
              </a:defRPr>
            </a:pPr>
            <a:r>
              <a:t>• What stays is the record and clone machinery, not the initialization itself</a:t>
            </a:r>
          </a:p>
        </p:txBody>
      </p:sp>
      <p:sp>
        <p:nvSpPr>
          <p:cNvPr id="10" name="Rectangle 9"/>
          <p:cNvSpPr/>
          <p:nvPr/>
        </p:nvSpPr>
        <p:spPr>
          <a:xfrm>
            <a:off x="457200" y="4754880"/>
            <a:ext cx="11292840" cy="1828800"/>
          </a:xfrm>
          <a:prstGeom prst="rect">
            <a:avLst/>
          </a:prstGeom>
          <a:solidFill>
            <a:srgbClr val="E6F0FA"/>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892040"/>
            <a:ext cx="10698480" cy="457200"/>
          </a:xfrm>
          <a:prstGeom prst="rect">
            <a:avLst/>
          </a:prstGeom>
          <a:noFill/>
        </p:spPr>
        <p:txBody>
          <a:bodyPr wrap="square">
            <a:spAutoFit/>
          </a:bodyPr>
          <a:lstStyle/>
          <a:p>
            <a:pPr algn="l">
              <a:defRPr sz="2000" b="1">
                <a:solidFill>
                  <a:srgbClr val="003366"/>
                </a:solidFill>
                <a:latin typeface="Calibri"/>
              </a:defRPr>
            </a:pPr>
            <a:r>
              <a:t>What the work claims</a:t>
            </a:r>
          </a:p>
        </p:txBody>
      </p:sp>
      <p:sp>
        <p:nvSpPr>
          <p:cNvPr id="12" name="TextBox 11"/>
          <p:cNvSpPr txBox="1"/>
          <p:nvPr/>
        </p:nvSpPr>
        <p:spPr>
          <a:xfrm>
            <a:off x="731520" y="5394960"/>
            <a:ext cx="10698480" cy="1097280"/>
          </a:xfrm>
          <a:prstGeom prst="rect">
            <a:avLst/>
          </a:prstGeom>
          <a:noFill/>
        </p:spPr>
        <p:txBody>
          <a:bodyPr wrap="square">
            <a:spAutoFit/>
          </a:bodyPr>
          <a:lstStyle/>
          <a:p>
            <a:pPr>
              <a:spcAft>
                <a:spcPts val="400"/>
              </a:spcAft>
              <a:defRPr sz="1600">
                <a:solidFill>
                  <a:srgbClr val="333333"/>
                </a:solidFill>
                <a:latin typeface="Calibri"/>
              </a:defRPr>
            </a:pPr>
            <a:r>
              <a:t>Inside a perfect digital twin the learned policy and the model-based controller are comparable: the policy is ahead on the physical metrics and behind on the breakage, and the gap the reward does show is partly the reward's artifact. Its advantage appears where the controller's information advantage disappears: the crossover is at about 2% of the wear measurement's range.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Controller Initialization: The Three Arms</a:t>
            </a:r>
          </a:p>
        </p:txBody>
      </p:sp>
      <p:pic>
        <p:nvPicPr>
          <p:cNvPr id="4" name="Picture 3" descr="controller_vs_ppo.png"/>
          <p:cNvPicPr>
            <a:picLocks noChangeAspect="1"/>
          </p:cNvPicPr>
          <p:nvPr/>
        </p:nvPicPr>
        <p:blipFill>
          <a:blip r:embed="rId2"/>
          <a:stretch>
            <a:fillRect/>
          </a:stretch>
        </p:blipFill>
        <p:spPr>
          <a:xfrm>
            <a:off x="2318436" y="1143000"/>
            <a:ext cx="7552080" cy="4343400"/>
          </a:xfrm>
          <a:prstGeom prst="rect">
            <a:avLst/>
          </a:prstGeom>
        </p:spPr>
      </p:pic>
      <p:sp>
        <p:nvSpPr>
          <p:cNvPr id="5" name="Rectangle 4"/>
          <p:cNvSpPr/>
          <p:nvPr/>
        </p:nvSpPr>
        <p:spPr>
          <a:xfrm>
            <a:off x="457200" y="5559552"/>
            <a:ext cx="11247120" cy="1024128"/>
          </a:xfrm>
          <a:prstGeom prst="rect">
            <a:avLst/>
          </a:prstGeom>
          <a:solidFill>
            <a:srgbClr val="FFF8DC"/>
          </a:solidFill>
          <a:ln w="25400">
            <a:solidFill>
              <a:srgbClr val="CC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5632704"/>
            <a:ext cx="10698480" cy="320040"/>
          </a:xfrm>
          <a:prstGeom prst="rect">
            <a:avLst/>
          </a:prstGeom>
          <a:noFill/>
        </p:spPr>
        <p:txBody>
          <a:bodyPr wrap="square">
            <a:spAutoFit/>
          </a:bodyPr>
          <a:lstStyle/>
          <a:p>
            <a:pPr algn="l">
              <a:defRPr sz="1600" b="1">
                <a:solidFill>
                  <a:srgbClr val="CC9900"/>
                </a:solidFill>
                <a:latin typeface="Calibri"/>
              </a:defRPr>
            </a:pPr>
            <a:r>
              <a:t>How to read this</a:t>
            </a:r>
          </a:p>
        </p:txBody>
      </p:sp>
      <p:sp>
        <p:nvSpPr>
          <p:cNvPr id="7" name="TextBox 6"/>
          <p:cNvSpPr txBox="1"/>
          <p:nvPr/>
        </p:nvSpPr>
        <p:spPr>
          <a:xfrm>
            <a:off x="731520" y="5961888"/>
            <a:ext cx="10698480" cy="548640"/>
          </a:xfrm>
          <a:prstGeom prst="rect">
            <a:avLst/>
          </a:prstGeom>
          <a:noFill/>
        </p:spPr>
        <p:txBody>
          <a:bodyPr wrap="square">
            <a:spAutoFit/>
          </a:bodyPr>
          <a:lstStyle/>
          <a:p>
            <a:pPr algn="l">
              <a:defRPr sz="1400" b="0">
                <a:solidFill>
                  <a:srgbClr val="333333"/>
                </a:solidFill>
                <a:latin typeface="Calibri"/>
              </a:defRPr>
            </a:pPr>
            <a:r>
              <a:t>Six panels at slide size, so the values are in the table. The initialized arm sits 114 points below the from-scratch arm on the reward, and its spread of 178.7 is more than twice the spread of the other two: the initialization does not buy consistency any more, it buys variance.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Transfer Experiment: Cross-Material Adaptation</a:t>
            </a:r>
          </a:p>
        </p:txBody>
      </p:sp>
      <p:sp>
        <p:nvSpPr>
          <p:cNvPr id="4" name="TextBox 3"/>
          <p:cNvSpPr txBox="1"/>
          <p:nvPr/>
        </p:nvSpPr>
        <p:spPr>
          <a:xfrm>
            <a:off x="457200" y="1188720"/>
            <a:ext cx="11247120" cy="731520"/>
          </a:xfrm>
          <a:prstGeom prst="rect">
            <a:avLst/>
          </a:prstGeom>
          <a:noFill/>
        </p:spPr>
        <p:txBody>
          <a:bodyPr wrap="square">
            <a:spAutoFit/>
          </a:bodyPr>
          <a:lstStyle/>
          <a:p>
            <a:pPr algn="l">
              <a:defRPr sz="1500" b="1">
                <a:solidFill>
                  <a:srgbClr val="C80000"/>
                </a:solidFill>
                <a:latin typeface="Calibri"/>
              </a:defRPr>
            </a:pPr>
            <a:r>
              <a:t>🎯 Target material (harder alloy, same machine): k₁ × 1.25, k₂ × 1.30, C_wear × 2.0. The source policy was trained for 300,000 steps on the nominal material; the adaptation budget on the target is 50,000 steps.</a:t>
            </a:r>
          </a:p>
        </p:txBody>
      </p:sp>
      <p:graphicFrame>
        <p:nvGraphicFramePr>
          <p:cNvPr id="5" name="Table 4"/>
          <p:cNvGraphicFramePr>
            <a:graphicFrameLocks noGrp="1"/>
          </p:cNvGraphicFramePr>
          <p:nvPr/>
        </p:nvGraphicFramePr>
        <p:xfrm>
          <a:off x="640080" y="2011680"/>
          <a:ext cx="10881360" cy="1737360"/>
        </p:xfrm>
        <a:graphic>
          <a:graphicData uri="http://schemas.openxmlformats.org/drawingml/2006/table">
            <a:tbl>
              <a:tblPr firstRow="1" bandRow="1">
                <a:tableStyleId>{5C22544A-7EE6-4342-B048-85BDC9FD1C3A}</a:tableStyleId>
              </a:tblPr>
              <a:tblGrid>
                <a:gridCol w="4023360"/>
                <a:gridCol w="1554480"/>
                <a:gridCol w="1828800"/>
                <a:gridCol w="2011680"/>
                <a:gridCol w="1463040"/>
              </a:tblGrid>
              <a:tr h="347472">
                <a:tc>
                  <a:txBody>
                    <a:bodyPr/>
                    <a:lstStyle/>
                    <a:p>
                      <a:pPr algn="ctr">
                        <a:defRPr sz="1300" b="1">
                          <a:solidFill>
                            <a:srgbClr val="FFFFFF"/>
                          </a:solidFill>
                          <a:latin typeface="Calibri"/>
                        </a:defRPr>
                      </a:pPr>
                      <a:r>
                        <a:t>Arm</a:t>
                      </a:r>
                    </a:p>
                  </a:txBody>
                  <a:tcPr>
                    <a:solidFill>
                      <a:srgbClr val="003366"/>
                    </a:solidFill>
                  </a:tcPr>
                </a:tc>
                <a:tc>
                  <a:txBody>
                    <a:bodyPr/>
                    <a:lstStyle/>
                    <a:p>
                      <a:pPr algn="ctr">
                        <a:defRPr sz="1300" b="1">
                          <a:solidFill>
                            <a:srgbClr val="FFFFFF"/>
                          </a:solidFill>
                          <a:latin typeface="Calibri"/>
                        </a:defRPr>
                      </a:pPr>
                      <a:r>
                        <a:t>Mean reward</a:t>
                      </a:r>
                    </a:p>
                  </a:txBody>
                  <a:tcPr>
                    <a:solidFill>
                      <a:srgbClr val="003366"/>
                    </a:solidFill>
                  </a:tcPr>
                </a:tc>
                <a:tc>
                  <a:txBody>
                    <a:bodyPr/>
                    <a:lstStyle/>
                    <a:p>
                      <a:pPr algn="ctr">
                        <a:defRPr sz="1300" b="1">
                          <a:solidFill>
                            <a:srgbClr val="FFFFFF"/>
                          </a:solidFill>
                          <a:latin typeface="Calibri"/>
                        </a:defRPr>
                      </a:pPr>
                      <a:r>
                        <a:t>R_a violations</a:t>
                      </a:r>
                    </a:p>
                    <a:p>
                      <a:pPr algn="ctr">
                        <a:defRPr sz="1300" b="1">
                          <a:solidFill>
                            <a:srgbClr val="FFFFFF"/>
                          </a:solidFill>
                          <a:latin typeface="Calibri"/>
                        </a:defRPr>
                      </a:pPr>
                      <a:r>
                        <a:t>(worst pass)</a:t>
                      </a:r>
                    </a:p>
                  </a:txBody>
                  <a:tcPr>
                    <a:solidFill>
                      <a:srgbClr val="003366"/>
                    </a:solidFill>
                  </a:tcPr>
                </a:tc>
                <a:tc>
                  <a:txBody>
                    <a:bodyPr/>
                    <a:lstStyle/>
                    <a:p>
                      <a:pPr algn="ctr">
                        <a:defRPr sz="1300" b="1">
                          <a:solidFill>
                            <a:srgbClr val="FFFFFF"/>
                          </a:solidFill>
                          <a:latin typeface="Calibri"/>
                        </a:defRPr>
                      </a:pPr>
                      <a:r>
                        <a:t>R_a violations</a:t>
                      </a:r>
                    </a:p>
                    <a:p>
                      <a:pPr algn="ctr">
                        <a:defRPr sz="1300" b="1">
                          <a:solidFill>
                            <a:srgbClr val="FFFFFF"/>
                          </a:solidFill>
                          <a:latin typeface="Calibri"/>
                        </a:defRPr>
                      </a:pPr>
                      <a:r>
                        <a:t>(finished surface)</a:t>
                      </a:r>
                    </a:p>
                  </a:txBody>
                  <a:tcPr>
                    <a:solidFill>
                      <a:srgbClr val="003366"/>
                    </a:solidFill>
                  </a:tcPr>
                </a:tc>
                <a:tc>
                  <a:txBody>
                    <a:bodyPr/>
                    <a:lstStyle/>
                    <a:p>
                      <a:pPr algn="ctr">
                        <a:defRPr sz="1300" b="1">
                          <a:solidFill>
                            <a:srgbClr val="FFFFFF"/>
                          </a:solidFill>
                          <a:latin typeface="Calibri"/>
                        </a:defRPr>
                      </a:pPr>
                      <a:r>
                        <a:t>Parts</a:t>
                      </a:r>
                    </a:p>
                    <a:p>
                      <a:pPr algn="ctr">
                        <a:defRPr sz="1300" b="1">
                          <a:solidFill>
                            <a:srgbClr val="FFFFFF"/>
                          </a:solidFill>
                          <a:latin typeface="Calibri"/>
                        </a:defRPr>
                      </a:pPr>
                      <a:r>
                        <a:t>completed</a:t>
                      </a:r>
                    </a:p>
                  </a:txBody>
                  <a:tcPr>
                    <a:solidFill>
                      <a:srgbClr val="003366"/>
                    </a:solidFill>
                  </a:tcPr>
                </a:tc>
              </a:tr>
              <a:tr h="347472">
                <a:tc>
                  <a:txBody>
                    <a:bodyPr/>
                    <a:lstStyle/>
                    <a:p>
                      <a:pPr algn="ctr">
                        <a:defRPr sz="1300">
                          <a:solidFill>
                            <a:srgbClr val="333333"/>
                          </a:solidFill>
                          <a:latin typeface="Calibri"/>
                        </a:defRPr>
                      </a:pPr>
                      <a:r>
                        <a:t>Source policy, zero shot</a:t>
                      </a:r>
                    </a:p>
                  </a:txBody>
                  <a:tcPr/>
                </a:tc>
                <a:tc>
                  <a:txBody>
                    <a:bodyPr/>
                    <a:lstStyle/>
                    <a:p>
                      <a:pPr algn="ctr">
                        <a:defRPr sz="1300">
                          <a:solidFill>
                            <a:srgbClr val="333333"/>
                          </a:solidFill>
                          <a:latin typeface="Calibri"/>
                        </a:defRPr>
                      </a:pPr>
                      <a:r>
                        <a:t>168.5</a:t>
                      </a:r>
                    </a:p>
                  </a:txBody>
                  <a:tcPr/>
                </a:tc>
                <a:tc>
                  <a:txBody>
                    <a:bodyPr/>
                    <a:lstStyle/>
                    <a:p>
                      <a:pPr algn="ctr">
                        <a:defRPr sz="1300">
                          <a:solidFill>
                            <a:srgbClr val="333333"/>
                          </a:solidFill>
                          <a:latin typeface="Calibri"/>
                        </a:defRPr>
                      </a:pPr>
                      <a:r>
                        <a:t>100.0%</a:t>
                      </a:r>
                    </a:p>
                  </a:txBody>
                  <a:tcPr/>
                </a:tc>
                <a:tc>
                  <a:txBody>
                    <a:bodyPr/>
                    <a:lstStyle/>
                    <a:p>
                      <a:pPr algn="ctr">
                        <a:defRPr sz="1300">
                          <a:solidFill>
                            <a:srgbClr val="333333"/>
                          </a:solidFill>
                          <a:latin typeface="Calibri"/>
                        </a:defRPr>
                      </a:pPr>
                      <a:r>
                        <a:t>6.7%</a:t>
                      </a:r>
                    </a:p>
                  </a:txBody>
                  <a:tcPr/>
                </a:tc>
                <a:tc>
                  <a:txBody>
                    <a:bodyPr/>
                    <a:lstStyle/>
                    <a:p>
                      <a:pPr algn="ctr">
                        <a:defRPr sz="1300">
                          <a:solidFill>
                            <a:srgbClr val="333333"/>
                          </a:solidFill>
                          <a:latin typeface="Calibri"/>
                        </a:defRPr>
                      </a:pPr>
                      <a:r>
                        <a:t>86.7%</a:t>
                      </a:r>
                    </a:p>
                  </a:txBody>
                  <a:tcPr/>
                </a:tc>
              </a:tr>
              <a:tr h="347472">
                <a:tc>
                  <a:txBody>
                    <a:bodyPr/>
                    <a:lstStyle/>
                    <a:p>
                      <a:pPr algn="ctr">
                        <a:defRPr sz="1300">
                          <a:solidFill>
                            <a:srgbClr val="333333"/>
                          </a:solidFill>
                          <a:latin typeface="Calibri"/>
                        </a:defRPr>
                      </a:pPr>
                      <a:r>
                        <a:t>Source policy, fine tuned (50k)</a:t>
                      </a:r>
                    </a:p>
                  </a:txBody>
                  <a:tcPr/>
                </a:tc>
                <a:tc>
                  <a:txBody>
                    <a:bodyPr/>
                    <a:lstStyle/>
                    <a:p>
                      <a:pPr algn="ctr">
                        <a:defRPr sz="1300">
                          <a:solidFill>
                            <a:srgbClr val="333333"/>
                          </a:solidFill>
                          <a:latin typeface="Calibri"/>
                        </a:defRPr>
                      </a:pPr>
                      <a:r>
                        <a:t>101.9</a:t>
                      </a:r>
                    </a:p>
                  </a:txBody>
                  <a:tcPr/>
                </a:tc>
                <a:tc>
                  <a:txBody>
                    <a:bodyPr/>
                    <a:lstStyle/>
                    <a:p>
                      <a:pPr algn="ctr">
                        <a:defRPr sz="1300">
                          <a:solidFill>
                            <a:srgbClr val="333333"/>
                          </a:solidFill>
                          <a:latin typeface="Calibri"/>
                        </a:defRPr>
                      </a:pPr>
                      <a:r>
                        <a:t>26.7%</a:t>
                      </a:r>
                    </a:p>
                  </a:txBody>
                  <a:tcPr/>
                </a:tc>
                <a:tc>
                  <a:txBody>
                    <a:bodyPr/>
                    <a:lstStyle/>
                    <a:p>
                      <a:pPr algn="ctr">
                        <a:defRPr sz="1300">
                          <a:solidFill>
                            <a:srgbClr val="333333"/>
                          </a:solidFill>
                          <a:latin typeface="Calibri"/>
                        </a:defRPr>
                      </a:pPr>
                      <a:r>
                        <a:t>0.0%</a:t>
                      </a:r>
                    </a:p>
                  </a:txBody>
                  <a:tcPr/>
                </a:tc>
                <a:tc>
                  <a:txBody>
                    <a:bodyPr/>
                    <a:lstStyle/>
                    <a:p>
                      <a:pPr algn="ctr">
                        <a:defRPr sz="1300">
                          <a:solidFill>
                            <a:srgbClr val="333333"/>
                          </a:solidFill>
                          <a:latin typeface="Calibri"/>
                        </a:defRPr>
                      </a:pPr>
                      <a:r>
                        <a:t>86.7%</a:t>
                      </a:r>
                    </a:p>
                  </a:txBody>
                  <a:tcPr/>
                </a:tc>
              </a:tr>
              <a:tr h="347472">
                <a:tc>
                  <a:txBody>
                    <a:bodyPr/>
                    <a:lstStyle/>
                    <a:p>
                      <a:pPr algn="ctr">
                        <a:defRPr sz="1300">
                          <a:solidFill>
                            <a:srgbClr val="333333"/>
                          </a:solidFill>
                          <a:latin typeface="Calibri"/>
                        </a:defRPr>
                      </a:pPr>
                      <a:r>
                        <a:t>Trained on the target from scratch (50k)</a:t>
                      </a:r>
                    </a:p>
                  </a:txBody>
                  <a:tcPr/>
                </a:tc>
                <a:tc>
                  <a:txBody>
                    <a:bodyPr/>
                    <a:lstStyle/>
                    <a:p>
                      <a:pPr algn="ctr">
                        <a:defRPr sz="1300">
                          <a:solidFill>
                            <a:srgbClr val="333333"/>
                          </a:solidFill>
                          <a:latin typeface="Calibri"/>
                        </a:defRPr>
                      </a:pPr>
                      <a:r>
                        <a:t>101.9</a:t>
                      </a:r>
                    </a:p>
                  </a:txBody>
                  <a:tcPr/>
                </a:tc>
                <a:tc>
                  <a:txBody>
                    <a:bodyPr/>
                    <a:lstStyle/>
                    <a:p>
                      <a:pPr algn="ctr">
                        <a:defRPr sz="1300">
                          <a:solidFill>
                            <a:srgbClr val="333333"/>
                          </a:solidFill>
                          <a:latin typeface="Calibri"/>
                        </a:defRPr>
                      </a:pPr>
                      <a:r>
                        <a:t>26.7%</a:t>
                      </a:r>
                    </a:p>
                  </a:txBody>
                  <a:tcPr/>
                </a:tc>
                <a:tc>
                  <a:txBody>
                    <a:bodyPr/>
                    <a:lstStyle/>
                    <a:p>
                      <a:pPr algn="ctr">
                        <a:defRPr sz="1300">
                          <a:solidFill>
                            <a:srgbClr val="333333"/>
                          </a:solidFill>
                          <a:latin typeface="Calibri"/>
                        </a:defRPr>
                      </a:pPr>
                      <a:r>
                        <a:t>0.0%</a:t>
                      </a:r>
                    </a:p>
                  </a:txBody>
                  <a:tcPr/>
                </a:tc>
                <a:tc>
                  <a:txBody>
                    <a:bodyPr/>
                    <a:lstStyle/>
                    <a:p>
                      <a:pPr algn="ctr">
                        <a:defRPr sz="1300">
                          <a:solidFill>
                            <a:srgbClr val="333333"/>
                          </a:solidFill>
                          <a:latin typeface="Calibri"/>
                        </a:defRPr>
                      </a:pPr>
                      <a:r>
                        <a:t>86.7%</a:t>
                      </a:r>
                    </a:p>
                  </a:txBody>
                  <a:tcPr/>
                </a:tc>
              </a:tr>
              <a:tr h="347472">
                <a:tc>
                  <a:txBody>
                    <a:bodyPr/>
                    <a:lstStyle/>
                    <a:p>
                      <a:pPr algn="ctr">
                        <a:defRPr sz="1300" b="1">
                          <a:solidFill>
                            <a:srgbClr val="003366"/>
                          </a:solidFill>
                          <a:latin typeface="Calibri"/>
                        </a:defRPr>
                      </a:pPr>
                      <a:r>
                        <a:t>Production policy, zero shot</a:t>
                      </a:r>
                    </a:p>
                  </a:txBody>
                  <a:tcPr>
                    <a:solidFill>
                      <a:srgbClr val="FFF8DC"/>
                    </a:solidFill>
                  </a:tcPr>
                </a:tc>
                <a:tc>
                  <a:txBody>
                    <a:bodyPr/>
                    <a:lstStyle/>
                    <a:p>
                      <a:pPr algn="ctr">
                        <a:defRPr sz="1300" b="1">
                          <a:solidFill>
                            <a:srgbClr val="003366"/>
                          </a:solidFill>
                          <a:latin typeface="Calibri"/>
                        </a:defRPr>
                      </a:pPr>
                      <a:r>
                        <a:t>190.1</a:t>
                      </a:r>
                    </a:p>
                  </a:txBody>
                  <a:tcPr>
                    <a:solidFill>
                      <a:srgbClr val="FFF8DC"/>
                    </a:solidFill>
                  </a:tcPr>
                </a:tc>
                <a:tc>
                  <a:txBody>
                    <a:bodyPr/>
                    <a:lstStyle/>
                    <a:p>
                      <a:pPr algn="ctr">
                        <a:defRPr sz="1300" b="1">
                          <a:solidFill>
                            <a:srgbClr val="003366"/>
                          </a:solidFill>
                          <a:latin typeface="Calibri"/>
                        </a:defRPr>
                      </a:pPr>
                      <a:r>
                        <a:t>100.0%</a:t>
                      </a:r>
                    </a:p>
                  </a:txBody>
                  <a:tcPr>
                    <a:solidFill>
                      <a:srgbClr val="FFF8DC"/>
                    </a:solidFill>
                  </a:tcPr>
                </a:tc>
                <a:tc>
                  <a:txBody>
                    <a:bodyPr/>
                    <a:lstStyle/>
                    <a:p>
                      <a:pPr algn="ctr">
                        <a:defRPr sz="1300" b="1">
                          <a:solidFill>
                            <a:srgbClr val="003366"/>
                          </a:solidFill>
                          <a:latin typeface="Calibri"/>
                        </a:defRPr>
                      </a:pPr>
                      <a:r>
                        <a:t>10.0%</a:t>
                      </a:r>
                    </a:p>
                  </a:txBody>
                  <a:tcPr>
                    <a:solidFill>
                      <a:srgbClr val="FFF8DC"/>
                    </a:solidFill>
                  </a:tcPr>
                </a:tc>
                <a:tc>
                  <a:txBody>
                    <a:bodyPr/>
                    <a:lstStyle/>
                    <a:p>
                      <a:pPr algn="ctr">
                        <a:defRPr sz="1300" b="1">
                          <a:solidFill>
                            <a:srgbClr val="003366"/>
                          </a:solidFill>
                          <a:latin typeface="Calibri"/>
                        </a:defRPr>
                      </a:pPr>
                      <a:r>
                        <a:t>90.0%</a:t>
                      </a:r>
                    </a:p>
                  </a:txBody>
                  <a:tcPr>
                    <a:solidFill>
                      <a:srgbClr val="FFF8DC"/>
                    </a:solidFill>
                  </a:tcPr>
                </a:tc>
              </a:tr>
            </a:tbl>
          </a:graphicData>
        </a:graphic>
      </p:graphicFrame>
      <p:sp>
        <p:nvSpPr>
          <p:cNvPr id="6" name="Rectangle 5"/>
          <p:cNvSpPr/>
          <p:nvPr/>
        </p:nvSpPr>
        <p:spPr>
          <a:xfrm>
            <a:off x="457200" y="3977639"/>
            <a:ext cx="11247120" cy="2377440"/>
          </a:xfrm>
          <a:prstGeom prst="rect">
            <a:avLst/>
          </a:prstGeom>
          <a:solidFill>
            <a:srgbClr val="FFF8DC"/>
          </a:solidFill>
          <a:ln w="25400">
            <a:solidFill>
              <a:srgbClr val="CC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114800"/>
            <a:ext cx="10698480" cy="457200"/>
          </a:xfrm>
          <a:prstGeom prst="rect">
            <a:avLst/>
          </a:prstGeom>
          <a:noFill/>
        </p:spPr>
        <p:txBody>
          <a:bodyPr wrap="square">
            <a:spAutoFit/>
          </a:bodyPr>
          <a:lstStyle/>
          <a:p>
            <a:pPr algn="l">
              <a:defRPr sz="2200" b="1">
                <a:solidFill>
                  <a:srgbClr val="CC9900"/>
                </a:solidFill>
                <a:latin typeface="Calibri"/>
              </a:defRPr>
            </a:pPr>
            <a:r>
              <a:t>⚠ How to read this</a:t>
            </a:r>
          </a:p>
        </p:txBody>
      </p:sp>
      <p:sp>
        <p:nvSpPr>
          <p:cNvPr id="8" name="TextBox 7"/>
          <p:cNvSpPr txBox="1"/>
          <p:nvPr/>
        </p:nvSpPr>
        <p:spPr>
          <a:xfrm>
            <a:off x="731520" y="4663440"/>
            <a:ext cx="10698480" cy="1645920"/>
          </a:xfrm>
          <a:prstGeom prst="rect">
            <a:avLst/>
          </a:prstGeom>
          <a:noFill/>
        </p:spPr>
        <p:txBody>
          <a:bodyPr wrap="square">
            <a:spAutoFit/>
          </a:bodyPr>
          <a:lstStyle/>
          <a:p>
            <a:pPr>
              <a:spcAft>
                <a:spcPts val="400"/>
              </a:spcAft>
              <a:defRPr sz="1400">
                <a:solidFill>
                  <a:srgbClr val="333333"/>
                </a:solidFill>
                <a:latin typeface="Calibri"/>
              </a:defRPr>
            </a:pPr>
            <a:r>
              <a:t>• The production policy was trained across a distribution of materials with the material context in its observation, so the harder material is inside its training distribution and it needs no adaptation at all</a:t>
            </a:r>
          </a:p>
          <a:p>
            <a:pPr>
              <a:spcAft>
                <a:spcPts val="400"/>
              </a:spcAft>
              <a:defRPr sz="1400">
                <a:solidFill>
                  <a:srgbClr val="333333"/>
                </a:solidFill>
                <a:latin typeface="Calibri"/>
              </a:defRPr>
            </a:pPr>
            <a:r>
              <a:t>• It scores the highest reward (190.1) and completes 90.0% of the parts; its worst pass violates the roughness limit in every scenario, and its finished surface in 10.0% of them</a:t>
            </a:r>
          </a:p>
          <a:p>
            <a:pPr>
              <a:spcAft>
                <a:spcPts val="400"/>
              </a:spcAft>
              <a:defRPr sz="1400">
                <a:solidFill>
                  <a:srgbClr val="333333"/>
                </a:solidFill>
                <a:latin typeface="Calibri"/>
              </a:defRPr>
            </a:pPr>
            <a:r>
              <a:t>• Adaptation repairs the roughness and costs more than it gains: fine tuning the nominal-trained policy for 50,000 steps, or training on the target from scratch, both cut the worst-pass violations to a quarter and land at 101.9 against the source policy's 168.5 zero shot</a:t>
            </a:r>
          </a:p>
          <a:p>
            <a:pPr>
              <a:spcAft>
                <a:spcPts val="400"/>
              </a:spcAft>
              <a:defRPr sz="1400">
                <a:solidFill>
                  <a:srgbClr val="333333"/>
                </a:solidFill>
                <a:latin typeface="Calibri"/>
              </a:defRPr>
            </a:pPr>
            <a:r>
              <a:t>• The target alloy wears the tool twice as fast, and a policy that slows down for that trades away more throughput than it gains in specification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Interactive Digital Twin Workstation (Streamlit)</a:t>
            </a:r>
          </a:p>
        </p:txBody>
      </p:sp>
      <p:sp>
        <p:nvSpPr>
          <p:cNvPr id="4" name="Rectangle 3"/>
          <p:cNvSpPr/>
          <p:nvPr/>
        </p:nvSpPr>
        <p:spPr>
          <a:xfrm>
            <a:off x="457200" y="1280160"/>
            <a:ext cx="11247120" cy="914400"/>
          </a:xfrm>
          <a:prstGeom prst="rect">
            <a:avLst/>
          </a:prstGeom>
          <a:solidFill>
            <a:srgbClr val="F0F0F0"/>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2286000" cy="731520"/>
          </a:xfrm>
          <a:prstGeom prst="rect">
            <a:avLst/>
          </a:prstGeom>
          <a:noFill/>
        </p:spPr>
        <p:txBody>
          <a:bodyPr wrap="square">
            <a:spAutoFit/>
          </a:bodyPr>
          <a:lstStyle/>
          <a:p>
            <a:pPr algn="l">
              <a:defRPr sz="1800" b="1">
                <a:solidFill>
                  <a:srgbClr val="003366"/>
                </a:solidFill>
                <a:latin typeface="Calibri"/>
              </a:defRPr>
            </a:pPr>
            <a:r>
              <a:t>📐 2D Stock Depletion</a:t>
            </a:r>
          </a:p>
        </p:txBody>
      </p:sp>
      <p:sp>
        <p:nvSpPr>
          <p:cNvPr id="6" name="TextBox 5"/>
          <p:cNvSpPr txBox="1"/>
          <p:nvPr/>
        </p:nvSpPr>
        <p:spPr>
          <a:xfrm>
            <a:off x="3200400" y="1371600"/>
            <a:ext cx="8229600" cy="731520"/>
          </a:xfrm>
          <a:prstGeom prst="rect">
            <a:avLst/>
          </a:prstGeom>
          <a:noFill/>
        </p:spPr>
        <p:txBody>
          <a:bodyPr wrap="square">
            <a:spAutoFit/>
          </a:bodyPr>
          <a:lstStyle/>
          <a:p>
            <a:pPr algn="l">
              <a:defRPr sz="1600" b="0">
                <a:solidFill>
                  <a:srgbClr val="333333"/>
                </a:solidFill>
                <a:latin typeface="Calibri"/>
              </a:defRPr>
            </a:pPr>
            <a:r>
              <a:t>Cylindrical billet cross-section; pass-by-pass cutout; remaining κ, a_p; tool engagement diagram</a:t>
            </a:r>
          </a:p>
        </p:txBody>
      </p:sp>
      <p:sp>
        <p:nvSpPr>
          <p:cNvPr id="7" name="Rectangle 6"/>
          <p:cNvSpPr/>
          <p:nvPr/>
        </p:nvSpPr>
        <p:spPr>
          <a:xfrm>
            <a:off x="457200" y="2286000"/>
            <a:ext cx="11247120" cy="914400"/>
          </a:xfrm>
          <a:prstGeom prst="rect">
            <a:avLst/>
          </a:prstGeom>
          <a:solidFill>
            <a:srgbClr val="F0F0F0"/>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377440"/>
            <a:ext cx="2286000" cy="731520"/>
          </a:xfrm>
          <a:prstGeom prst="rect">
            <a:avLst/>
          </a:prstGeom>
          <a:noFill/>
        </p:spPr>
        <p:txBody>
          <a:bodyPr wrap="square">
            <a:spAutoFit/>
          </a:bodyPr>
          <a:lstStyle/>
          <a:p>
            <a:pPr algn="l">
              <a:defRPr sz="1800" b="1">
                <a:solidFill>
                  <a:srgbClr val="003366"/>
                </a:solidFill>
                <a:latin typeface="Calibri"/>
              </a:defRPr>
            </a:pPr>
            <a:r>
              <a:t>📊 Micro-Topography</a:t>
            </a:r>
          </a:p>
        </p:txBody>
      </p:sp>
      <p:sp>
        <p:nvSpPr>
          <p:cNvPr id="9" name="TextBox 8"/>
          <p:cNvSpPr txBox="1"/>
          <p:nvPr/>
        </p:nvSpPr>
        <p:spPr>
          <a:xfrm>
            <a:off x="3200400" y="2377440"/>
            <a:ext cx="8229600" cy="731520"/>
          </a:xfrm>
          <a:prstGeom prst="rect">
            <a:avLst/>
          </a:prstGeom>
          <a:noFill/>
        </p:spPr>
        <p:txBody>
          <a:bodyPr wrap="square">
            <a:spAutoFit/>
          </a:bodyPr>
          <a:lstStyle/>
          <a:p>
            <a:pPr algn="l">
              <a:defRPr sz="1600" b="0">
                <a:solidFill>
                  <a:srgbClr val="333333"/>
                </a:solidFill>
                <a:latin typeface="Calibri"/>
              </a:defRPr>
            </a:pPr>
            <a:r>
              <a:t>Feed-mark cusp profile: y_cusp(x) ≈ x²/(8r_ε) + noise; ISO 1302 R_a overlay with 1.6 μm ceiling</a:t>
            </a:r>
          </a:p>
        </p:txBody>
      </p:sp>
      <p:sp>
        <p:nvSpPr>
          <p:cNvPr id="10" name="Rectangle 9"/>
          <p:cNvSpPr/>
          <p:nvPr/>
        </p:nvSpPr>
        <p:spPr>
          <a:xfrm>
            <a:off x="457200" y="3291840"/>
            <a:ext cx="11247120" cy="914400"/>
          </a:xfrm>
          <a:prstGeom prst="rect">
            <a:avLst/>
          </a:prstGeom>
          <a:solidFill>
            <a:srgbClr val="F0F0F0"/>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383280"/>
            <a:ext cx="2286000" cy="731520"/>
          </a:xfrm>
          <a:prstGeom prst="rect">
            <a:avLst/>
          </a:prstGeom>
          <a:noFill/>
        </p:spPr>
        <p:txBody>
          <a:bodyPr wrap="square">
            <a:spAutoFit/>
          </a:bodyPr>
          <a:lstStyle/>
          <a:p>
            <a:pPr algn="l">
              <a:defRPr sz="1800" b="1">
                <a:solidFill>
                  <a:srgbClr val="003366"/>
                </a:solidFill>
                <a:latin typeface="Calibri"/>
              </a:defRPr>
            </a:pPr>
            <a:r>
              <a:t>📝 G-Code Generator</a:t>
            </a:r>
          </a:p>
        </p:txBody>
      </p:sp>
      <p:sp>
        <p:nvSpPr>
          <p:cNvPr id="12" name="TextBox 11"/>
          <p:cNvSpPr txBox="1"/>
          <p:nvPr/>
        </p:nvSpPr>
        <p:spPr>
          <a:xfrm>
            <a:off x="3200400" y="3383280"/>
            <a:ext cx="8229600" cy="731520"/>
          </a:xfrm>
          <a:prstGeom prst="rect">
            <a:avLst/>
          </a:prstGeom>
          <a:noFill/>
        </p:spPr>
        <p:txBody>
          <a:bodyPr wrap="square">
            <a:spAutoFit/>
          </a:bodyPr>
          <a:lstStyle/>
          <a:p>
            <a:pPr algn="l">
              <a:defRPr sz="1600" b="0">
                <a:solidFill>
                  <a:srgbClr val="333333"/>
                </a:solidFill>
                <a:latin typeface="Calibri"/>
              </a:defRPr>
            </a:pPr>
            <a:r>
              <a:t>ISO 6983 Fanuc/Siemens compliant; emits exact PPO parameter sequence; tool/diameter aware</a:t>
            </a:r>
          </a:p>
        </p:txBody>
      </p:sp>
      <p:sp>
        <p:nvSpPr>
          <p:cNvPr id="13" name="Rectangle 12"/>
          <p:cNvSpPr/>
          <p:nvPr/>
        </p:nvSpPr>
        <p:spPr>
          <a:xfrm>
            <a:off x="457200" y="4297680"/>
            <a:ext cx="11247120" cy="914400"/>
          </a:xfrm>
          <a:prstGeom prst="rect">
            <a:avLst/>
          </a:prstGeom>
          <a:solidFill>
            <a:srgbClr val="F0F0F0"/>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389120"/>
            <a:ext cx="2286000" cy="731520"/>
          </a:xfrm>
          <a:prstGeom prst="rect">
            <a:avLst/>
          </a:prstGeom>
          <a:noFill/>
        </p:spPr>
        <p:txBody>
          <a:bodyPr wrap="square">
            <a:spAutoFit/>
          </a:bodyPr>
          <a:lstStyle/>
          <a:p>
            <a:pPr algn="l">
              <a:defRPr sz="1800" b="1">
                <a:solidFill>
                  <a:srgbClr val="003366"/>
                </a:solidFill>
                <a:latin typeface="Calibri"/>
              </a:defRPr>
            </a:pPr>
            <a:r>
              <a:t>⚔️ Multi-Controller</a:t>
            </a:r>
          </a:p>
        </p:txBody>
      </p:sp>
      <p:sp>
        <p:nvSpPr>
          <p:cNvPr id="15" name="TextBox 14"/>
          <p:cNvSpPr txBox="1"/>
          <p:nvPr/>
        </p:nvSpPr>
        <p:spPr>
          <a:xfrm>
            <a:off x="3200400" y="4389120"/>
            <a:ext cx="8229600" cy="731520"/>
          </a:xfrm>
          <a:prstGeom prst="rect">
            <a:avLst/>
          </a:prstGeom>
          <a:noFill/>
        </p:spPr>
        <p:txBody>
          <a:bodyPr wrap="square">
            <a:spAutoFit/>
          </a:bodyPr>
          <a:lstStyle/>
          <a:p>
            <a:pPr algn="l">
              <a:defRPr sz="1600" b="0">
                <a:solidFill>
                  <a:srgbClr val="333333"/>
                </a:solidFill>
                <a:latin typeface="Calibri"/>
              </a:defRPr>
            </a:pPr>
            <a:r>
              <a:t>Side-by-side: PPO vs NSGA-II vs Rule-Based vs Constant-High; live telemetry overlay</a:t>
            </a:r>
          </a:p>
        </p:txBody>
      </p:sp>
      <p:sp>
        <p:nvSpPr>
          <p:cNvPr id="16" name="Rectangle 15"/>
          <p:cNvSpPr/>
          <p:nvPr/>
        </p:nvSpPr>
        <p:spPr>
          <a:xfrm>
            <a:off x="457200" y="5303520"/>
            <a:ext cx="11247120" cy="914400"/>
          </a:xfrm>
          <a:prstGeom prst="rect">
            <a:avLst/>
          </a:prstGeom>
          <a:solidFill>
            <a:srgbClr val="F0F0F0"/>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394960"/>
            <a:ext cx="2286000" cy="731520"/>
          </a:xfrm>
          <a:prstGeom prst="rect">
            <a:avLst/>
          </a:prstGeom>
          <a:noFill/>
        </p:spPr>
        <p:txBody>
          <a:bodyPr wrap="square">
            <a:spAutoFit/>
          </a:bodyPr>
          <a:lstStyle/>
          <a:p>
            <a:pPr algn="l">
              <a:defRPr sz="1800" b="1">
                <a:solidFill>
                  <a:srgbClr val="003366"/>
                </a:solidFill>
                <a:latin typeface="Calibri"/>
              </a:defRPr>
            </a:pPr>
            <a:r>
              <a:t>⚡ Cached Loading</a:t>
            </a:r>
          </a:p>
        </p:txBody>
      </p:sp>
      <p:sp>
        <p:nvSpPr>
          <p:cNvPr id="18" name="TextBox 17"/>
          <p:cNvSpPr txBox="1"/>
          <p:nvPr/>
        </p:nvSpPr>
        <p:spPr>
          <a:xfrm>
            <a:off x="3200400" y="5394960"/>
            <a:ext cx="8229600" cy="731520"/>
          </a:xfrm>
          <a:prstGeom prst="rect">
            <a:avLst/>
          </a:prstGeom>
          <a:noFill/>
        </p:spPr>
        <p:txBody>
          <a:bodyPr wrap="square">
            <a:spAutoFit/>
          </a:bodyPr>
          <a:lstStyle/>
          <a:p>
            <a:pPr algn="l">
              <a:defRPr sz="1600" b="0">
                <a:solidFill>
                  <a:srgbClr val="333333"/>
                </a:solidFill>
                <a:latin typeface="Calibri"/>
              </a:defRPr>
            </a:pPr>
            <a:r>
              <a:t>@st.cache_resource loads 1M-step PPO model once per session</a:t>
            </a:r>
          </a:p>
        </p:txBody>
      </p:sp>
      <p:sp>
        <p:nvSpPr>
          <p:cNvPr id="19" name="TextBox 18"/>
          <p:cNvSpPr txBox="1"/>
          <p:nvPr/>
        </p:nvSpPr>
        <p:spPr>
          <a:xfrm>
            <a:off x="457200" y="6217920"/>
            <a:ext cx="10972800" cy="457200"/>
          </a:xfrm>
          <a:prstGeom prst="rect">
            <a:avLst/>
          </a:prstGeom>
          <a:noFill/>
        </p:spPr>
        <p:txBody>
          <a:bodyPr wrap="square">
            <a:spAutoFit/>
          </a:bodyPr>
          <a:lstStyle/>
          <a:p>
            <a:pPr algn="ctr">
              <a:defRPr sz="2000" b="1">
                <a:solidFill>
                  <a:srgbClr val="003366"/>
                </a:solidFill>
                <a:latin typeface="Calibri"/>
              </a:defRPr>
            </a:pPr>
            <a:r>
              <a:t>Launch:  streamlit run app.py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Software Engineering: Reproducibility &amp; Quality</a:t>
            </a:r>
          </a:p>
        </p:txBody>
      </p:sp>
      <p:sp>
        <p:nvSpPr>
          <p:cNvPr id="4" name="TextBox 3"/>
          <p:cNvSpPr txBox="1"/>
          <p:nvPr/>
        </p:nvSpPr>
        <p:spPr>
          <a:xfrm>
            <a:off x="457200" y="1188720"/>
            <a:ext cx="5486400" cy="365760"/>
          </a:xfrm>
          <a:prstGeom prst="rect">
            <a:avLst/>
          </a:prstGeom>
          <a:noFill/>
        </p:spPr>
        <p:txBody>
          <a:bodyPr wrap="square">
            <a:spAutoFit/>
          </a:bodyPr>
          <a:lstStyle/>
          <a:p>
            <a:pPr algn="l">
              <a:defRPr sz="1600" b="1">
                <a:solidFill>
                  <a:srgbClr val="003366"/>
                </a:solidFill>
                <a:latin typeface="Calibri"/>
              </a:defRPr>
            </a:pPr>
            <a:r>
              <a:t>Architecture &amp; Reproducibility</a:t>
            </a:r>
          </a:p>
        </p:txBody>
      </p:sp>
      <p:sp>
        <p:nvSpPr>
          <p:cNvPr id="5" name="TextBox 4"/>
          <p:cNvSpPr txBox="1"/>
          <p:nvPr/>
        </p:nvSpPr>
        <p:spPr>
          <a:xfrm>
            <a:off x="457200" y="1600200"/>
            <a:ext cx="5486400" cy="4937760"/>
          </a:xfrm>
          <a:prstGeom prst="rect">
            <a:avLst/>
          </a:prstGeom>
          <a:noFill/>
        </p:spPr>
        <p:txBody>
          <a:bodyPr wrap="square">
            <a:spAutoFit/>
          </a:bodyPr>
          <a:lstStyle/>
          <a:p>
            <a:pPr>
              <a:spcAft>
                <a:spcPts val="400"/>
              </a:spcAft>
              <a:defRPr sz="1400">
                <a:solidFill>
                  <a:srgbClr val="333333"/>
                </a:solidFill>
                <a:latin typeface="Calibri"/>
              </a:defRPr>
            </a:pPr>
            <a:r>
              <a:t>Architecture:</a:t>
            </a:r>
          </a:p>
          <a:p>
            <a:pPr>
              <a:spcAft>
                <a:spcPts val="400"/>
              </a:spcAft>
              <a:defRPr sz="1400">
                <a:solidFill>
                  <a:srgbClr val="333333"/>
                </a:solidFill>
                <a:latin typeface="Calibri"/>
              </a:defRPr>
            </a:pPr>
            <a:r>
              <a:t>  MillingDT/  →  config, env (part + batch), agent</a:t>
            </a:r>
          </a:p>
          <a:p>
            <a:pPr>
              <a:spcAft>
                <a:spcPts val="400"/>
              </a:spcAft>
              <a:defRPr sz="1400">
                <a:solidFill>
                  <a:srgbClr val="333333"/>
                </a:solidFill>
                <a:latin typeface="Calibri"/>
              </a:defRPr>
            </a:pPr>
            <a:r>
              <a:t>                  (controller init), baselines, sim, utils</a:t>
            </a:r>
          </a:p>
          <a:p>
            <a:pPr>
              <a:spcAft>
                <a:spcPts val="400"/>
              </a:spcAft>
              <a:defRPr sz="1400">
                <a:solidFill>
                  <a:srgbClr val="333333"/>
                </a:solidFill>
                <a:latin typeface="Calibri"/>
              </a:defRPr>
            </a:pPr>
            <a:r>
              <a:t>  experiments/ →  train, eval, ablation, baselines,</a:t>
            </a:r>
          </a:p>
          <a:p>
            <a:pPr>
              <a:spcAft>
                <a:spcPts val="400"/>
              </a:spcAft>
              <a:defRPr sz="1400">
                <a:solidFill>
                  <a:srgbClr val="333333"/>
                </a:solidFill>
                <a:latin typeface="Calibri"/>
              </a:defRPr>
            </a:pPr>
            <a:r>
              <a:t>                  transfer, controller, robustness, regime</a:t>
            </a:r>
          </a:p>
          <a:p>
            <a:pPr>
              <a:spcAft>
                <a:spcPts val="400"/>
              </a:spcAft>
              <a:defRPr sz="1400">
                <a:solidFill>
                  <a:srgbClr val="333333"/>
                </a:solidFill>
                <a:latin typeface="Calibri"/>
              </a:defRPr>
            </a:pPr>
            <a:r>
              <a:t>                  map, batch, reward sensitivity, pipeline</a:t>
            </a:r>
          </a:p>
          <a:p>
            <a:pPr>
              <a:spcAft>
                <a:spcPts val="400"/>
              </a:spcAft>
              <a:defRPr sz="1400">
                <a:solidFill>
                  <a:srgbClr val="333333"/>
                </a:solidFill>
                <a:latin typeface="Calibri"/>
              </a:defRPr>
            </a:pPr>
            <a:r>
              <a:t>  viz/         →  shared plotting utilities</a:t>
            </a:r>
          </a:p>
          <a:p>
            <a:pPr>
              <a:spcAft>
                <a:spcPts val="400"/>
              </a:spcAft>
              <a:defRPr sz="1400">
                <a:solidFill>
                  <a:srgbClr val="333333"/>
                </a:solidFill>
                <a:latin typeface="Calibri"/>
              </a:defRPr>
            </a:pPr>
            <a:r>
              <a:t>  results/     →  one directory per run</a:t>
            </a:r>
          </a:p>
          <a:p>
            <a:pPr>
              <a:spcAft>
                <a:spcPts val="400"/>
              </a:spcAft>
              <a:defRPr sz="1400">
                <a:solidFill>
                  <a:srgbClr val="333333"/>
                </a:solidFill>
                <a:latin typeface="Calibri"/>
              </a:defRPr>
            </a:pPr>
          </a:p>
          <a:p>
            <a:pPr>
              <a:spcAft>
                <a:spcPts val="400"/>
              </a:spcAft>
              <a:defRPr sz="1400">
                <a:solidFill>
                  <a:srgbClr val="333333"/>
                </a:solidFill>
                <a:latin typeface="Calibri"/>
              </a:defRPr>
            </a:pPr>
            <a:r>
              <a:t>Reproducibility:</a:t>
            </a:r>
          </a:p>
          <a:p>
            <a:pPr>
              <a:spcAft>
                <a:spcPts val="400"/>
              </a:spcAft>
              <a:defRPr sz="1400">
                <a:solidFill>
                  <a:srgbClr val="333333"/>
                </a:solidFill>
                <a:latin typeface="Calibri"/>
              </a:defRPr>
            </a:pPr>
            <a:r>
              <a:t>  • Global seeding (Python, NumPy, PyTorch, CUDA)</a:t>
            </a:r>
          </a:p>
          <a:p>
            <a:pPr>
              <a:spcAft>
                <a:spcPts val="400"/>
              </a:spcAft>
              <a:defRPr sz="1400">
                <a:solidFill>
                  <a:srgbClr val="333333"/>
                </a:solidFill>
                <a:latin typeface="Calibri"/>
              </a:defRPr>
            </a:pPr>
            <a:r>
              <a:t>  • Shared scenario tables (train = eval)</a:t>
            </a:r>
          </a:p>
          <a:p>
            <a:pPr>
              <a:spcAft>
                <a:spcPts val="400"/>
              </a:spcAft>
              <a:defRPr sz="1400">
                <a:solidFill>
                  <a:srgbClr val="333333"/>
                </a:solidFill>
                <a:latin typeface="Calibri"/>
              </a:defRPr>
            </a:pPr>
            <a:r>
              <a:t>  • experiments/summarize_results.py regenerates RESULTS.md</a:t>
            </a:r>
          </a:p>
          <a:p>
            <a:pPr>
              <a:spcAft>
                <a:spcPts val="400"/>
              </a:spcAft>
              <a:defRPr sz="1400">
                <a:solidFill>
                  <a:srgbClr val="333333"/>
                </a:solidFill>
                <a:latin typeface="Calibri"/>
              </a:defRPr>
            </a:pPr>
            <a:r>
              <a:t>  • All randomness deterministic given seed</a:t>
            </a:r>
          </a:p>
          <a:p>
            <a:pPr>
              <a:spcAft>
                <a:spcPts val="400"/>
              </a:spcAft>
              <a:defRPr sz="1400">
                <a:solidFill>
                  <a:srgbClr val="333333"/>
                </a:solidFill>
                <a:latin typeface="Calibri"/>
              </a:defRPr>
            </a:pPr>
            <a:r>
              <a:t>  • Centralized constants and paths (MillingDT/config/)</a:t>
            </a:r>
          </a:p>
        </p:txBody>
      </p:sp>
      <p:sp>
        <p:nvSpPr>
          <p:cNvPr id="6" name="TextBox 5"/>
          <p:cNvSpPr txBox="1"/>
          <p:nvPr/>
        </p:nvSpPr>
        <p:spPr>
          <a:xfrm>
            <a:off x="6217920" y="1188720"/>
            <a:ext cx="5486400" cy="365760"/>
          </a:xfrm>
          <a:prstGeom prst="rect">
            <a:avLst/>
          </a:prstGeom>
          <a:noFill/>
        </p:spPr>
        <p:txBody>
          <a:bodyPr wrap="square">
            <a:spAutoFit/>
          </a:bodyPr>
          <a:lstStyle/>
          <a:p>
            <a:pPr algn="l">
              <a:defRPr sz="1600" b="1">
                <a:solidFill>
                  <a:srgbClr val="003366"/>
                </a:solidFill>
                <a:latin typeface="Calibri"/>
              </a:defRPr>
            </a:pPr>
            <a:r>
              <a:t>Test Coverage &amp; Quality</a:t>
            </a:r>
          </a:p>
        </p:txBody>
      </p:sp>
      <p:sp>
        <p:nvSpPr>
          <p:cNvPr id="7" name="TextBox 6"/>
          <p:cNvSpPr txBox="1"/>
          <p:nvPr/>
        </p:nvSpPr>
        <p:spPr>
          <a:xfrm>
            <a:off x="6217920" y="1600200"/>
            <a:ext cx="5486400" cy="4937760"/>
          </a:xfrm>
          <a:prstGeom prst="rect">
            <a:avLst/>
          </a:prstGeom>
          <a:noFill/>
        </p:spPr>
        <p:txBody>
          <a:bodyPr wrap="square">
            <a:spAutoFit/>
          </a:bodyPr>
          <a:lstStyle/>
          <a:p>
            <a:pPr>
              <a:spcAft>
                <a:spcPts val="400"/>
              </a:spcAft>
              <a:defRPr sz="1400">
                <a:solidFill>
                  <a:srgbClr val="333333"/>
                </a:solidFill>
                <a:latin typeface="Calibri"/>
              </a:defRPr>
            </a:pPr>
            <a:r>
              <a:t>Testing (45 tests):</a:t>
            </a:r>
          </a:p>
          <a:p>
            <a:pPr>
              <a:spcAft>
                <a:spcPts val="400"/>
              </a:spcAft>
              <a:defRPr sz="1400">
                <a:solidFill>
                  <a:srgbClr val="333333"/>
                </a:solidFill>
                <a:latin typeface="Calibri"/>
              </a:defRPr>
            </a:pPr>
            <a:r>
              <a:t>  • 24 env tests: clipping, truncation, soft norm, 11-D</a:t>
            </a:r>
          </a:p>
          <a:p>
            <a:pPr>
              <a:spcAft>
                <a:spcPts val="400"/>
              </a:spcAft>
              <a:defRPr sz="1400">
                <a:solidFill>
                  <a:srgbClr val="333333"/>
                </a:solidFill>
                <a:latin typeface="Calibri"/>
              </a:defRPr>
            </a:pPr>
            <a:r>
              <a:t>    observation, constants, overrides, energy norm, Gym</a:t>
            </a:r>
          </a:p>
          <a:p>
            <a:pPr>
              <a:spcAft>
                <a:spcPts val="400"/>
              </a:spcAft>
              <a:defRPr sz="1400">
                <a:solidFill>
                  <a:srgbClr val="333333"/>
                </a:solidFill>
                <a:latin typeface="Calibri"/>
              </a:defRPr>
            </a:pPr>
            <a:r>
              <a:t>    checker, randomization, scenario scales, context</a:t>
            </a:r>
          </a:p>
          <a:p>
            <a:pPr>
              <a:spcAft>
                <a:spcPts val="400"/>
              </a:spcAft>
              <a:defRPr sz="1400">
                <a:solidFill>
                  <a:srgbClr val="333333"/>
                </a:solidFill>
                <a:latin typeface="Calibri"/>
              </a:defRPr>
            </a:pPr>
            <a:r>
              <a:t>    (weight, material, belief), observation noise, speed</a:t>
            </a:r>
          </a:p>
          <a:p>
            <a:pPr>
              <a:spcAft>
                <a:spcPts val="400"/>
              </a:spcAft>
              <a:defRPr sz="1400">
                <a:solidFill>
                  <a:srgbClr val="333333"/>
                </a:solidFill>
                <a:latin typeface="Calibri"/>
              </a:defRPr>
            </a:pPr>
            <a:r>
              <a:t>    dependence, energy minimum, reward golden values</a:t>
            </a:r>
          </a:p>
          <a:p>
            <a:pPr>
              <a:spcAft>
                <a:spcPts val="400"/>
              </a:spcAft>
              <a:defRPr sz="1400">
                <a:solidFill>
                  <a:srgbClr val="333333"/>
                </a:solidFill>
                <a:latin typeface="Calibri"/>
              </a:defRPr>
            </a:pPr>
            <a:r>
              <a:t>  • 11 batch env tests: the 13-D observation, the tool</a:t>
            </a:r>
          </a:p>
          <a:p>
            <a:pPr>
              <a:spcAft>
                <a:spcPts val="400"/>
              </a:spcAft>
              <a:defRPr sz="1400">
                <a:solidFill>
                  <a:srgbClr val="333333"/>
                </a:solidFill>
                <a:latin typeface="Calibri"/>
              </a:defRPr>
            </a:pPr>
            <a:r>
              <a:t>    life and the batch left, the wear carried over, the</a:t>
            </a:r>
          </a:p>
          <a:p>
            <a:pPr>
              <a:spcAft>
                <a:spcPts val="400"/>
              </a:spcAft>
              <a:defRPr sz="1400">
                <a:solidFill>
                  <a:srgbClr val="333333"/>
                </a:solidFill>
                <a:latin typeface="Calibri"/>
              </a:defRPr>
            </a:pPr>
            <a:r>
              <a:t>    tool change, the batch reward, the seeded reproducibility</a:t>
            </a:r>
          </a:p>
          <a:p>
            <a:pPr>
              <a:spcAft>
                <a:spcPts val="400"/>
              </a:spcAft>
              <a:defRPr sz="1400">
                <a:solidFill>
                  <a:srgbClr val="333333"/>
                </a:solidFill>
                <a:latin typeface="Calibri"/>
              </a:defRPr>
            </a:pPr>
            <a:r>
              <a:t>  • 5 integration, 3 callback, 2 training</a:t>
            </a:r>
          </a:p>
          <a:p>
            <a:pPr>
              <a:spcAft>
                <a:spcPts val="400"/>
              </a:spcAft>
              <a:defRPr sz="1400">
                <a:solidFill>
                  <a:srgbClr val="333333"/>
                </a:solidFill>
                <a:latin typeface="Calibri"/>
              </a:defRPr>
            </a:pPr>
          </a:p>
          <a:p>
            <a:pPr>
              <a:spcAft>
                <a:spcPts val="400"/>
              </a:spcAft>
              <a:defRPr sz="1400">
                <a:solidFill>
                  <a:srgbClr val="333333"/>
                </a:solidFill>
                <a:latin typeface="Calibri"/>
              </a:defRPr>
            </a:pPr>
            <a:r>
              <a:t>Code Quality:</a:t>
            </a:r>
          </a:p>
          <a:p>
            <a:pPr>
              <a:spcAft>
                <a:spcPts val="400"/>
              </a:spcAft>
              <a:defRPr sz="1400">
                <a:solidFill>
                  <a:srgbClr val="333333"/>
                </a:solidFill>
                <a:latin typeface="Calibri"/>
              </a:defRPr>
            </a:pPr>
            <a:r>
              <a:t>  • No unused imports (AST verified)</a:t>
            </a:r>
          </a:p>
          <a:p>
            <a:pPr>
              <a:spcAft>
                <a:spcPts val="400"/>
              </a:spcAft>
              <a:defRPr sz="1400">
                <a:solidFill>
                  <a:srgbClr val="333333"/>
                </a:solidFill>
                <a:latin typeface="Calibri"/>
              </a:defRPr>
            </a:pPr>
            <a:r>
              <a:t>  • Conventional commits, clean git history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Discussion: What Worked, Limitations, Future Work</a:t>
            </a:r>
          </a:p>
        </p:txBody>
      </p:sp>
      <p:sp>
        <p:nvSpPr>
          <p:cNvPr id="4" name="Rectangle 3"/>
          <p:cNvSpPr/>
          <p:nvPr/>
        </p:nvSpPr>
        <p:spPr>
          <a:xfrm>
            <a:off x="365760" y="1188720"/>
            <a:ext cx="3566160" cy="5303520"/>
          </a:xfrm>
          <a:prstGeom prst="rect">
            <a:avLst/>
          </a:prstGeom>
          <a:solidFill>
            <a:srgbClr val="F0F0F0"/>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3200400" cy="457200"/>
          </a:xfrm>
          <a:prstGeom prst="rect">
            <a:avLst/>
          </a:prstGeom>
          <a:noFill/>
        </p:spPr>
        <p:txBody>
          <a:bodyPr wrap="square">
            <a:spAutoFit/>
          </a:bodyPr>
          <a:lstStyle/>
          <a:p>
            <a:pPr algn="l">
              <a:defRPr sz="2000" b="1">
                <a:solidFill>
                  <a:srgbClr val="003366"/>
                </a:solidFill>
                <a:latin typeface="Calibri"/>
              </a:defRPr>
            </a:pPr>
            <a:r>
              <a:t>✅ What Worked</a:t>
            </a:r>
          </a:p>
        </p:txBody>
      </p:sp>
      <p:sp>
        <p:nvSpPr>
          <p:cNvPr id="6" name="TextBox 5"/>
          <p:cNvSpPr txBox="1"/>
          <p:nvPr/>
        </p:nvSpPr>
        <p:spPr>
          <a:xfrm>
            <a:off x="548640" y="1828800"/>
            <a:ext cx="3200400" cy="4480560"/>
          </a:xfrm>
          <a:prstGeom prst="rect">
            <a:avLst/>
          </a:prstGeom>
          <a:noFill/>
        </p:spPr>
        <p:txBody>
          <a:bodyPr wrap="square">
            <a:spAutoFit/>
          </a:bodyPr>
          <a:lstStyle/>
          <a:p>
            <a:pPr>
              <a:spcAft>
                <a:spcPts val="400"/>
              </a:spcAft>
              <a:defRPr sz="1200">
                <a:solidFill>
                  <a:srgbClr val="333333"/>
                </a:solidFill>
                <a:latin typeface="Calibri"/>
              </a:defRPr>
            </a:pPr>
            <a:r>
              <a:t>Speed-dependent k_c creates genuine trade-off</a:t>
            </a:r>
          </a:p>
          <a:p>
            <a:pPr>
              <a:spcAft>
                <a:spcPts val="400"/>
              </a:spcAft>
              <a:defRPr sz="1200">
                <a:solidFill>
                  <a:srgbClr val="333333"/>
                </a:solidFill>
                <a:latin typeface="Calibri"/>
              </a:defRPr>
            </a:pPr>
            <a:r>
              <a:t>The reward scale decides the operating point: 50 points per part</a:t>
            </a:r>
          </a:p>
          <a:p>
            <a:pPr>
              <a:spcAft>
                <a:spcPts val="400"/>
              </a:spcAft>
              <a:defRPr sz="1200">
                <a:solidFill>
                  <a:srgbClr val="333333"/>
                </a:solidFill>
                <a:latin typeface="Calibri"/>
              </a:defRPr>
            </a:pPr>
            <a:r>
              <a:t>Domain randomization → 94% completion</a:t>
            </a:r>
          </a:p>
          <a:p>
            <a:pPr>
              <a:spcAft>
                <a:spcPts val="400"/>
              </a:spcAft>
              <a:defRPr sz="1200">
                <a:solidFill>
                  <a:srgbClr val="333333"/>
                </a:solidFill>
                <a:latin typeface="Calibri"/>
              </a:defRPr>
            </a:pPr>
            <a:r>
              <a:t>One policy covers the range, ahead over w₂ = 0.0 to 0.6</a:t>
            </a:r>
          </a:p>
          <a:p>
            <a:pPr>
              <a:spcAft>
                <a:spcPts val="400"/>
              </a:spcAft>
              <a:defRPr sz="1200">
                <a:solidFill>
                  <a:srgbClr val="333333"/>
                </a:solidFill>
                <a:latin typeface="Calibri"/>
              </a:defRPr>
            </a:pPr>
            <a:r>
              <a:t>Training across materials makes the adaptation unnecessary</a:t>
            </a:r>
          </a:p>
          <a:p>
            <a:pPr>
              <a:spcAft>
                <a:spcPts val="400"/>
              </a:spcAft>
              <a:defRPr sz="1200">
                <a:solidFill>
                  <a:srgbClr val="333333"/>
                </a:solidFill>
                <a:latin typeface="Calibri"/>
              </a:defRPr>
            </a:pPr>
            <a:r>
              <a:t>Receding-horizon = strong, fair baseline (184.3 → 248.9)</a:t>
            </a:r>
          </a:p>
          <a:p>
            <a:pPr>
              <a:spcAft>
                <a:spcPts val="400"/>
              </a:spcAft>
              <a:defRPr sz="1200">
                <a:solidFill>
                  <a:srgbClr val="333333"/>
                </a:solidFill>
                <a:latin typeface="Calibri"/>
              </a:defRPr>
            </a:pPr>
            <a:r>
              <a:t>Robustness: comparable inside a perfect twin, and the advantage appears where the controller's information runs out</a:t>
            </a:r>
          </a:p>
          <a:p>
            <a:pPr>
              <a:spcAft>
                <a:spcPts val="400"/>
              </a:spcAft>
              <a:defRPr sz="1200">
                <a:solidFill>
                  <a:srgbClr val="333333"/>
                </a:solidFill>
                <a:latin typeface="Calibri"/>
              </a:defRPr>
            </a:pPr>
            <a:r>
              <a:t>The regime map puts a number on it: the crossover is at about 2% of the range of the wear measurement</a:t>
            </a:r>
          </a:p>
          <a:p>
            <a:pPr>
              <a:spcAft>
                <a:spcPts val="400"/>
              </a:spcAft>
              <a:defRPr sz="1200">
                <a:solidFill>
                  <a:srgbClr val="333333"/>
                </a:solidFill>
                <a:latin typeface="Calibri"/>
              </a:defRPr>
            </a:pPr>
            <a:r>
              <a:t>Measuring the reward found the artifact: the credit grows with the number of passes</a:t>
            </a:r>
          </a:p>
          <a:p>
            <a:pPr>
              <a:spcAft>
                <a:spcPts val="400"/>
              </a:spcAft>
              <a:defRPr sz="1200">
                <a:solidFill>
                  <a:srgbClr val="333333"/>
                </a:solidFill>
                <a:latin typeface="Calibri"/>
              </a:defRPr>
            </a:pPr>
            <a:r>
              <a:t>Batch context: 24% fewer tool changes, 9.5% less energy</a:t>
            </a:r>
          </a:p>
        </p:txBody>
      </p:sp>
      <p:sp>
        <p:nvSpPr>
          <p:cNvPr id="7" name="Rectangle 6"/>
          <p:cNvSpPr/>
          <p:nvPr/>
        </p:nvSpPr>
        <p:spPr>
          <a:xfrm>
            <a:off x="4069080" y="1188720"/>
            <a:ext cx="3566160" cy="5303520"/>
          </a:xfrm>
          <a:prstGeom prst="rect">
            <a:avLst/>
          </a:prstGeom>
          <a:solidFill>
            <a:srgbClr val="F0F0F0"/>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51960" y="1280160"/>
            <a:ext cx="3200400" cy="457200"/>
          </a:xfrm>
          <a:prstGeom prst="rect">
            <a:avLst/>
          </a:prstGeom>
          <a:noFill/>
        </p:spPr>
        <p:txBody>
          <a:bodyPr wrap="square">
            <a:spAutoFit/>
          </a:bodyPr>
          <a:lstStyle/>
          <a:p>
            <a:pPr algn="l">
              <a:defRPr sz="2000" b="1">
                <a:solidFill>
                  <a:srgbClr val="003366"/>
                </a:solidFill>
                <a:latin typeface="Calibri"/>
              </a:defRPr>
            </a:pPr>
            <a:r>
              <a:t>⚠️ Limitations</a:t>
            </a:r>
          </a:p>
        </p:txBody>
      </p:sp>
      <p:sp>
        <p:nvSpPr>
          <p:cNvPr id="9" name="TextBox 8"/>
          <p:cNvSpPr txBox="1"/>
          <p:nvPr/>
        </p:nvSpPr>
        <p:spPr>
          <a:xfrm>
            <a:off x="4251960" y="1828800"/>
            <a:ext cx="3200400" cy="4480560"/>
          </a:xfrm>
          <a:prstGeom prst="rect">
            <a:avLst/>
          </a:prstGeom>
          <a:noFill/>
        </p:spPr>
        <p:txBody>
          <a:bodyPr wrap="square">
            <a:spAutoFit/>
          </a:bodyPr>
          <a:lstStyle/>
          <a:p>
            <a:pPr>
              <a:spcAft>
                <a:spcPts val="400"/>
              </a:spcAft>
              <a:defRPr sz="1200">
                <a:solidFill>
                  <a:srgbClr val="333333"/>
                </a:solidFill>
                <a:latin typeface="Calibri"/>
              </a:defRPr>
            </a:pPr>
            <a:r>
              <a:t>Inside a perfect twin the two methods are comparable: 248.9 against 233.6, the gap inside the noise, and about nine of those points are the reward's artifact</a:t>
            </a:r>
          </a:p>
          <a:p>
            <a:pPr>
              <a:spcAft>
                <a:spcPts val="400"/>
              </a:spcAft>
              <a:defRPr sz="1200">
                <a:solidFill>
                  <a:srgbClr val="333333"/>
                </a:solidFill>
                <a:latin typeface="Calibri"/>
              </a:defRPr>
            </a:pPr>
            <a:r>
              <a:t>The learned policy is the better throughput operator, at twice the tool breakage</a:t>
            </a:r>
          </a:p>
          <a:p>
            <a:pPr>
              <a:spcAft>
                <a:spcPts val="400"/>
              </a:spcAft>
              <a:defRPr sz="1200">
                <a:solidFill>
                  <a:srgbClr val="333333"/>
                </a:solidFill>
                <a:latin typeface="Calibri"/>
              </a:defRPr>
            </a:pPr>
            <a:r>
              <a:t>The crossover at 2% is a property of this controller, this reward and this noise model</a:t>
            </a:r>
          </a:p>
          <a:p>
            <a:pPr>
              <a:spcAft>
                <a:spcPts val="400"/>
              </a:spcAft>
              <a:defRPr sz="1200">
                <a:solidFill>
                  <a:srgbClr val="333333"/>
                </a:solidFill>
                <a:latin typeface="Calibri"/>
              </a:defRPr>
            </a:pPr>
            <a:r>
              <a:t>Initializing from the controller is now harmful: 119.8 against 233.6</a:t>
            </a:r>
          </a:p>
          <a:p>
            <a:pPr>
              <a:spcAft>
                <a:spcPts val="400"/>
              </a:spcAft>
              <a:defRPr sz="1200">
                <a:solidFill>
                  <a:srgbClr val="333333"/>
                </a:solidFill>
                <a:latin typeface="Calibri"/>
              </a:defRPr>
            </a:pPr>
            <a:r>
              <a:t>The reward pays a rate per pass, so the credit grows with the number of passes: the bias is in the reward, and the scale is not the lever</a:t>
            </a:r>
          </a:p>
          <a:p>
            <a:pPr>
              <a:spcAft>
                <a:spcPts val="400"/>
              </a:spcAft>
              <a:defRPr sz="1200">
                <a:solidFill>
                  <a:srgbClr val="333333"/>
                </a:solidFill>
                <a:latin typeface="Calibri"/>
              </a:defRPr>
            </a:pPr>
            <a:r>
              <a:t>The wear tool life varies by only a factor of a few across the envelope</a:t>
            </a:r>
          </a:p>
          <a:p>
            <a:pPr>
              <a:spcAft>
                <a:spcPts val="400"/>
              </a:spcAft>
              <a:defRPr sz="1200">
                <a:solidFill>
                  <a:srgbClr val="333333"/>
                </a:solidFill>
                <a:latin typeface="Calibri"/>
              </a:defRPr>
            </a:pPr>
            <a:r>
              <a:t>Ablation uses 150k steps/weight (vs 1M production); sim-only, no real calibration yet</a:t>
            </a:r>
          </a:p>
        </p:txBody>
      </p:sp>
      <p:sp>
        <p:nvSpPr>
          <p:cNvPr id="10" name="Rectangle 9"/>
          <p:cNvSpPr/>
          <p:nvPr/>
        </p:nvSpPr>
        <p:spPr>
          <a:xfrm>
            <a:off x="7772400" y="1188720"/>
            <a:ext cx="3566160" cy="5303520"/>
          </a:xfrm>
          <a:prstGeom prst="rect">
            <a:avLst/>
          </a:prstGeom>
          <a:solidFill>
            <a:srgbClr val="F0F0F0"/>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0" y="1280160"/>
            <a:ext cx="3200400" cy="457200"/>
          </a:xfrm>
          <a:prstGeom prst="rect">
            <a:avLst/>
          </a:prstGeom>
          <a:noFill/>
        </p:spPr>
        <p:txBody>
          <a:bodyPr wrap="square">
            <a:spAutoFit/>
          </a:bodyPr>
          <a:lstStyle/>
          <a:p>
            <a:pPr algn="l">
              <a:defRPr sz="2000" b="1">
                <a:solidFill>
                  <a:srgbClr val="003366"/>
                </a:solidFill>
                <a:latin typeface="Calibri"/>
              </a:defRPr>
            </a:pPr>
            <a:r>
              <a:t>🚀 Future Work</a:t>
            </a:r>
          </a:p>
        </p:txBody>
      </p:sp>
      <p:sp>
        <p:nvSpPr>
          <p:cNvPr id="12" name="TextBox 11"/>
          <p:cNvSpPr txBox="1"/>
          <p:nvPr/>
        </p:nvSpPr>
        <p:spPr>
          <a:xfrm>
            <a:off x="7955280" y="1828800"/>
            <a:ext cx="3200400" cy="4480560"/>
          </a:xfrm>
          <a:prstGeom prst="rect">
            <a:avLst/>
          </a:prstGeom>
          <a:noFill/>
        </p:spPr>
        <p:txBody>
          <a:bodyPr wrap="square">
            <a:spAutoFit/>
          </a:bodyPr>
          <a:lstStyle/>
          <a:p>
            <a:pPr>
              <a:spcAft>
                <a:spcPts val="400"/>
              </a:spcAft>
              <a:defRPr sz="1200">
                <a:solidFill>
                  <a:srgbClr val="333333"/>
                </a:solidFill>
                <a:latin typeface="Calibri"/>
              </a:defRPr>
            </a:pPr>
            <a:r>
              <a:t>A reward that pays a rate correctly: price the cycle time directly, or compare the part's average rate to a reference at the end of the part</a:t>
            </a:r>
          </a:p>
          <a:p>
            <a:pPr>
              <a:spcAft>
                <a:spcPts val="400"/>
              </a:spcAft>
              <a:defRPr sz="1200">
                <a:solidFill>
                  <a:srgbClr val="333333"/>
                </a:solidFill>
                <a:latin typeface="Calibri"/>
              </a:defRPr>
            </a:pPr>
            <a:r>
              <a:t>Publish the sensitivity of any comparison to the reward form, as it is here</a:t>
            </a:r>
          </a:p>
          <a:p>
            <a:pPr>
              <a:spcAft>
                <a:spcPts val="400"/>
              </a:spcAft>
              <a:defRPr sz="1200">
                <a:solidFill>
                  <a:srgbClr val="333333"/>
                </a:solidFill>
                <a:latin typeface="Calibri"/>
              </a:defRPr>
            </a:pPr>
            <a:r>
              <a:t>Compare against a restricted controller (is the gap an information gap?)</a:t>
            </a:r>
          </a:p>
          <a:p>
            <a:pPr>
              <a:spcAft>
                <a:spcPts val="400"/>
              </a:spcAft>
              <a:defRPr sz="1200">
                <a:solidFill>
                  <a:srgbClr val="333333"/>
                </a:solidFill>
                <a:latin typeface="Calibri"/>
              </a:defRPr>
            </a:pPr>
            <a:r>
              <a:t>Measure the crossover under a controller prepared for a noisy instrument, and on the noise of a real instrument</a:t>
            </a:r>
          </a:p>
          <a:p>
            <a:pPr>
              <a:spcAft>
                <a:spcPts val="400"/>
              </a:spcAft>
              <a:defRPr sz="1200">
                <a:solidFill>
                  <a:srgbClr val="333333"/>
                </a:solidFill>
                <a:latin typeface="Calibri"/>
              </a:defRPr>
            </a:pPr>
            <a:r>
              <a:t>Sim-to-real: calibrate on machine data, add noise/delay</a:t>
            </a:r>
          </a:p>
          <a:p>
            <a:pPr>
              <a:spcAft>
                <a:spcPts val="400"/>
              </a:spcAft>
              <a:defRPr sz="1200">
                <a:solidFill>
                  <a:srgbClr val="333333"/>
                </a:solidFill>
                <a:latin typeface="Calibri"/>
              </a:defRPr>
            </a:pPr>
            <a:r>
              <a:t>True multi-objective RL (Pareto-conditioned, hypervolume)</a:t>
            </a:r>
          </a:p>
          <a:p>
            <a:pPr>
              <a:spcAft>
                <a:spcPts val="400"/>
              </a:spcAft>
              <a:defRPr sz="1200">
                <a:solidFill>
                  <a:srgbClr val="333333"/>
                </a:solidFill>
                <a:latin typeface="Calibri"/>
              </a:defRPr>
            </a:pPr>
            <a:r>
              <a:t>Online adaptation: runtime w₂ optimizer for energy budget</a:t>
            </a:r>
          </a:p>
          <a:p>
            <a:pPr>
              <a:spcAft>
                <a:spcPts val="400"/>
              </a:spcAft>
              <a:defRPr sz="1200">
                <a:solidFill>
                  <a:srgbClr val="333333"/>
                </a:solidFill>
                <a:latin typeface="Calibri"/>
              </a:defRPr>
            </a:pPr>
            <a:r>
              <a:t>Batch-level planning: optimize the whole batch, not a part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Rectangle 1"/>
          <p:cNvSpPr/>
          <p:nvPr/>
        </p:nvSpPr>
        <p:spPr>
          <a:xfrm>
            <a:off x="457200" y="731520"/>
            <a:ext cx="11247120" cy="50800"/>
          </a:xfrm>
          <a:prstGeom prst="rect">
            <a:avLst/>
          </a:prstGeom>
          <a:solidFill>
            <a:srgbClr val="CC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62895" cy="914400"/>
          </a:xfrm>
          <a:prstGeom prst="rect">
            <a:avLst/>
          </a:prstGeom>
          <a:noFill/>
        </p:spPr>
        <p:txBody>
          <a:bodyPr wrap="square">
            <a:spAutoFit/>
          </a:bodyPr>
          <a:lstStyle/>
          <a:p>
            <a:pPr algn="ctr">
              <a:defRPr sz="4000" b="1">
                <a:solidFill>
                  <a:srgbClr val="FFFFFF"/>
                </a:solidFill>
                <a:latin typeface="Calibri"/>
              </a:defRPr>
            </a:pPr>
            <a:r>
              <a:t>Conclusion</a:t>
            </a:r>
          </a:p>
        </p:txBody>
      </p:sp>
      <p:sp>
        <p:nvSpPr>
          <p:cNvPr id="4" name="TextBox 3"/>
          <p:cNvSpPr txBox="1"/>
          <p:nvPr/>
        </p:nvSpPr>
        <p:spPr>
          <a:xfrm>
            <a:off x="914400" y="1691640"/>
            <a:ext cx="10362895" cy="365760"/>
          </a:xfrm>
          <a:prstGeom prst="rect">
            <a:avLst/>
          </a:prstGeom>
          <a:noFill/>
        </p:spPr>
        <p:txBody>
          <a:bodyPr wrap="square">
            <a:spAutoFit/>
          </a:bodyPr>
          <a:lstStyle/>
          <a:p>
            <a:pPr algn="l">
              <a:defRPr sz="1300" b="0">
                <a:solidFill>
                  <a:srgbClr val="FFFFFF"/>
                </a:solidFill>
                <a:latin typeface="Calibri"/>
              </a:defRPr>
            </a:pPr>
            <a:r>
              <a:t>🏭 Digital Twin: speed-dependent cutting energy, tool wear, roughness, breakage; the wear coefficient is anchored on a published tool life</a:t>
            </a:r>
          </a:p>
        </p:txBody>
      </p:sp>
      <p:sp>
        <p:nvSpPr>
          <p:cNvPr id="5" name="TextBox 4"/>
          <p:cNvSpPr txBox="1"/>
          <p:nvPr/>
        </p:nvSpPr>
        <p:spPr>
          <a:xfrm>
            <a:off x="914400" y="1938528"/>
            <a:ext cx="10362895" cy="365760"/>
          </a:xfrm>
          <a:prstGeom prst="rect">
            <a:avLst/>
          </a:prstGeom>
          <a:noFill/>
        </p:spPr>
        <p:txBody>
          <a:bodyPr wrap="square">
            <a:spAutoFit/>
          </a:bodyPr>
          <a:lstStyle/>
          <a:p>
            <a:pPr algn="l">
              <a:defRPr sz="1300" b="0">
                <a:solidFill>
                  <a:srgbClr val="FFFFFF"/>
                </a:solidFill>
                <a:latin typeface="Calibri"/>
              </a:defRPr>
            </a:pPr>
            <a:r>
              <a:t>🤖 Two environments: the part (11-D) and the batch of ten parts cut with one tool (13-D), both with domain randomization</a:t>
            </a:r>
          </a:p>
        </p:txBody>
      </p:sp>
      <p:sp>
        <p:nvSpPr>
          <p:cNvPr id="6" name="TextBox 5"/>
          <p:cNvSpPr txBox="1"/>
          <p:nvPr/>
        </p:nvSpPr>
        <p:spPr>
          <a:xfrm>
            <a:off x="914400" y="2185416"/>
            <a:ext cx="10362895" cy="365760"/>
          </a:xfrm>
          <a:prstGeom prst="rect">
            <a:avLst/>
          </a:prstGeom>
          <a:noFill/>
        </p:spPr>
        <p:txBody>
          <a:bodyPr wrap="square">
            <a:spAutoFit/>
          </a:bodyPr>
          <a:lstStyle/>
          <a:p>
            <a:pPr algn="l">
              <a:defRPr sz="1300" b="0">
                <a:solidFill>
                  <a:srgbClr val="FFFFFF"/>
                </a:solidFill>
                <a:latin typeface="Calibri"/>
              </a:defRPr>
            </a:pPr>
            <a:r>
              <a:t>📊 One production policy (1M steps): the energy weight is a runtime query, not a retrain</a:t>
            </a:r>
          </a:p>
        </p:txBody>
      </p:sp>
      <p:sp>
        <p:nvSpPr>
          <p:cNvPr id="7" name="TextBox 6"/>
          <p:cNvSpPr txBox="1"/>
          <p:nvPr/>
        </p:nvSpPr>
        <p:spPr>
          <a:xfrm>
            <a:off x="914400" y="2432304"/>
            <a:ext cx="10362895" cy="365760"/>
          </a:xfrm>
          <a:prstGeom prst="rect">
            <a:avLst/>
          </a:prstGeom>
          <a:noFill/>
        </p:spPr>
        <p:txBody>
          <a:bodyPr wrap="square">
            <a:spAutoFit/>
          </a:bodyPr>
          <a:lstStyle/>
          <a:p>
            <a:pPr algn="l">
              <a:defRPr sz="1300" b="0">
                <a:solidFill>
                  <a:srgbClr val="FFFFFF"/>
                </a:solidFill>
                <a:latin typeface="Calibri"/>
              </a:defRPr>
            </a:pPr>
            <a:r>
              <a:t>🔬 Monte Carlo (100 scenarios, 95% CIs), ablation frontier, sweep against the 21 per-weight policies</a:t>
            </a:r>
          </a:p>
        </p:txBody>
      </p:sp>
      <p:sp>
        <p:nvSpPr>
          <p:cNvPr id="8" name="TextBox 7"/>
          <p:cNvSpPr txBox="1"/>
          <p:nvPr/>
        </p:nvSpPr>
        <p:spPr>
          <a:xfrm>
            <a:off x="914400" y="2679192"/>
            <a:ext cx="10362895" cy="365760"/>
          </a:xfrm>
          <a:prstGeom prst="rect">
            <a:avLst/>
          </a:prstGeom>
          <a:noFill/>
        </p:spPr>
        <p:txBody>
          <a:bodyPr wrap="square">
            <a:spAutoFit/>
          </a:bodyPr>
          <a:lstStyle/>
          <a:p>
            <a:pPr algn="l">
              <a:defRPr sz="1300" b="0">
                <a:solidFill>
                  <a:srgbClr val="FFFFFF"/>
                </a:solidFill>
                <a:latin typeface="Calibri"/>
              </a:defRPr>
            </a:pPr>
            <a:r>
              <a:t>⚔️ Five classical baselines on the same 50 episodes; the receding-horizon controller is the strongest at +253.5</a:t>
            </a:r>
          </a:p>
        </p:txBody>
      </p:sp>
      <p:sp>
        <p:nvSpPr>
          <p:cNvPr id="9" name="TextBox 8"/>
          <p:cNvSpPr txBox="1"/>
          <p:nvPr/>
        </p:nvSpPr>
        <p:spPr>
          <a:xfrm>
            <a:off x="914400" y="2926080"/>
            <a:ext cx="10362895" cy="365760"/>
          </a:xfrm>
          <a:prstGeom prst="rect">
            <a:avLst/>
          </a:prstGeom>
          <a:noFill/>
        </p:spPr>
        <p:txBody>
          <a:bodyPr wrap="square">
            <a:spAutoFit/>
          </a:bodyPr>
          <a:lstStyle/>
          <a:p>
            <a:pPr algn="l">
              <a:defRPr sz="1300" b="0">
                <a:solidFill>
                  <a:srgbClr val="FFFFFF"/>
                </a:solidFill>
                <a:latin typeface="Calibri"/>
              </a:defRPr>
            </a:pPr>
            <a:r>
              <a:t>🛡️ Robustness: comparable inside a perfect twin (248.9 against 233.6, the gap inside the noise and partly the reward's artifact); the controller collapses to 63.5 and 181.3, the policy holds at 226.9 and 213.6</a:t>
            </a:r>
          </a:p>
        </p:txBody>
      </p:sp>
      <p:sp>
        <p:nvSpPr>
          <p:cNvPr id="10" name="TextBox 9"/>
          <p:cNvSpPr txBox="1"/>
          <p:nvPr/>
        </p:nvSpPr>
        <p:spPr>
          <a:xfrm>
            <a:off x="914400" y="3355848"/>
            <a:ext cx="10362895" cy="365760"/>
          </a:xfrm>
          <a:prstGeom prst="rect">
            <a:avLst/>
          </a:prstGeom>
          <a:noFill/>
        </p:spPr>
        <p:txBody>
          <a:bodyPr wrap="square">
            <a:spAutoFit/>
          </a:bodyPr>
          <a:lstStyle/>
          <a:p>
            <a:pPr algn="l">
              <a:defRPr sz="1300" b="0">
                <a:solidFill>
                  <a:srgbClr val="FFFFFF"/>
                </a:solidFill>
                <a:latin typeface="Calibri"/>
              </a:defRPr>
            </a:pPr>
            <a:r>
              <a:t>🗺️ Regime map: the crossover between the two operators is at about 2% of the range of the wear measurement. Below it the classical controller is the better operator, above it the learned policy is</a:t>
            </a:r>
          </a:p>
        </p:txBody>
      </p:sp>
      <p:sp>
        <p:nvSpPr>
          <p:cNvPr id="11" name="TextBox 10"/>
          <p:cNvSpPr txBox="1"/>
          <p:nvPr/>
        </p:nvSpPr>
        <p:spPr>
          <a:xfrm>
            <a:off x="914400" y="3785616"/>
            <a:ext cx="10362895" cy="365760"/>
          </a:xfrm>
          <a:prstGeom prst="rect">
            <a:avLst/>
          </a:prstGeom>
          <a:noFill/>
        </p:spPr>
        <p:txBody>
          <a:bodyPr wrap="square">
            <a:spAutoFit/>
          </a:bodyPr>
          <a:lstStyle/>
          <a:p>
            <a:pPr algn="l">
              <a:defRPr sz="1300" b="0">
                <a:solidFill>
                  <a:srgbClr val="FFFFFF"/>
                </a:solidFill>
                <a:latin typeface="Calibri"/>
              </a:defRPr>
            </a:pPr>
            <a:r>
              <a:t>⚖️ Reward sensitivity: the reward pays a rate per pass, so the credit grows with the pass count; the controller collects 27% more credit for the same material</a:t>
            </a:r>
          </a:p>
        </p:txBody>
      </p:sp>
      <p:sp>
        <p:nvSpPr>
          <p:cNvPr id="12" name="TextBox 11"/>
          <p:cNvSpPr txBox="1"/>
          <p:nvPr/>
        </p:nvSpPr>
        <p:spPr>
          <a:xfrm>
            <a:off x="914400" y="4215384"/>
            <a:ext cx="10362895" cy="365760"/>
          </a:xfrm>
          <a:prstGeom prst="rect">
            <a:avLst/>
          </a:prstGeom>
          <a:noFill/>
        </p:spPr>
        <p:txBody>
          <a:bodyPr wrap="square">
            <a:spAutoFit/>
          </a:bodyPr>
          <a:lstStyle/>
          <a:p>
            <a:pPr algn="l">
              <a:defRPr sz="1300" b="0">
                <a:solidFill>
                  <a:srgbClr val="FFFFFF"/>
                </a:solidFill>
                <a:latin typeface="Calibri"/>
              </a:defRPr>
            </a:pPr>
            <a:r>
              <a:t>📦 Batch: the batch context is worth 24% fewer tool changes and 9.5% less energy; the per-part controller needs 207.5 s against 113.1 s</a:t>
            </a:r>
          </a:p>
        </p:txBody>
      </p:sp>
      <p:sp>
        <p:nvSpPr>
          <p:cNvPr id="13" name="TextBox 12"/>
          <p:cNvSpPr txBox="1"/>
          <p:nvPr/>
        </p:nvSpPr>
        <p:spPr>
          <a:xfrm>
            <a:off x="914400" y="4462272"/>
            <a:ext cx="10362895" cy="365760"/>
          </a:xfrm>
          <a:prstGeom prst="rect">
            <a:avLst/>
          </a:prstGeom>
          <a:noFill/>
        </p:spPr>
        <p:txBody>
          <a:bodyPr wrap="square">
            <a:spAutoFit/>
          </a:bodyPr>
          <a:lstStyle/>
          <a:p>
            <a:pPr algn="l">
              <a:defRPr sz="1300" b="0">
                <a:solidFill>
                  <a:srgbClr val="FFFFFF"/>
                </a:solidFill>
                <a:latin typeface="Calibri"/>
              </a:defRPr>
            </a:pPr>
            <a:r>
              <a:t>🧬 Controller init: the result reversed, the initialization is now harmful (119.8 against 233.6)</a:t>
            </a:r>
          </a:p>
        </p:txBody>
      </p:sp>
      <p:sp>
        <p:nvSpPr>
          <p:cNvPr id="14" name="TextBox 13"/>
          <p:cNvSpPr txBox="1"/>
          <p:nvPr/>
        </p:nvSpPr>
        <p:spPr>
          <a:xfrm>
            <a:off x="914400" y="4709160"/>
            <a:ext cx="10362895" cy="365760"/>
          </a:xfrm>
          <a:prstGeom prst="rect">
            <a:avLst/>
          </a:prstGeom>
          <a:noFill/>
        </p:spPr>
        <p:txBody>
          <a:bodyPr wrap="square">
            <a:spAutoFit/>
          </a:bodyPr>
          <a:lstStyle/>
          <a:p>
            <a:pPr algn="l">
              <a:defRPr sz="1300" b="0">
                <a:solidFill>
                  <a:srgbClr val="FFFFFF"/>
                </a:solidFill>
                <a:latin typeface="Calibri"/>
              </a:defRPr>
            </a:pPr>
            <a:r>
              <a:t>🔄 Transfer: the production policy needs no adaptation; the nominal-trained one does</a:t>
            </a:r>
          </a:p>
        </p:txBody>
      </p:sp>
      <p:sp>
        <p:nvSpPr>
          <p:cNvPr id="15" name="TextBox 14"/>
          <p:cNvSpPr txBox="1"/>
          <p:nvPr/>
        </p:nvSpPr>
        <p:spPr>
          <a:xfrm>
            <a:off x="914400" y="4956048"/>
            <a:ext cx="10362895" cy="365760"/>
          </a:xfrm>
          <a:prstGeom prst="rect">
            <a:avLst/>
          </a:prstGeom>
          <a:noFill/>
        </p:spPr>
        <p:txBody>
          <a:bodyPr wrap="square">
            <a:spAutoFit/>
          </a:bodyPr>
          <a:lstStyle/>
          <a:p>
            <a:pPr algn="l">
              <a:defRPr sz="1300" b="0">
                <a:solidFill>
                  <a:srgbClr val="FFFFFF"/>
                </a:solidFill>
                <a:latin typeface="Calibri"/>
              </a:defRPr>
            </a:pPr>
            <a:r>
              <a:t>🖥️ Interactive workstation and full reproducibility: every result table from committed artifacts by one script</a:t>
            </a:r>
          </a:p>
        </p:txBody>
      </p:sp>
      <p:sp>
        <p:nvSpPr>
          <p:cNvPr id="16" name="Rectangle 15"/>
          <p:cNvSpPr/>
          <p:nvPr/>
        </p:nvSpPr>
        <p:spPr>
          <a:xfrm>
            <a:off x="914400" y="5669280"/>
            <a:ext cx="10362895" cy="50800"/>
          </a:xfrm>
          <a:prstGeom prst="rect">
            <a:avLst/>
          </a:prstGeom>
          <a:solidFill>
            <a:srgbClr val="CC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760720"/>
            <a:ext cx="10362895" cy="914400"/>
          </a:xfrm>
          <a:prstGeom prst="rect">
            <a:avLst/>
          </a:prstGeom>
          <a:noFill/>
        </p:spPr>
        <p:txBody>
          <a:bodyPr wrap="square">
            <a:spAutoFit/>
          </a:bodyPr>
          <a:lstStyle/>
          <a:p>
            <a:pPr algn="ctr">
              <a:defRPr sz="1300" b="1">
                <a:solidFill>
                  <a:srgbClr val="CC9900"/>
                </a:solidFill>
                <a:latin typeface="Calibri"/>
              </a:defRPr>
            </a:pPr>
            <a:r>
              <a:t>Key Scientific Finding: The speed-dependent specific cutting energy creates a genuine energy/throughput trade-off. Across the frontier the removal rate falls 41% while the energy of the part falls 17%, and one conditioned policy reaches that whole frontier at runtime. Against a model-based controller the claim is a boundary, not an advantage: inside a perfect digital twin the two methods are comparable, and the learned policy is the better operator once the wear measurement is noisier than about 2% of its range.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Calibri"/>
              </a:defRPr>
            </a:pPr>
            <a:r>
              <a:t>Reproducibility: All Commands Run from Project Root</a:t>
            </a:r>
          </a:p>
        </p:txBody>
      </p:sp>
      <p:sp>
        <p:nvSpPr>
          <p:cNvPr id="4" name="Rectangle 3"/>
          <p:cNvSpPr/>
          <p:nvPr/>
        </p:nvSpPr>
        <p:spPr>
          <a:xfrm>
            <a:off x="457200" y="1188720"/>
            <a:ext cx="11247120" cy="28346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197864"/>
            <a:ext cx="2743200" cy="274320"/>
          </a:xfrm>
          <a:prstGeom prst="rect">
            <a:avLst/>
          </a:prstGeom>
          <a:noFill/>
        </p:spPr>
        <p:txBody>
          <a:bodyPr wrap="square">
            <a:spAutoFit/>
          </a:bodyPr>
          <a:lstStyle/>
          <a:p>
            <a:pPr algn="l">
              <a:defRPr sz="1300" b="1">
                <a:solidFill>
                  <a:srgbClr val="003366"/>
                </a:solidFill>
                <a:latin typeface="Calibri"/>
              </a:defRPr>
            </a:pPr>
            <a:r>
              <a:t>Tests</a:t>
            </a:r>
          </a:p>
        </p:txBody>
      </p:sp>
      <p:sp>
        <p:nvSpPr>
          <p:cNvPr id="6" name="TextBox 5"/>
          <p:cNvSpPr txBox="1"/>
          <p:nvPr/>
        </p:nvSpPr>
        <p:spPr>
          <a:xfrm>
            <a:off x="3474720" y="1197864"/>
            <a:ext cx="8138160" cy="274320"/>
          </a:xfrm>
          <a:prstGeom prst="rect">
            <a:avLst/>
          </a:prstGeom>
          <a:noFill/>
        </p:spPr>
        <p:txBody>
          <a:bodyPr wrap="square">
            <a:spAutoFit/>
          </a:bodyPr>
          <a:lstStyle/>
          <a:p>
            <a:pPr algn="l">
              <a:defRPr sz="1100" b="0">
                <a:solidFill>
                  <a:srgbClr val="333333"/>
                </a:solidFill>
                <a:latin typeface="Consolas"/>
              </a:defRPr>
            </a:pPr>
            <a:r>
              <a:t>pytest tests/ -v</a:t>
            </a:r>
          </a:p>
        </p:txBody>
      </p:sp>
      <p:sp>
        <p:nvSpPr>
          <p:cNvPr id="7" name="Rectangle 6"/>
          <p:cNvSpPr/>
          <p:nvPr/>
        </p:nvSpPr>
        <p:spPr>
          <a:xfrm>
            <a:off x="457200" y="1476756"/>
            <a:ext cx="11247120"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85900"/>
            <a:ext cx="2743200" cy="274320"/>
          </a:xfrm>
          <a:prstGeom prst="rect">
            <a:avLst/>
          </a:prstGeom>
          <a:noFill/>
        </p:spPr>
        <p:txBody>
          <a:bodyPr wrap="square">
            <a:spAutoFit/>
          </a:bodyPr>
          <a:lstStyle/>
          <a:p>
            <a:pPr algn="l">
              <a:defRPr sz="1300" b="1">
                <a:solidFill>
                  <a:srgbClr val="003366"/>
                </a:solidFill>
                <a:latin typeface="Calibri"/>
              </a:defRPr>
            </a:pPr>
            <a:r>
              <a:t>Production policy</a:t>
            </a:r>
          </a:p>
        </p:txBody>
      </p:sp>
      <p:sp>
        <p:nvSpPr>
          <p:cNvPr id="9" name="TextBox 8"/>
          <p:cNvSpPr txBox="1"/>
          <p:nvPr/>
        </p:nvSpPr>
        <p:spPr>
          <a:xfrm>
            <a:off x="3474720" y="1485900"/>
            <a:ext cx="8138160" cy="274320"/>
          </a:xfrm>
          <a:prstGeom prst="rect">
            <a:avLst/>
          </a:prstGeom>
          <a:noFill/>
        </p:spPr>
        <p:txBody>
          <a:bodyPr wrap="square">
            <a:spAutoFit/>
          </a:bodyPr>
          <a:lstStyle/>
          <a:p>
            <a:pPr algn="l">
              <a:defRPr sz="1100" b="0">
                <a:solidFill>
                  <a:srgbClr val="333333"/>
                </a:solidFill>
                <a:latin typeface="Consolas"/>
              </a:defRPr>
            </a:pPr>
            <a:r>
              <a:t>python -m experiments.train_rl --steps 1000000 --seed 42 --randomize --randomize-weight</a:t>
            </a:r>
          </a:p>
        </p:txBody>
      </p:sp>
      <p:sp>
        <p:nvSpPr>
          <p:cNvPr id="10" name="Rectangle 9"/>
          <p:cNvSpPr/>
          <p:nvPr/>
        </p:nvSpPr>
        <p:spPr>
          <a:xfrm>
            <a:off x="457200" y="1764792"/>
            <a:ext cx="11247120" cy="28346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773936"/>
            <a:ext cx="2743200" cy="274320"/>
          </a:xfrm>
          <a:prstGeom prst="rect">
            <a:avLst/>
          </a:prstGeom>
          <a:noFill/>
        </p:spPr>
        <p:txBody>
          <a:bodyPr wrap="square">
            <a:spAutoFit/>
          </a:bodyPr>
          <a:lstStyle/>
          <a:p>
            <a:pPr algn="l">
              <a:defRPr sz="1300" b="1">
                <a:solidFill>
                  <a:srgbClr val="003366"/>
                </a:solidFill>
                <a:latin typeface="Calibri"/>
              </a:defRPr>
            </a:pPr>
            <a:r>
              <a:t>One pinned weight</a:t>
            </a:r>
          </a:p>
        </p:txBody>
      </p:sp>
      <p:sp>
        <p:nvSpPr>
          <p:cNvPr id="12" name="TextBox 11"/>
          <p:cNvSpPr txBox="1"/>
          <p:nvPr/>
        </p:nvSpPr>
        <p:spPr>
          <a:xfrm>
            <a:off x="3474720" y="1773936"/>
            <a:ext cx="8138160" cy="274320"/>
          </a:xfrm>
          <a:prstGeom prst="rect">
            <a:avLst/>
          </a:prstGeom>
          <a:noFill/>
        </p:spPr>
        <p:txBody>
          <a:bodyPr wrap="square">
            <a:spAutoFit/>
          </a:bodyPr>
          <a:lstStyle/>
          <a:p>
            <a:pPr algn="l">
              <a:defRPr sz="1100" b="0">
                <a:solidFill>
                  <a:srgbClr val="333333"/>
                </a:solidFill>
                <a:latin typeface="Consolas"/>
              </a:defRPr>
            </a:pPr>
            <a:r>
              <a:t>python -m experiments.train_rl --steps 150000 --seed 42 --randomize --w2 0.6</a:t>
            </a:r>
          </a:p>
        </p:txBody>
      </p:sp>
      <p:sp>
        <p:nvSpPr>
          <p:cNvPr id="13" name="Rectangle 12"/>
          <p:cNvSpPr/>
          <p:nvPr/>
        </p:nvSpPr>
        <p:spPr>
          <a:xfrm>
            <a:off x="457200" y="2052828"/>
            <a:ext cx="11247120"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061972"/>
            <a:ext cx="2743200" cy="274320"/>
          </a:xfrm>
          <a:prstGeom prst="rect">
            <a:avLst/>
          </a:prstGeom>
          <a:noFill/>
        </p:spPr>
        <p:txBody>
          <a:bodyPr wrap="square">
            <a:spAutoFit/>
          </a:bodyPr>
          <a:lstStyle/>
          <a:p>
            <a:pPr algn="l">
              <a:defRPr sz="1300" b="1">
                <a:solidFill>
                  <a:srgbClr val="003366"/>
                </a:solidFill>
                <a:latin typeface="Calibri"/>
              </a:defRPr>
            </a:pPr>
            <a:r>
              <a:t>Noisy measurement</a:t>
            </a:r>
          </a:p>
        </p:txBody>
      </p:sp>
      <p:sp>
        <p:nvSpPr>
          <p:cNvPr id="15" name="TextBox 14"/>
          <p:cNvSpPr txBox="1"/>
          <p:nvPr/>
        </p:nvSpPr>
        <p:spPr>
          <a:xfrm>
            <a:off x="3474720" y="2061972"/>
            <a:ext cx="8138160" cy="274320"/>
          </a:xfrm>
          <a:prstGeom prst="rect">
            <a:avLst/>
          </a:prstGeom>
          <a:noFill/>
        </p:spPr>
        <p:txBody>
          <a:bodyPr wrap="square">
            <a:spAutoFit/>
          </a:bodyPr>
          <a:lstStyle/>
          <a:p>
            <a:pPr algn="l">
              <a:defRPr sz="1100" b="0">
                <a:solidFill>
                  <a:srgbClr val="333333"/>
                </a:solidFill>
                <a:latin typeface="Consolas"/>
              </a:defRPr>
            </a:pPr>
            <a:r>
              <a:t>python -m experiments.train_rl --obs-noise 0.05 --run-name PPO_noisystate_seed42</a:t>
            </a:r>
          </a:p>
        </p:txBody>
      </p:sp>
      <p:sp>
        <p:nvSpPr>
          <p:cNvPr id="16" name="Rectangle 15"/>
          <p:cNvSpPr/>
          <p:nvPr/>
        </p:nvSpPr>
        <p:spPr>
          <a:xfrm>
            <a:off x="457200" y="2340864"/>
            <a:ext cx="11247120" cy="28346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350008"/>
            <a:ext cx="2743200" cy="274320"/>
          </a:xfrm>
          <a:prstGeom prst="rect">
            <a:avLst/>
          </a:prstGeom>
          <a:noFill/>
        </p:spPr>
        <p:txBody>
          <a:bodyPr wrap="square">
            <a:spAutoFit/>
          </a:bodyPr>
          <a:lstStyle/>
          <a:p>
            <a:pPr algn="l">
              <a:defRPr sz="1300" b="1">
                <a:solidFill>
                  <a:srgbClr val="003366"/>
                </a:solidFill>
                <a:latin typeface="Calibri"/>
              </a:defRPr>
            </a:pPr>
            <a:r>
              <a:t>Batch policy</a:t>
            </a:r>
          </a:p>
        </p:txBody>
      </p:sp>
      <p:sp>
        <p:nvSpPr>
          <p:cNvPr id="18" name="TextBox 17"/>
          <p:cNvSpPr txBox="1"/>
          <p:nvPr/>
        </p:nvSpPr>
        <p:spPr>
          <a:xfrm>
            <a:off x="3474720" y="2350008"/>
            <a:ext cx="8138160" cy="274320"/>
          </a:xfrm>
          <a:prstGeom prst="rect">
            <a:avLst/>
          </a:prstGeom>
          <a:noFill/>
        </p:spPr>
        <p:txBody>
          <a:bodyPr wrap="square">
            <a:spAutoFit/>
          </a:bodyPr>
          <a:lstStyle/>
          <a:p>
            <a:pPr algn="l">
              <a:defRPr sz="1100" b="0">
                <a:solidFill>
                  <a:srgbClr val="333333"/>
                </a:solidFill>
                <a:latin typeface="Consolas"/>
              </a:defRPr>
            </a:pPr>
            <a:r>
              <a:t>python -m experiments.train_rl --env-id MillingDTBatchEnv-v1 --run-name PPO_batch_seed42</a:t>
            </a:r>
          </a:p>
        </p:txBody>
      </p:sp>
      <p:sp>
        <p:nvSpPr>
          <p:cNvPr id="19" name="Rectangle 18"/>
          <p:cNvSpPr/>
          <p:nvPr/>
        </p:nvSpPr>
        <p:spPr>
          <a:xfrm>
            <a:off x="457200" y="2628900"/>
            <a:ext cx="11247120"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2638044"/>
            <a:ext cx="2743200" cy="274320"/>
          </a:xfrm>
          <a:prstGeom prst="rect">
            <a:avLst/>
          </a:prstGeom>
          <a:noFill/>
        </p:spPr>
        <p:txBody>
          <a:bodyPr wrap="square">
            <a:spAutoFit/>
          </a:bodyPr>
          <a:lstStyle/>
          <a:p>
            <a:pPr algn="l">
              <a:defRPr sz="1300" b="1">
                <a:solidFill>
                  <a:srgbClr val="003366"/>
                </a:solidFill>
                <a:latin typeface="Calibri"/>
              </a:defRPr>
            </a:pPr>
            <a:r>
              <a:t>Ablation grid</a:t>
            </a:r>
          </a:p>
        </p:txBody>
      </p:sp>
      <p:sp>
        <p:nvSpPr>
          <p:cNvPr id="21" name="TextBox 20"/>
          <p:cNvSpPr txBox="1"/>
          <p:nvPr/>
        </p:nvSpPr>
        <p:spPr>
          <a:xfrm>
            <a:off x="3474720" y="2638044"/>
            <a:ext cx="8138160" cy="274320"/>
          </a:xfrm>
          <a:prstGeom prst="rect">
            <a:avLst/>
          </a:prstGeom>
          <a:noFill/>
        </p:spPr>
        <p:txBody>
          <a:bodyPr wrap="square">
            <a:spAutoFit/>
          </a:bodyPr>
          <a:lstStyle/>
          <a:p>
            <a:pPr algn="l">
              <a:defRPr sz="1100" b="0">
                <a:solidFill>
                  <a:srgbClr val="333333"/>
                </a:solidFill>
                <a:latin typeface="Consolas"/>
              </a:defRPr>
            </a:pPr>
            <a:r>
              <a:t>python -m experiments.train_rl_ablation --steps 150000 --scenarios 50 --slots 7</a:t>
            </a:r>
          </a:p>
        </p:txBody>
      </p:sp>
      <p:sp>
        <p:nvSpPr>
          <p:cNvPr id="22" name="Rectangle 21"/>
          <p:cNvSpPr/>
          <p:nvPr/>
        </p:nvSpPr>
        <p:spPr>
          <a:xfrm>
            <a:off x="457200" y="2916936"/>
            <a:ext cx="11247120" cy="28346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2926080"/>
            <a:ext cx="2743200" cy="274320"/>
          </a:xfrm>
          <a:prstGeom prst="rect">
            <a:avLst/>
          </a:prstGeom>
          <a:noFill/>
        </p:spPr>
        <p:txBody>
          <a:bodyPr wrap="square">
            <a:spAutoFit/>
          </a:bodyPr>
          <a:lstStyle/>
          <a:p>
            <a:pPr algn="l">
              <a:defRPr sz="1300" b="1">
                <a:solidFill>
                  <a:srgbClr val="003366"/>
                </a:solidFill>
                <a:latin typeface="Calibri"/>
              </a:defRPr>
            </a:pPr>
            <a:r>
              <a:t>Monte Carlo eval</a:t>
            </a:r>
          </a:p>
        </p:txBody>
      </p:sp>
      <p:sp>
        <p:nvSpPr>
          <p:cNvPr id="24" name="TextBox 23"/>
          <p:cNvSpPr txBox="1"/>
          <p:nvPr/>
        </p:nvSpPr>
        <p:spPr>
          <a:xfrm>
            <a:off x="3474720" y="2926080"/>
            <a:ext cx="8138160" cy="274320"/>
          </a:xfrm>
          <a:prstGeom prst="rect">
            <a:avLst/>
          </a:prstGeom>
          <a:noFill/>
        </p:spPr>
        <p:txBody>
          <a:bodyPr wrap="square">
            <a:spAutoFit/>
          </a:bodyPr>
          <a:lstStyle/>
          <a:p>
            <a:pPr algn="l">
              <a:defRPr sz="1100" b="0">
                <a:solidFill>
                  <a:srgbClr val="333333"/>
                </a:solidFill>
                <a:latin typeface="Consolas"/>
              </a:defRPr>
            </a:pPr>
            <a:r>
              <a:t>python -m experiments.evaluate --scenarios 100</a:t>
            </a:r>
          </a:p>
        </p:txBody>
      </p:sp>
      <p:sp>
        <p:nvSpPr>
          <p:cNvPr id="25" name="Rectangle 24"/>
          <p:cNvSpPr/>
          <p:nvPr/>
        </p:nvSpPr>
        <p:spPr>
          <a:xfrm>
            <a:off x="457200" y="3204972"/>
            <a:ext cx="11247120"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214116"/>
            <a:ext cx="2743200" cy="274320"/>
          </a:xfrm>
          <a:prstGeom prst="rect">
            <a:avLst/>
          </a:prstGeom>
          <a:noFill/>
        </p:spPr>
        <p:txBody>
          <a:bodyPr wrap="square">
            <a:spAutoFit/>
          </a:bodyPr>
          <a:lstStyle/>
          <a:p>
            <a:pPr algn="l">
              <a:defRPr sz="1300" b="1">
                <a:solidFill>
                  <a:srgbClr val="003366"/>
                </a:solidFill>
                <a:latin typeface="Calibri"/>
              </a:defRPr>
            </a:pPr>
            <a:r>
              <a:t>Weight sweep</a:t>
            </a:r>
          </a:p>
        </p:txBody>
      </p:sp>
      <p:sp>
        <p:nvSpPr>
          <p:cNvPr id="27" name="TextBox 26"/>
          <p:cNvSpPr txBox="1"/>
          <p:nvPr/>
        </p:nvSpPr>
        <p:spPr>
          <a:xfrm>
            <a:off x="3474720" y="3214116"/>
            <a:ext cx="8138160" cy="274320"/>
          </a:xfrm>
          <a:prstGeom prst="rect">
            <a:avLst/>
          </a:prstGeom>
          <a:noFill/>
        </p:spPr>
        <p:txBody>
          <a:bodyPr wrap="square">
            <a:spAutoFit/>
          </a:bodyPr>
          <a:lstStyle/>
          <a:p>
            <a:pPr algn="l">
              <a:defRPr sz="1100" b="0">
                <a:solidFill>
                  <a:srgbClr val="333333"/>
                </a:solidFill>
                <a:latin typeface="Consolas"/>
              </a:defRPr>
            </a:pPr>
            <a:r>
              <a:t>python -m experiments.evaluate --sweep-weight --scenarios 100</a:t>
            </a:r>
          </a:p>
        </p:txBody>
      </p:sp>
      <p:sp>
        <p:nvSpPr>
          <p:cNvPr id="28" name="Rectangle 27"/>
          <p:cNvSpPr/>
          <p:nvPr/>
        </p:nvSpPr>
        <p:spPr>
          <a:xfrm>
            <a:off x="457200" y="3493008"/>
            <a:ext cx="11247120" cy="28346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502152"/>
            <a:ext cx="2743200" cy="274320"/>
          </a:xfrm>
          <a:prstGeom prst="rect">
            <a:avLst/>
          </a:prstGeom>
          <a:noFill/>
        </p:spPr>
        <p:txBody>
          <a:bodyPr wrap="square">
            <a:spAutoFit/>
          </a:bodyPr>
          <a:lstStyle/>
          <a:p>
            <a:pPr algn="l">
              <a:defRPr sz="1300" b="1">
                <a:solidFill>
                  <a:srgbClr val="003366"/>
                </a:solidFill>
                <a:latin typeface="Calibri"/>
              </a:defRPr>
            </a:pPr>
            <a:r>
              <a:t>Compare with per-weight policies</a:t>
            </a:r>
          </a:p>
        </p:txBody>
      </p:sp>
      <p:sp>
        <p:nvSpPr>
          <p:cNvPr id="30" name="TextBox 29"/>
          <p:cNvSpPr txBox="1"/>
          <p:nvPr/>
        </p:nvSpPr>
        <p:spPr>
          <a:xfrm>
            <a:off x="3474720" y="3502152"/>
            <a:ext cx="8138160" cy="274320"/>
          </a:xfrm>
          <a:prstGeom prst="rect">
            <a:avLst/>
          </a:prstGeom>
          <a:noFill/>
        </p:spPr>
        <p:txBody>
          <a:bodyPr wrap="square">
            <a:spAutoFit/>
          </a:bodyPr>
          <a:lstStyle/>
          <a:p>
            <a:pPr algn="l">
              <a:defRPr sz="1100" b="0">
                <a:solidFill>
                  <a:srgbClr val="333333"/>
                </a:solidFill>
                <a:latin typeface="Consolas"/>
              </a:defRPr>
            </a:pPr>
            <a:r>
              <a:t>python -m experiments.evaluate --compare-only</a:t>
            </a:r>
          </a:p>
        </p:txBody>
      </p:sp>
      <p:sp>
        <p:nvSpPr>
          <p:cNvPr id="31" name="Rectangle 30"/>
          <p:cNvSpPr/>
          <p:nvPr/>
        </p:nvSpPr>
        <p:spPr>
          <a:xfrm>
            <a:off x="457200" y="3781044"/>
            <a:ext cx="11247120"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3790188"/>
            <a:ext cx="2743200" cy="274320"/>
          </a:xfrm>
          <a:prstGeom prst="rect">
            <a:avLst/>
          </a:prstGeom>
          <a:noFill/>
        </p:spPr>
        <p:txBody>
          <a:bodyPr wrap="square">
            <a:spAutoFit/>
          </a:bodyPr>
          <a:lstStyle/>
          <a:p>
            <a:pPr algn="l">
              <a:defRPr sz="1300" b="1">
                <a:solidFill>
                  <a:srgbClr val="003366"/>
                </a:solidFill>
                <a:latin typeface="Calibri"/>
              </a:defRPr>
            </a:pPr>
            <a:r>
              <a:t>Classical baselines</a:t>
            </a:r>
          </a:p>
        </p:txBody>
      </p:sp>
      <p:sp>
        <p:nvSpPr>
          <p:cNvPr id="33" name="TextBox 32"/>
          <p:cNvSpPr txBox="1"/>
          <p:nvPr/>
        </p:nvSpPr>
        <p:spPr>
          <a:xfrm>
            <a:off x="3474720" y="3790188"/>
            <a:ext cx="8138160" cy="274320"/>
          </a:xfrm>
          <a:prstGeom prst="rect">
            <a:avLst/>
          </a:prstGeom>
          <a:noFill/>
        </p:spPr>
        <p:txBody>
          <a:bodyPr wrap="square">
            <a:spAutoFit/>
          </a:bodyPr>
          <a:lstStyle/>
          <a:p>
            <a:pPr algn="l">
              <a:defRPr sz="1100" b="0">
                <a:solidFill>
                  <a:srgbClr val="333333"/>
                </a:solidFill>
                <a:latin typeface="Consolas"/>
              </a:defRPr>
            </a:pPr>
            <a:r>
              <a:t>python -m experiments.run_baselines</a:t>
            </a:r>
          </a:p>
        </p:txBody>
      </p:sp>
      <p:sp>
        <p:nvSpPr>
          <p:cNvPr id="34" name="Rectangle 33"/>
          <p:cNvSpPr/>
          <p:nvPr/>
        </p:nvSpPr>
        <p:spPr>
          <a:xfrm>
            <a:off x="457200" y="4069080"/>
            <a:ext cx="11247120" cy="28346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4078224"/>
            <a:ext cx="2743200" cy="274320"/>
          </a:xfrm>
          <a:prstGeom prst="rect">
            <a:avLst/>
          </a:prstGeom>
          <a:noFill/>
        </p:spPr>
        <p:txBody>
          <a:bodyPr wrap="square">
            <a:spAutoFit/>
          </a:bodyPr>
          <a:lstStyle/>
          <a:p>
            <a:pPr algn="l">
              <a:defRPr sz="1300" b="1">
                <a:solidFill>
                  <a:srgbClr val="003366"/>
                </a:solidFill>
                <a:latin typeface="Calibri"/>
              </a:defRPr>
            </a:pPr>
            <a:r>
              <a:t>Transfer experiment</a:t>
            </a:r>
          </a:p>
        </p:txBody>
      </p:sp>
      <p:sp>
        <p:nvSpPr>
          <p:cNvPr id="36" name="TextBox 35"/>
          <p:cNvSpPr txBox="1"/>
          <p:nvPr/>
        </p:nvSpPr>
        <p:spPr>
          <a:xfrm>
            <a:off x="3474720" y="4078224"/>
            <a:ext cx="8138160" cy="274320"/>
          </a:xfrm>
          <a:prstGeom prst="rect">
            <a:avLst/>
          </a:prstGeom>
          <a:noFill/>
        </p:spPr>
        <p:txBody>
          <a:bodyPr wrap="square">
            <a:spAutoFit/>
          </a:bodyPr>
          <a:lstStyle/>
          <a:p>
            <a:pPr algn="l">
              <a:defRPr sz="1100" b="0">
                <a:solidFill>
                  <a:srgbClr val="333333"/>
                </a:solidFill>
                <a:latin typeface="Consolas"/>
              </a:defRPr>
            </a:pPr>
            <a:r>
              <a:t>python -m experiments.transfer_experiment 300000 50000</a:t>
            </a:r>
          </a:p>
        </p:txBody>
      </p:sp>
      <p:sp>
        <p:nvSpPr>
          <p:cNvPr id="37" name="Rectangle 36"/>
          <p:cNvSpPr/>
          <p:nvPr/>
        </p:nvSpPr>
        <p:spPr>
          <a:xfrm>
            <a:off x="457200" y="4357116"/>
            <a:ext cx="11247120"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4366260"/>
            <a:ext cx="2743200" cy="274320"/>
          </a:xfrm>
          <a:prstGeom prst="rect">
            <a:avLst/>
          </a:prstGeom>
          <a:noFill/>
        </p:spPr>
        <p:txBody>
          <a:bodyPr wrap="square">
            <a:spAutoFit/>
          </a:bodyPr>
          <a:lstStyle/>
          <a:p>
            <a:pPr algn="l">
              <a:defRPr sz="1300" b="1">
                <a:solidFill>
                  <a:srgbClr val="003366"/>
                </a:solidFill>
                <a:latin typeface="Calibri"/>
              </a:defRPr>
            </a:pPr>
            <a:r>
              <a:t>Controller initialization</a:t>
            </a:r>
          </a:p>
        </p:txBody>
      </p:sp>
      <p:sp>
        <p:nvSpPr>
          <p:cNvPr id="39" name="TextBox 38"/>
          <p:cNvSpPr txBox="1"/>
          <p:nvPr/>
        </p:nvSpPr>
        <p:spPr>
          <a:xfrm>
            <a:off x="3474720" y="4366260"/>
            <a:ext cx="8138160" cy="274320"/>
          </a:xfrm>
          <a:prstGeom prst="rect">
            <a:avLst/>
          </a:prstGeom>
          <a:noFill/>
        </p:spPr>
        <p:txBody>
          <a:bodyPr wrap="square">
            <a:spAutoFit/>
          </a:bodyPr>
          <a:lstStyle/>
          <a:p>
            <a:pPr algn="l">
              <a:defRPr sz="1100" b="0">
                <a:solidFill>
                  <a:srgbClr val="333333"/>
                </a:solidFill>
                <a:latin typeface="Consolas"/>
              </a:defRPr>
            </a:pPr>
            <a:r>
              <a:t>python -m experiments.controller_experiment 1000000 2000</a:t>
            </a:r>
          </a:p>
        </p:txBody>
      </p:sp>
      <p:sp>
        <p:nvSpPr>
          <p:cNvPr id="40" name="Rectangle 39"/>
          <p:cNvSpPr/>
          <p:nvPr/>
        </p:nvSpPr>
        <p:spPr>
          <a:xfrm>
            <a:off x="457200" y="4645152"/>
            <a:ext cx="11247120" cy="28346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4654296"/>
            <a:ext cx="2743200" cy="274320"/>
          </a:xfrm>
          <a:prstGeom prst="rect">
            <a:avLst/>
          </a:prstGeom>
          <a:noFill/>
        </p:spPr>
        <p:txBody>
          <a:bodyPr wrap="square">
            <a:spAutoFit/>
          </a:bodyPr>
          <a:lstStyle/>
          <a:p>
            <a:pPr algn="l">
              <a:defRPr sz="1300" b="1">
                <a:solidFill>
                  <a:srgbClr val="003366"/>
                </a:solidFill>
                <a:latin typeface="Calibri"/>
              </a:defRPr>
            </a:pPr>
            <a:r>
              <a:t>Robustness experiment</a:t>
            </a:r>
          </a:p>
        </p:txBody>
      </p:sp>
      <p:sp>
        <p:nvSpPr>
          <p:cNvPr id="42" name="TextBox 41"/>
          <p:cNvSpPr txBox="1"/>
          <p:nvPr/>
        </p:nvSpPr>
        <p:spPr>
          <a:xfrm>
            <a:off x="3474720" y="4654296"/>
            <a:ext cx="8138160" cy="274320"/>
          </a:xfrm>
          <a:prstGeom prst="rect">
            <a:avLst/>
          </a:prstGeom>
          <a:noFill/>
        </p:spPr>
        <p:txBody>
          <a:bodyPr wrap="square">
            <a:spAutoFit/>
          </a:bodyPr>
          <a:lstStyle/>
          <a:p>
            <a:pPr algn="l">
              <a:defRPr sz="1100" b="0">
                <a:solidFill>
                  <a:srgbClr val="333333"/>
                </a:solidFill>
                <a:latin typeface="Consolas"/>
              </a:defRPr>
            </a:pPr>
            <a:r>
              <a:t>python -m experiments.robustness_experiment</a:t>
            </a:r>
          </a:p>
        </p:txBody>
      </p:sp>
      <p:sp>
        <p:nvSpPr>
          <p:cNvPr id="43" name="Rectangle 42"/>
          <p:cNvSpPr/>
          <p:nvPr/>
        </p:nvSpPr>
        <p:spPr>
          <a:xfrm>
            <a:off x="457200" y="4933188"/>
            <a:ext cx="11247120"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 y="4942332"/>
            <a:ext cx="2743200" cy="274320"/>
          </a:xfrm>
          <a:prstGeom prst="rect">
            <a:avLst/>
          </a:prstGeom>
          <a:noFill/>
        </p:spPr>
        <p:txBody>
          <a:bodyPr wrap="square">
            <a:spAutoFit/>
          </a:bodyPr>
          <a:lstStyle/>
          <a:p>
            <a:pPr algn="l">
              <a:defRPr sz="1300" b="1">
                <a:solidFill>
                  <a:srgbClr val="003366"/>
                </a:solidFill>
                <a:latin typeface="Calibri"/>
              </a:defRPr>
            </a:pPr>
            <a:r>
              <a:t>Regime map</a:t>
            </a:r>
          </a:p>
        </p:txBody>
      </p:sp>
      <p:sp>
        <p:nvSpPr>
          <p:cNvPr id="45" name="TextBox 44"/>
          <p:cNvSpPr txBox="1"/>
          <p:nvPr/>
        </p:nvSpPr>
        <p:spPr>
          <a:xfrm>
            <a:off x="3474720" y="4942332"/>
            <a:ext cx="8138160" cy="274320"/>
          </a:xfrm>
          <a:prstGeom prst="rect">
            <a:avLst/>
          </a:prstGeom>
          <a:noFill/>
        </p:spPr>
        <p:txBody>
          <a:bodyPr wrap="square">
            <a:spAutoFit/>
          </a:bodyPr>
          <a:lstStyle/>
          <a:p>
            <a:pPr algn="l">
              <a:defRPr sz="1100" b="0">
                <a:solidFill>
                  <a:srgbClr val="333333"/>
                </a:solidFill>
                <a:latin typeface="Consolas"/>
              </a:defRPr>
            </a:pPr>
            <a:r>
              <a:t>python -m experiments.regime_map</a:t>
            </a:r>
          </a:p>
        </p:txBody>
      </p:sp>
      <p:sp>
        <p:nvSpPr>
          <p:cNvPr id="46" name="Rectangle 45"/>
          <p:cNvSpPr/>
          <p:nvPr/>
        </p:nvSpPr>
        <p:spPr>
          <a:xfrm>
            <a:off x="457200" y="5221224"/>
            <a:ext cx="11247120" cy="28346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 y="5230368"/>
            <a:ext cx="2743200" cy="274320"/>
          </a:xfrm>
          <a:prstGeom prst="rect">
            <a:avLst/>
          </a:prstGeom>
          <a:noFill/>
        </p:spPr>
        <p:txBody>
          <a:bodyPr wrap="square">
            <a:spAutoFit/>
          </a:bodyPr>
          <a:lstStyle/>
          <a:p>
            <a:pPr algn="l">
              <a:defRPr sz="1300" b="1">
                <a:solidFill>
                  <a:srgbClr val="003366"/>
                </a:solidFill>
                <a:latin typeface="Calibri"/>
              </a:defRPr>
            </a:pPr>
            <a:r>
              <a:t>Batch experiment</a:t>
            </a:r>
          </a:p>
        </p:txBody>
      </p:sp>
      <p:sp>
        <p:nvSpPr>
          <p:cNvPr id="48" name="TextBox 47"/>
          <p:cNvSpPr txBox="1"/>
          <p:nvPr/>
        </p:nvSpPr>
        <p:spPr>
          <a:xfrm>
            <a:off x="3474720" y="5230368"/>
            <a:ext cx="8138160" cy="274320"/>
          </a:xfrm>
          <a:prstGeom prst="rect">
            <a:avLst/>
          </a:prstGeom>
          <a:noFill/>
        </p:spPr>
        <p:txBody>
          <a:bodyPr wrap="square">
            <a:spAutoFit/>
          </a:bodyPr>
          <a:lstStyle/>
          <a:p>
            <a:pPr algn="l">
              <a:defRPr sz="1100" b="0">
                <a:solidFill>
                  <a:srgbClr val="333333"/>
                </a:solidFill>
                <a:latin typeface="Consolas"/>
              </a:defRPr>
            </a:pPr>
            <a:r>
              <a:t>python -m experiments.batch_experiment</a:t>
            </a:r>
          </a:p>
        </p:txBody>
      </p:sp>
      <p:sp>
        <p:nvSpPr>
          <p:cNvPr id="49" name="Rectangle 48"/>
          <p:cNvSpPr/>
          <p:nvPr/>
        </p:nvSpPr>
        <p:spPr>
          <a:xfrm>
            <a:off x="457200" y="5509260"/>
            <a:ext cx="11247120"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 y="5518404"/>
            <a:ext cx="2743200" cy="274320"/>
          </a:xfrm>
          <a:prstGeom prst="rect">
            <a:avLst/>
          </a:prstGeom>
          <a:noFill/>
        </p:spPr>
        <p:txBody>
          <a:bodyPr wrap="square">
            <a:spAutoFit/>
          </a:bodyPr>
          <a:lstStyle/>
          <a:p>
            <a:pPr algn="l">
              <a:defRPr sz="1300" b="1">
                <a:solidFill>
                  <a:srgbClr val="003366"/>
                </a:solidFill>
                <a:latin typeface="Calibri"/>
              </a:defRPr>
            </a:pPr>
            <a:r>
              <a:t>Reward sensitivity</a:t>
            </a:r>
          </a:p>
        </p:txBody>
      </p:sp>
      <p:sp>
        <p:nvSpPr>
          <p:cNvPr id="51" name="TextBox 50"/>
          <p:cNvSpPr txBox="1"/>
          <p:nvPr/>
        </p:nvSpPr>
        <p:spPr>
          <a:xfrm>
            <a:off x="3474720" y="5518404"/>
            <a:ext cx="8138160" cy="274320"/>
          </a:xfrm>
          <a:prstGeom prst="rect">
            <a:avLst/>
          </a:prstGeom>
          <a:noFill/>
        </p:spPr>
        <p:txBody>
          <a:bodyPr wrap="square">
            <a:spAutoFit/>
          </a:bodyPr>
          <a:lstStyle/>
          <a:p>
            <a:pPr algn="l">
              <a:defRPr sz="1100" b="0">
                <a:solidFill>
                  <a:srgbClr val="333333"/>
                </a:solidFill>
                <a:latin typeface="Consolas"/>
              </a:defRPr>
            </a:pPr>
            <a:r>
              <a:t>python -m experiments.reward_sensitivity</a:t>
            </a:r>
          </a:p>
        </p:txBody>
      </p:sp>
      <p:sp>
        <p:nvSpPr>
          <p:cNvPr id="52" name="Rectangle 51"/>
          <p:cNvSpPr/>
          <p:nvPr/>
        </p:nvSpPr>
        <p:spPr>
          <a:xfrm>
            <a:off x="457200" y="5797296"/>
            <a:ext cx="11247120" cy="28346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0080" y="5806440"/>
            <a:ext cx="2743200" cy="274320"/>
          </a:xfrm>
          <a:prstGeom prst="rect">
            <a:avLst/>
          </a:prstGeom>
          <a:noFill/>
        </p:spPr>
        <p:txBody>
          <a:bodyPr wrap="square">
            <a:spAutoFit/>
          </a:bodyPr>
          <a:lstStyle/>
          <a:p>
            <a:pPr algn="l">
              <a:defRPr sz="1300" b="1">
                <a:solidFill>
                  <a:srgbClr val="003366"/>
                </a:solidFill>
                <a:latin typeface="Calibri"/>
              </a:defRPr>
            </a:pPr>
            <a:r>
              <a:t>Regenerate RESULTS.md</a:t>
            </a:r>
          </a:p>
        </p:txBody>
      </p:sp>
      <p:sp>
        <p:nvSpPr>
          <p:cNvPr id="54" name="TextBox 53"/>
          <p:cNvSpPr txBox="1"/>
          <p:nvPr/>
        </p:nvSpPr>
        <p:spPr>
          <a:xfrm>
            <a:off x="3474720" y="5806440"/>
            <a:ext cx="8138160" cy="274320"/>
          </a:xfrm>
          <a:prstGeom prst="rect">
            <a:avLst/>
          </a:prstGeom>
          <a:noFill/>
        </p:spPr>
        <p:txBody>
          <a:bodyPr wrap="square">
            <a:spAutoFit/>
          </a:bodyPr>
          <a:lstStyle/>
          <a:p>
            <a:pPr algn="l">
              <a:defRPr sz="1100" b="0">
                <a:solidFill>
                  <a:srgbClr val="333333"/>
                </a:solidFill>
                <a:latin typeface="Consolas"/>
              </a:defRPr>
            </a:pPr>
            <a:r>
              <a:t>python -m experiments.summarize_results</a:t>
            </a:r>
          </a:p>
        </p:txBody>
      </p:sp>
      <p:sp>
        <p:nvSpPr>
          <p:cNvPr id="55" name="Rectangle 54"/>
          <p:cNvSpPr/>
          <p:nvPr/>
        </p:nvSpPr>
        <p:spPr>
          <a:xfrm>
            <a:off x="457200" y="6085332"/>
            <a:ext cx="11247120"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0080" y="6094476"/>
            <a:ext cx="2743200" cy="274320"/>
          </a:xfrm>
          <a:prstGeom prst="rect">
            <a:avLst/>
          </a:prstGeom>
          <a:noFill/>
        </p:spPr>
        <p:txBody>
          <a:bodyPr wrap="square">
            <a:spAutoFit/>
          </a:bodyPr>
          <a:lstStyle/>
          <a:p>
            <a:pPr algn="l">
              <a:defRPr sz="1300" b="1">
                <a:solidFill>
                  <a:srgbClr val="003366"/>
                </a:solidFill>
                <a:latin typeface="Calibri"/>
              </a:defRPr>
            </a:pPr>
            <a:r>
              <a:t>Launch workstation</a:t>
            </a:r>
          </a:p>
        </p:txBody>
      </p:sp>
      <p:sp>
        <p:nvSpPr>
          <p:cNvPr id="57" name="TextBox 56"/>
          <p:cNvSpPr txBox="1"/>
          <p:nvPr/>
        </p:nvSpPr>
        <p:spPr>
          <a:xfrm>
            <a:off x="3474720" y="6094476"/>
            <a:ext cx="8138160" cy="274320"/>
          </a:xfrm>
          <a:prstGeom prst="rect">
            <a:avLst/>
          </a:prstGeom>
          <a:noFill/>
        </p:spPr>
        <p:txBody>
          <a:bodyPr wrap="square">
            <a:spAutoFit/>
          </a:bodyPr>
          <a:lstStyle/>
          <a:p>
            <a:pPr algn="l">
              <a:defRPr sz="1100" b="0">
                <a:solidFill>
                  <a:srgbClr val="333333"/>
                </a:solidFill>
                <a:latin typeface="Consolas"/>
              </a:defRPr>
            </a:pPr>
            <a:r>
              <a:t>streamlit run app.py</a:t>
            </a:r>
          </a:p>
        </p:txBody>
      </p:sp>
      <p:sp>
        <p:nvSpPr>
          <p:cNvPr id="58" name="Rectangle 57"/>
          <p:cNvSpPr/>
          <p:nvPr/>
        </p:nvSpPr>
        <p:spPr>
          <a:xfrm>
            <a:off x="457200" y="6373368"/>
            <a:ext cx="11247120" cy="28346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0080" y="6382512"/>
            <a:ext cx="2743200" cy="274320"/>
          </a:xfrm>
          <a:prstGeom prst="rect">
            <a:avLst/>
          </a:prstGeom>
          <a:noFill/>
        </p:spPr>
        <p:txBody>
          <a:bodyPr wrap="square">
            <a:spAutoFit/>
          </a:bodyPr>
          <a:lstStyle/>
          <a:p>
            <a:pPr algn="l">
              <a:defRPr sz="1300" b="1">
                <a:solidFill>
                  <a:srgbClr val="003366"/>
                </a:solidFill>
                <a:latin typeface="Calibri"/>
              </a:defRPr>
            </a:pPr>
            <a:r>
              <a:t>Full pipeline</a:t>
            </a:r>
          </a:p>
        </p:txBody>
      </p:sp>
      <p:sp>
        <p:nvSpPr>
          <p:cNvPr id="60" name="TextBox 59"/>
          <p:cNvSpPr txBox="1"/>
          <p:nvPr/>
        </p:nvSpPr>
        <p:spPr>
          <a:xfrm>
            <a:off x="3474720" y="6382512"/>
            <a:ext cx="8138160" cy="274320"/>
          </a:xfrm>
          <a:prstGeom prst="rect">
            <a:avLst/>
          </a:prstGeom>
          <a:noFill/>
        </p:spPr>
        <p:txBody>
          <a:bodyPr wrap="square">
            <a:spAutoFit/>
          </a:bodyPr>
          <a:lstStyle/>
          <a:p>
            <a:pPr algn="l">
              <a:defRPr sz="1100" b="0">
                <a:solidFill>
                  <a:srgbClr val="333333"/>
                </a:solidFill>
                <a:latin typeface="Consolas"/>
              </a:defRPr>
            </a:pPr>
            <a:r>
              <a:t>python -m experiments.run_pipeline --steps 1000000 --ablation_steps 150000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Rectangle 1"/>
          <p:cNvSpPr/>
          <p:nvPr/>
        </p:nvSpPr>
        <p:spPr>
          <a:xfrm>
            <a:off x="914400" y="2286000"/>
            <a:ext cx="10362895" cy="50800"/>
          </a:xfrm>
          <a:prstGeom prst="rect">
            <a:avLst/>
          </a:prstGeom>
          <a:solidFill>
            <a:srgbClr val="CC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62895" cy="914400"/>
          </a:xfrm>
          <a:prstGeom prst="rect">
            <a:avLst/>
          </a:prstGeom>
          <a:noFill/>
        </p:spPr>
        <p:txBody>
          <a:bodyPr wrap="square">
            <a:spAutoFit/>
          </a:bodyPr>
          <a:lstStyle/>
          <a:p>
            <a:pPr algn="ctr">
              <a:defRPr sz="5000" b="1">
                <a:solidFill>
                  <a:srgbClr val="FFFFFF"/>
                </a:solidFill>
                <a:latin typeface="Calibri"/>
              </a:defRPr>
            </a:pPr>
            <a:r>
              <a:t>Thank You</a:t>
            </a:r>
          </a:p>
        </p:txBody>
      </p:sp>
      <p:sp>
        <p:nvSpPr>
          <p:cNvPr id="4" name="TextBox 3"/>
          <p:cNvSpPr txBox="1"/>
          <p:nvPr/>
        </p:nvSpPr>
        <p:spPr>
          <a:xfrm>
            <a:off x="914400" y="2560320"/>
            <a:ext cx="10362895" cy="731520"/>
          </a:xfrm>
          <a:prstGeom prst="rect">
            <a:avLst/>
          </a:prstGeom>
          <a:noFill/>
        </p:spPr>
        <p:txBody>
          <a:bodyPr wrap="square">
            <a:spAutoFit/>
          </a:bodyPr>
          <a:lstStyle/>
          <a:p>
            <a:pPr algn="ctr">
              <a:defRPr sz="3600" b="0">
                <a:solidFill>
                  <a:srgbClr val="CC9900"/>
                </a:solidFill>
                <a:latin typeface="Calibri"/>
              </a:defRPr>
            </a:pPr>
            <a:r>
              <a:t>Questions &amp; Discussion</a:t>
            </a:r>
          </a:p>
        </p:txBody>
      </p:sp>
      <p:sp>
        <p:nvSpPr>
          <p:cNvPr id="5" name="TextBox 4"/>
          <p:cNvSpPr txBox="1"/>
          <p:nvPr/>
        </p:nvSpPr>
        <p:spPr>
          <a:xfrm>
            <a:off x="914400" y="3657600"/>
            <a:ext cx="10362895" cy="548640"/>
          </a:xfrm>
          <a:prstGeom prst="rect">
            <a:avLst/>
          </a:prstGeom>
          <a:noFill/>
        </p:spPr>
        <p:txBody>
          <a:bodyPr wrap="square">
            <a:spAutoFit/>
          </a:bodyPr>
          <a:lstStyle/>
          <a:p>
            <a:pPr algn="ctr">
              <a:defRPr sz="2000" b="0">
                <a:solidFill>
                  <a:srgbClr val="FFFFFF"/>
                </a:solidFill>
                <a:latin typeface="Calibri"/>
              </a:defRPr>
            </a:pPr>
            <a:r>
              <a:t>Repository: G:/My Drive/IITM/AI in Mfg</a:t>
            </a:r>
          </a:p>
        </p:txBody>
      </p:sp>
      <p:sp>
        <p:nvSpPr>
          <p:cNvPr id="6" name="TextBox 5"/>
          <p:cNvSpPr txBox="1"/>
          <p:nvPr/>
        </p:nvSpPr>
        <p:spPr>
          <a:xfrm>
            <a:off x="914400" y="4389120"/>
            <a:ext cx="10362895" cy="548640"/>
          </a:xfrm>
          <a:prstGeom prst="rect">
            <a:avLst/>
          </a:prstGeom>
          <a:noFill/>
        </p:spPr>
        <p:txBody>
          <a:bodyPr wrap="square">
            <a:spAutoFit/>
          </a:bodyPr>
          <a:lstStyle/>
          <a:p>
            <a:pPr algn="ctr">
              <a:defRPr sz="1800" b="0">
                <a:solidFill>
                  <a:srgbClr val="B4C8DC"/>
                </a:solidFill>
                <a:latin typeface="Calibri"/>
              </a:defRPr>
            </a:pPr>
            <a:r>
              <a:t>All code, data, results, and documentation in the repository</a:t>
            </a:r>
          </a:p>
        </p:txBody>
      </p:sp>
      <p:sp>
        <p:nvSpPr>
          <p:cNvPr id="7" name="TextBox 6"/>
          <p:cNvSpPr txBox="1"/>
          <p:nvPr/>
        </p:nvSpPr>
        <p:spPr>
          <a:xfrm>
            <a:off x="914400" y="5303520"/>
            <a:ext cx="10362895" cy="548640"/>
          </a:xfrm>
          <a:prstGeom prst="rect">
            <a:avLst/>
          </a:prstGeom>
          <a:noFill/>
        </p:spPr>
        <p:txBody>
          <a:bodyPr wrap="square">
            <a:spAutoFit/>
          </a:bodyPr>
          <a:lstStyle/>
          <a:p>
            <a:pPr algn="ctr">
              <a:defRPr sz="1800" b="0">
                <a:solidFill>
                  <a:srgbClr val="CC9900"/>
                </a:solidFill>
                <a:latin typeface="Calibri"/>
              </a:defRPr>
            </a:pPr>
            <a:r>
              <a:t>ME6324, AI in Manufacturing  •  IIT Madras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