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Digital Twin-Driven Deep Reinforcement Learning</a:t>
            </a:r>
            <a:br/>
            <a:r>
              <a:t>for Energy-Aware CNC Milling Parameter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9900"/>
                </a:solidFill>
                <a:latin typeface="Calibri"/>
              </a:defRPr>
            </a:pPr>
            <a:r>
              <a:t>ME6324 — AI in Manufacturing  |  Course Project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Abhinand  •  Department of Mechanical Engineering  •  IIT Madras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  <a:latin typeface="Calibri"/>
              </a:defRPr>
            </a:pPr>
            <a:r>
              <a:t>Git Revision: 87a4021  •  All results reproducible from committed artifacts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Problem: Dynamic Cutting Parameter Optimization in CNC Face Milling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Choose spindle speed (n), feed (f_r), depth of cut (a_p) pass-by-pass to balance: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🎯 Productivity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Maximize Material Removal Rate: MRR = v_c · a_p · f_r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6324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Energy Efficiency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54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Minimize total electrical energy per part (idle + cutting)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📏 Surface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2062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Finished roughness R_a ≤ 1.6 μm (ISO 1302)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🔧 Tool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2578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Flank wear V_B ≤ 0.3 mm; avoid catastrophic breakage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0000"/>
                </a:solidFill>
                <a:latin typeface="Calibri"/>
              </a:defRPr>
            </a:pPr>
            <a:r>
              <a:t>Traditional fixed parameters from handbooks cannot adapt to tool wear, material variation, or geometry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Approach: Physics-Grounded Digital Twin + Deep RL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🏭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Speed-dependent cutting energy: k_c(v_c) = k_c0 (v_c/v_ref)^m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Extended Taylor tool wear model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Empirical surface roughness regression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Stochastic tool breakage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Domain randomization per episode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🤖 DRL Agent (PPO)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Gymnasium environment (8/11-D obs, 3-D action)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Energy-aware reward: w₁·MRR − w₂·Energy + progress − penalties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Conditioned policy: single model covers full Pareto frontier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PPO with VecNormalize, 4 parallel envs, CPU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🔬 Experimental Rigor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100-scenario Monte Carlo with 95% CIs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Ablation: 7 energy weights × 3 seeds = 21 policies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 classical baselines (incl. receding-horizon)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Transfer experiment: cross-material adaptation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Full reproducibility: RESULTS.md from artifacts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Digital Twin Physics (config/physics.py — single source of truth)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Cutting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25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v_c = π D n / 1000  [m/min]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3852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Material Removal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842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MRR = v_c · a_p · f_r  [mm³/min]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96896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Flank Wear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64261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ΔV_B = C_wear · v_c^α · f_r^β · a_p^γ · t_cut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55264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00984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Surface Roughness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30098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R_a = k₁ f_r² + k₂ V_B + k₃ / v_c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13632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Specific Cutting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9593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k_c(v_c) = k_c0 (v_c / v_ref)^m  ← KEY: creates trade-off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Total Power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6177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P_total = P_idle + k_c(v_c) · MRR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3036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2760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Energy per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2760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E_pass = P_total · t_cut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E6F0FA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💡 Key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Without speed-dependence (m=0):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Cutting energy ∝ volume removed (fixed)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Idle energy ∝ 1/cycle_time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Both objectives push to MAX speed → no trade-off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With m=0.6: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Cutting energy RISES with speed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Idle energy FALLS with speed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Part energy has INTERIOR MINIMUM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Energy weight w₂ selects operating point on this curve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Validated by: test_part_energy_has_an_interior_minimum_in_speed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Environment: MillingDTEnv (Gymnasium Compliant)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State &amp;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Two registrations: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• MillingDTEnv-v1 (base, 8-D obs)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• MillingDTEnv-w2-v1 (conditioned, 11-D obs)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Observation (8 features, each onto [0,1]):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0: V_B  (tanh squashed)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1: κ_rem (tanh squashed)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2-4: prev n, f_r, a_p (machine envelope)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5: MRR / MRR_max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6: R_a (tanh squashed)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7: tool_broken flag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8-10: w₂, C_wear, k₁ (conditioned only)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Action: continuous [-1,1]³ → clipped → mapped to machine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Reward &amp; Randomization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Reward per step: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r = 5·(w₁·MRR/MRR_max − w₂·E_pass/E_ref)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   + 2·Δ(stock removed)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   − 50·1[V_B &gt; V_B_safe]   − 100·1[broken]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   − 50·1[finishing pass ∧ R_a &gt; R_a_safe]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   − 0.05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+200 for a part finished in spec, +≤5 Pareto margin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Domain Randomization (randomize=True):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• Workpiece: κ_total [2,15], D [40,150], L_cut [50,200]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• Material/Tool: C_wear [0.6,1.4]×, k₁,k₂,k₃ [0.8,1.2]× nominal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• Initial wear: V_B0 ~ U[0, 0.8]·V_B_max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• Same tables for training + Monte Carlo eval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E_ref recomputed per scenario from its own D, L_cut, k_c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The objective scale (5) lets w₂ compete with the shaping terms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Reinforcement Learning: PPO (Stable-Baselines3)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486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</a:tblGrid>
              <a:tr h="419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MlpPolicy (2×256 hidden)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3×10⁻⁴ (linear schedule)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γ (discount)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GAE 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Clip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Entropy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0.02 (keeps the policy exploring)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VecNormalize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norm_obs=True, norm_reward=True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Envs / Device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 (SubprocVecEnv) / CPU (2.5× faster than GPU)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Training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1️⃣ Primary PPO: 1M steps, seed 42, randomize=True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→ models/PPO_seed42/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2️⃣ Conditioned PPO: 1M steps, seed 42, on MillingDTEnv-w2-v1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→ models/PPO_conditioned_seed42/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3️⃣ Ablation Grid: 7 weights × 3 seeds = 21 policies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w₂ ∈ {0.0, 0.2, 0.4, 0.5, 0.6, 0.8, 1.0}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seeds {42, 43, 44}, 150k steps each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Parallel via run_experiments.py (multiprocessing + heartbeat)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Heartbeat callback: queue signal every 1000 steps → stall detection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Results: Primary PPO — Monte Carlo Sweep (100 Scenarios)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1280160"/>
              </a:tblGrid>
              <a:tr h="4876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[1116, 1363]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Energy/part (kJ)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[58.5, 77.9]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Cycle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[16.6, 22.2]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R_a (μm)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[1.428, 1.521]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V_B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[0.111, 0.138]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389120"/>
          <a:ext cx="6400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82880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Roughness violations (worst pass)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[29%, 49%]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Roughness violations (finished surface)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[0%, 0%]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Flank wear violations (V_B &gt; 0.3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[0%, 0%]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breakage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[0%, 3%]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0" y="1280160"/>
            <a:ext cx="4389120" cy="51206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463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✅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01168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Finished surface ALWAYS within spec (0% violations)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Flank wear NEVER exceeded (0% violations)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99% parts completed within all constraints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Intermediate passes exceed safety margin (61%)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→ policy pushes limits, recovers by finish pass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High MRR variance (std = 50% of mean)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→ domain randomization works: diverse operating points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Mean operating point: 7241 RPM, 0.254 mm/r, 2.11 mm, 4 passes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Energy Weight Ablation: Empirical Pareto Frontier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6858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88720"/>
                <a:gridCol w="1097280"/>
                <a:gridCol w="914400"/>
                <a:gridCol w="914400"/>
                <a:gridCol w="91440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(RPM)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f_r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(mm/r)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Frontier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999.9±31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82.8±0.7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45.8±2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990.5±137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76.3±2.2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31.2±6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1069.0±40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71.5±0.4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22.9±1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1026.2±57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71.0±0.7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23.2±0.5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1008.4±23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68.3±0.8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21.6±1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888.3±58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65.8±1.4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23.1±1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876.6±43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65.4±1.7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22.7±1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  <a:r>
                        <a:t>Frontier: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  <a:r>
                        <a:t>1069→877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  <a:r>
                        <a:t>71.5→65.4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  <a:r>
                        <a:t>↓18%  ↓8.5%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498079" y="1280160"/>
            <a:ext cx="4389120" cy="411480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463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📊 Frontier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011680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Asymmetric trade-off: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Large MRR sacrifice (18%) for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modest energy gain (8.5%)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Dominated points (w₂=0.0, 0.2):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HIGHER energy than w₂=0.4!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→ pushing speed too high increases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cutting energy k_c(v_c) more than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idle energy is saved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Speed-dependent k_c is ESSENTIAL: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without it, frontier collapses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to a single point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Mean over 3 seeds, 50 scenarios each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Conditioned Policy: One Model → Entire Frontier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1828800"/>
                <a:gridCol w="1645920"/>
              </a:tblGrid>
              <a:tr h="3556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Conditioned 1M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Per-weight 150k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−15.9%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−9.5%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−4.4%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1191.0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−4.2%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1169.3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−1.0%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+2.0%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+2.6%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0" y="1280160"/>
            <a:ext cx="4389120" cy="320040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63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8000"/>
                </a:solidFill>
                <a:latin typeface="Calibri"/>
              </a:defRPr>
            </a:pPr>
            <a:r>
              <a:t>🎯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One run of 1M steps beats the 21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policies of 150k steps each (3.15M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steps total): 13–27% more removal rate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for at most 3% more energy.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The weight stays a runtime query,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not a retrain.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Observation carries: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Energy weight w₂ ∈ [0,1]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Material context (C_wear, k₁)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Both drawn per episode at reset().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Baseline Comparison (50 Episodes, Nominal Condition)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7315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137160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 (primary)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+204.1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+203.5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NSGA-II 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Constant-Safe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1506.8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−139.3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C80000"/>
                          </a:solidFill>
                          <a:latin typeface="Calibri"/>
                        </a:defRPr>
                      </a:pPr>
                      <a:r>
                        <a:t>Constant-High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1099.6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17.8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4.3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−46.1 ⚠ violates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754880"/>
            <a:ext cx="7315200" cy="18288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Same 50 episodes of the nominal condition for all six policies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four static policies end outside the roughness safety limit (reward −46); only the controller stays inside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PPO +204.1 vs controller +203.5: level on the reward, controller ahead on MRR, energy and cycle time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DRL advantage yet: next step is to initialize PPO from the controller → fine-tune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Transfer Experiment: Cross-Material Adaptation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2286000"/>
          </a:xfrm>
          <a:prstGeom prst="rect">
            <a:avLst/>
          </a:prstGeom>
          <a:solidFill>
            <a:srgbClr val="FFF0F0"/>
          </a:solidFill>
          <a:ln w="25400">
            <a:solidFill>
              <a:srgbClr val="C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0000"/>
                </a:solidFill>
                <a:latin typeface="Calibri"/>
              </a:defRPr>
            </a:pPr>
            <a:r>
              <a:t>🎯 Target Material (unseen during source training)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Harder alloy: k₁ × 1.25, k₂ × 1.30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Faster-wearing tool: C_wear × 2.0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Same machine constraints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Source policy has NEVER seen this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80160"/>
          <a:ext cx="5303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188720"/>
                <a:gridCol w="128016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 violations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Parts done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Source Policy</a:t>
                      </a:r>
                    </a:p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   Zero-Shot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93.3%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8000"/>
                          </a:solidFill>
                          <a:latin typeface="Calibri"/>
                        </a:defRPr>
                      </a:pPr>
                      <a:r>
                        <a:t>2. Source Policy</a:t>
                      </a:r>
                    </a:p>
                    <a:p>
                      <a:pPr algn="ctr">
                        <a:defRPr sz="1400" b="1">
                          <a:solidFill>
                            <a:srgbClr val="008000"/>
                          </a:solidFill>
                          <a:latin typeface="Calibri"/>
                        </a:defRPr>
                      </a:pPr>
                      <a:r>
                        <a:t>   Fine-Tuned (50k)</a:t>
                      </a:r>
                    </a:p>
                  </a:txBody>
                  <a:tcPr>
                    <a:solidFill>
                      <a:srgbClr val="E6F5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8000"/>
                          </a:solidFill>
                          <a:latin typeface="Calibri"/>
                        </a:defRPr>
                      </a:pPr>
                      <a:r>
                        <a:t>182.9</a:t>
                      </a:r>
                    </a:p>
                  </a:txBody>
                  <a:tcPr>
                    <a:solidFill>
                      <a:srgbClr val="E6F5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8000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6F5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8000"/>
                          </a:solidFill>
                          <a:latin typeface="Calibri"/>
                        </a:defRPr>
                      </a:pPr>
                      <a:r>
                        <a:t>93.3%</a:t>
                      </a:r>
                    </a:p>
                  </a:txBody>
                  <a:tcPr>
                    <a:solidFill>
                      <a:srgbClr val="E6F5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Target from</a:t>
                      </a:r>
                    </a:p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   Scratch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840480"/>
            <a:ext cx="11247120" cy="2560320"/>
          </a:xfrm>
          <a:prstGeom prst="rect">
            <a:avLst/>
          </a:prstGeom>
          <a:solidFill>
            <a:srgbClr val="FFF0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⚠ Fine tuning is the wrong tool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Fine tuning moves the reward from 183.0 to 182.9 and removes no violation at all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Training on the harder material from scratch removes every violation (196.7)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Zero-shot on the harder alloy violates the roughness limit in 100% of scenarios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remedy is the one this project adopted: train across a distribution of materials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Domain randomization is not a nicety here, it is what makes the policy transfer at 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Interactive Digital Twin Workstation (Streamlit)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📐 2D Stock Depletion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Cylindrical billet cross-section; pass-by-pass cutout; remaining κ, a_p; tool engagement diagram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📊 Micro-Topography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Feed-mark cusp profile: y_cusp(x) ≈ x²/(8r_ε) + noise; ISO 1302 R_a overlay with 1.6 μm ceiling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9184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📝 G-Code Generator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ISO 6983 Fanuc/Siemens compliant; emits exact PPO parameter sequence; tool/diameter aware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⚔️ Multi-Controller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389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Side-by-side: PPO vs NSGA-II vs Rule-Based vs Constant-High; live telemetry overlay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Cached Loading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949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@st.cache_resource loads 1M-step PPO model once per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  <a:latin typeface="Calibri"/>
              </a:defRPr>
            </a:pPr>
            <a:r>
              <a:t>Launch:  streamlit run app.py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Software Engineering: Reproducibility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Architecture &amp;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Architecture: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config/  →  physics, scenarios, paths (single source)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env/     →  Gymnasium env, 2 registrations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agent/   →  train, eval, ablation, transfer, pipeline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baselines/ →  5 classical + receding-horizon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sim/     →  stock depletion, micro-topography, G-code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viz/     →  shared plotting utilities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Reproducibility: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Global seeding (Python, NumPy, PyTorch, CUDA)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Shared scenario tables (train = eval)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summarize_results.py regenerates RESULTS.md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All randomness deterministic given seed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Centralized paths (config/paths.py), env IDs (env/__init__.py)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Test Coverage &amp;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Testing (26 tests):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19 env tests: clipping, truncation, soft norm,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physics constants, overrides, energy norm,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Gym checker, randomization, scenario scales,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cutting energy speed dependence, part energy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interior minimum, shared physics, shared tables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 reward tests: golden-value (1e-9), finishing penalty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3 integration: train→eval roundtrip, conditioned obs,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baseline artifact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3 callback: heartbeat delivery, failure report, interval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Code Quality: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No unused imports (AST verified)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Conventional commits, clean git history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Lit citations in physics_constants.py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Discussion: What Worked, Limitations,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✅ What Worked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Speed-dependent k_c creates genuine trade-off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Domain randomization → 99% completion, 0% finished violations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Conditioned policy: 1 run replaces 21 (beats them at 1/3 the steps)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Receding-horizon = strong, fair baseline (same physics)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Test suite catches physics &amp; reward regressions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reproducibility: one script regenerates all 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6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⚠️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PPO is level with the receding-horizon, not ahead of it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Ablation uses 150k steps/weight (vs 1M primary)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The reward charges a pass, the metric is a part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Micro-topography is simplified (no chatter/vibration)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Sim-only — no real machine calibration yet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🚀 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Controller-initialized RL (BC + fine-tune)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Sim-to-real: calibrate on machine data, add noise/delay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True multi-objective RL (Pareto-conditioned, hypervolume)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Online adaptation: runtime w₂ optimizer for energy budget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3D Digital Twin: toolpath viz, collision checking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Deploy on edge hardware for real-time control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4712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🏭 Physics-grounded Digital Twin with speed-dependent cutting energy, tool wear, roughness, stochastic breakage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61488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🤖 Gymnasium environment with domain randomization, conditioned observations, energy-aware reward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28416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📊 PPO policies with rigorous evaluation: Monte Carlo (100 scenarios, 95% CIs), ablation frontier, conditioned 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95344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⚔️ Strong classical baselines including receding-horizon controller (re-optimizes every pass)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6227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🔄 Transfer experiment: fine tuning does not adapt, training across materials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🖥️ Interactive workstation: 2D stock depletion, micro-topography, G-code, multi-controller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96128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🔁 Full reproducibility: every result table generated from committed artifacts by one 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21792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63093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C9900"/>
                </a:solidFill>
                <a:latin typeface="Calibri"/>
              </a:defRPr>
            </a:pPr>
            <a:r>
              <a:t>Key Scientific Finding: The speed-dependent specific cutting energy creates a genuine energy/throughput trade-off, and DRL learns to navigate it pass-by-pass while respecting constraints. Across the measured frontier the removal rate falls 18% while the energy of the part falls 8.5%.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Reproducibility: All Commands Run from Project Root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2984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pytest tests/ -v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55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Train Primary 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7556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agent/train_rl.py --algo PPO --steps 1000000 --seed 42 --randomize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128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Train Conditioned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2128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agent/train_rl_conditioned.py --steps 1000000 --seed 42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Monte Carlo 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700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agent/evaluate.py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089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272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Ablation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1272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agent/train_rl_ablation.py --steps 150000 --scenarios 50 --slots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5844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Classical Baselines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844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baselines/run_baselines.py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41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Transfer Experiment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0416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agent/transfer_experiment.py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805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988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Regenerate Plots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4988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viz/plot_eval.py &amp;&amp; python viz/plot_results.py &amp;&amp; python viz/plot_baselines_comparison.py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56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Regenerate RESULTS.md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9560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agent/summarize_results.py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949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4132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Launch Workstation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54132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521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8704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Full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58704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agent/run_pipeline.py --steps 1000000 --ablation_steps 100000 --scenarios 50 --slots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C990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Repository: G:/My Drive/IITM/AI in Mfg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4C8DC"/>
                </a:solidFill>
                <a:latin typeface="Calibri"/>
              </a:defRPr>
            </a:pPr>
            <a:r>
              <a:t>All code, data, results, and documentation in 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9900"/>
                </a:solidFill>
                <a:latin typeface="Calibri"/>
              </a:defRPr>
            </a:pPr>
            <a:r>
              <a:t>ME6324 — AI in Manufacturing  •  IIT Madras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